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95" r:id="rId3"/>
    <p:sldId id="296" r:id="rId4"/>
    <p:sldId id="294" r:id="rId5"/>
    <p:sldId id="258" r:id="rId6"/>
    <p:sldId id="263" r:id="rId7"/>
    <p:sldId id="265" r:id="rId8"/>
    <p:sldId id="260" r:id="rId9"/>
    <p:sldId id="268" r:id="rId10"/>
    <p:sldId id="270" r:id="rId11"/>
    <p:sldId id="269" r:id="rId12"/>
    <p:sldId id="273" r:id="rId13"/>
    <p:sldId id="280" r:id="rId14"/>
    <p:sldId id="274" r:id="rId15"/>
    <p:sldId id="275" r:id="rId16"/>
    <p:sldId id="276" r:id="rId17"/>
    <p:sldId id="277" r:id="rId18"/>
    <p:sldId id="278" r:id="rId19"/>
    <p:sldId id="279" r:id="rId20"/>
    <p:sldId id="272" r:id="rId21"/>
    <p:sldId id="281" r:id="rId22"/>
    <p:sldId id="282" r:id="rId23"/>
    <p:sldId id="283" r:id="rId24"/>
    <p:sldId id="284" r:id="rId25"/>
    <p:sldId id="285" r:id="rId26"/>
    <p:sldId id="271" r:id="rId27"/>
    <p:sldId id="289" r:id="rId28"/>
    <p:sldId id="290" r:id="rId29"/>
    <p:sldId id="292" r:id="rId30"/>
    <p:sldId id="28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E5AFDD54-F11A-4A37-8EAB-5A075F2BF412}" type="doc">
      <dgm:prSet loTypeId="urn:microsoft.com/office/officeart/2005/8/layout/process2" loCatId="process" qsTypeId="urn:microsoft.com/office/officeart/2005/8/quickstyle/3d3" qsCatId="3D" csTypeId="urn:microsoft.com/office/officeart/2005/8/colors/colorful5" csCatId="colorful" phldr="1"/>
      <dgm:spPr/>
    </dgm:pt>
    <dgm:pt modelId="{BD32485D-B28F-4570-84B0-D713B04B4DC3}">
      <dgm:prSet phldrT="[Text]"/>
      <dgm:spPr/>
      <dgm:t>
        <a:bodyPr/>
        <a:lstStyle/>
        <a:p>
          <a:r>
            <a:rPr lang="en-US" b="1" dirty="0">
              <a:latin typeface="Book Antiqua" panose="02040602050305030304" pitchFamily="18" charset="0"/>
            </a:rPr>
            <a:t>Methodology</a:t>
          </a:r>
        </a:p>
      </dgm:t>
    </dgm:pt>
    <dgm:pt modelId="{4B65A828-E2CC-40BB-A2FA-D1D051330DDE}" cxnId="{532E1725-2972-4FDE-A1A2-5F899CC0A0EF}" type="parTrans">
      <dgm:prSet/>
      <dgm:spPr/>
      <dgm:t>
        <a:bodyPr/>
        <a:lstStyle/>
        <a:p>
          <a:endParaRPr lang="en-US"/>
        </a:p>
      </dgm:t>
    </dgm:pt>
    <dgm:pt modelId="{57A09ECF-6778-4A08-9460-7A61AD263491}" cxnId="{532E1725-2972-4FDE-A1A2-5F899CC0A0EF}" type="sibTrans">
      <dgm:prSet/>
      <dgm:spPr/>
      <dgm:t>
        <a:bodyPr/>
        <a:lstStyle/>
        <a:p>
          <a:endParaRPr lang="en-US" dirty="0"/>
        </a:p>
      </dgm:t>
    </dgm:pt>
    <dgm:pt modelId="{F227E9B8-9DCB-4C3E-8335-75E264B070C7}">
      <dgm:prSet phldrT="[Text]"/>
      <dgm:spPr/>
      <dgm:t>
        <a:bodyPr/>
        <a:lstStyle/>
        <a:p>
          <a:r>
            <a:rPr lang="en-US" b="1" dirty="0">
              <a:latin typeface="Book Antiqua" panose="02040602050305030304" pitchFamily="18" charset="0"/>
            </a:rPr>
            <a:t>Results</a:t>
          </a:r>
        </a:p>
      </dgm:t>
    </dgm:pt>
    <dgm:pt modelId="{9CC232ED-7533-4B2E-997A-31E49B7B931A}" cxnId="{329D03C1-E5AD-4ECE-BF98-6E57F60430E7}" type="parTrans">
      <dgm:prSet/>
      <dgm:spPr/>
      <dgm:t>
        <a:bodyPr/>
        <a:lstStyle/>
        <a:p>
          <a:endParaRPr lang="en-US"/>
        </a:p>
      </dgm:t>
    </dgm:pt>
    <dgm:pt modelId="{08FA23F9-5184-42E0-B62D-65610D59B2EF}" cxnId="{329D03C1-E5AD-4ECE-BF98-6E57F60430E7}" type="sibTrans">
      <dgm:prSet/>
      <dgm:spPr/>
      <dgm:t>
        <a:bodyPr/>
        <a:lstStyle/>
        <a:p>
          <a:endParaRPr lang="en-US"/>
        </a:p>
      </dgm:t>
    </dgm:pt>
    <dgm:pt modelId="{C5D5A5B8-B5E9-4A11-900F-9E0F4D93228A}">
      <dgm:prSet phldrT="[Text]"/>
      <dgm:spPr/>
      <dgm:t>
        <a:bodyPr/>
        <a:lstStyle/>
        <a:p>
          <a:r>
            <a:rPr lang="en-US" b="1">
              <a:latin typeface="Book Antiqua" panose="02040602050305030304" pitchFamily="18" charset="0"/>
            </a:rPr>
            <a:t>Impact</a:t>
          </a:r>
          <a:endParaRPr lang="en-US" b="1" dirty="0">
            <a:latin typeface="Book Antiqua" panose="02040602050305030304" pitchFamily="18" charset="0"/>
          </a:endParaRPr>
        </a:p>
      </dgm:t>
    </dgm:pt>
    <dgm:pt modelId="{C875A87B-E89C-4A19-9DE0-D5DD09AF5738}" cxnId="{7DCF75E1-33AA-47AF-9A92-71DA743A9CD3}" type="parTrans">
      <dgm:prSet/>
      <dgm:spPr/>
      <dgm:t>
        <a:bodyPr/>
        <a:lstStyle/>
        <a:p>
          <a:endParaRPr lang="en-US"/>
        </a:p>
      </dgm:t>
    </dgm:pt>
    <dgm:pt modelId="{EB65FE0C-0EEC-4DE5-80C1-9E0B9A3CF836}" cxnId="{7DCF75E1-33AA-47AF-9A92-71DA743A9CD3}" type="sibTrans">
      <dgm:prSet/>
      <dgm:spPr/>
      <dgm:t>
        <a:bodyPr/>
        <a:lstStyle/>
        <a:p>
          <a:endParaRPr lang="en-US"/>
        </a:p>
      </dgm:t>
    </dgm:pt>
    <dgm:pt modelId="{E6E4A91E-5B0C-4062-8829-660D4AE1AF49}" type="pres">
      <dgm:prSet presAssocID="{E5AFDD54-F11A-4A37-8EAB-5A075F2BF412}" presName="linearFlow" presStyleCnt="0">
        <dgm:presLayoutVars>
          <dgm:resizeHandles val="exact"/>
        </dgm:presLayoutVars>
      </dgm:prSet>
      <dgm:spPr/>
    </dgm:pt>
    <dgm:pt modelId="{8723E45D-2E4C-4AE1-887E-99D976BD93B7}" type="pres">
      <dgm:prSet presAssocID="{BD32485D-B28F-4570-84B0-D713B04B4DC3}" presName="node" presStyleLbl="node1" presStyleIdx="0" presStyleCnt="3">
        <dgm:presLayoutVars>
          <dgm:bulletEnabled val="1"/>
        </dgm:presLayoutVars>
      </dgm:prSet>
      <dgm:spPr/>
    </dgm:pt>
    <dgm:pt modelId="{09D27AA1-21EB-4CA9-8FD5-D9349DDD7DE1}" type="pres">
      <dgm:prSet presAssocID="{57A09ECF-6778-4A08-9460-7A61AD263491}" presName="sibTrans" presStyleLbl="sibTrans2D1" presStyleIdx="0" presStyleCnt="2"/>
      <dgm:spPr/>
    </dgm:pt>
    <dgm:pt modelId="{C35F973D-8A3E-4D21-ABE3-3CEBE52BA829}" type="pres">
      <dgm:prSet presAssocID="{57A09ECF-6778-4A08-9460-7A61AD263491}" presName="connectorText" presStyleLbl="sibTrans2D1" presStyleIdx="0" presStyleCnt="2"/>
      <dgm:spPr/>
    </dgm:pt>
    <dgm:pt modelId="{123B457E-152E-4032-8242-ACFC3C61D89A}" type="pres">
      <dgm:prSet presAssocID="{F227E9B8-9DCB-4C3E-8335-75E264B070C7}" presName="node" presStyleLbl="node1" presStyleIdx="1" presStyleCnt="3">
        <dgm:presLayoutVars>
          <dgm:bulletEnabled val="1"/>
        </dgm:presLayoutVars>
      </dgm:prSet>
      <dgm:spPr/>
    </dgm:pt>
    <dgm:pt modelId="{0D3FEBF4-571A-4E42-B97D-2F892E8BD0DF}" type="pres">
      <dgm:prSet presAssocID="{08FA23F9-5184-42E0-B62D-65610D59B2EF}" presName="sibTrans" presStyleLbl="sibTrans2D1" presStyleIdx="1" presStyleCnt="2"/>
      <dgm:spPr/>
    </dgm:pt>
    <dgm:pt modelId="{7E975E74-E768-47C4-B48D-02CC42777BA1}" type="pres">
      <dgm:prSet presAssocID="{08FA23F9-5184-42E0-B62D-65610D59B2EF}" presName="connectorText" presStyleLbl="sibTrans2D1" presStyleIdx="1" presStyleCnt="2"/>
      <dgm:spPr/>
    </dgm:pt>
    <dgm:pt modelId="{EEFFDB8A-4204-46DC-A53E-88A3003E572C}" type="pres">
      <dgm:prSet presAssocID="{C5D5A5B8-B5E9-4A11-900F-9E0F4D93228A}" presName="node" presStyleLbl="node1" presStyleIdx="2" presStyleCnt="3">
        <dgm:presLayoutVars>
          <dgm:bulletEnabled val="1"/>
        </dgm:presLayoutVars>
      </dgm:prSet>
      <dgm:spPr/>
    </dgm:pt>
  </dgm:ptLst>
  <dgm:cxnLst>
    <dgm:cxn modelId="{532E1725-2972-4FDE-A1A2-5F899CC0A0EF}" srcId="{E5AFDD54-F11A-4A37-8EAB-5A075F2BF412}" destId="{BD32485D-B28F-4570-84B0-D713B04B4DC3}" srcOrd="0" destOrd="0" parTransId="{4B65A828-E2CC-40BB-A2FA-D1D051330DDE}" sibTransId="{57A09ECF-6778-4A08-9460-7A61AD263491}"/>
    <dgm:cxn modelId="{CCD0435E-F9B6-4CB7-881F-7FDF7CC176E3}" type="presOf" srcId="{C5D5A5B8-B5E9-4A11-900F-9E0F4D93228A}" destId="{EEFFDB8A-4204-46DC-A53E-88A3003E572C}" srcOrd="0" destOrd="0" presId="urn:microsoft.com/office/officeart/2005/8/layout/process2"/>
    <dgm:cxn modelId="{B8929F4B-3B29-4252-9A8B-3C623C27898D}" type="presOf" srcId="{BD32485D-B28F-4570-84B0-D713B04B4DC3}" destId="{8723E45D-2E4C-4AE1-887E-99D976BD93B7}" srcOrd="0" destOrd="0" presId="urn:microsoft.com/office/officeart/2005/8/layout/process2"/>
    <dgm:cxn modelId="{3C22E175-C78C-49EA-9EBE-54E26C4DE6E3}" type="presOf" srcId="{08FA23F9-5184-42E0-B62D-65610D59B2EF}" destId="{7E975E74-E768-47C4-B48D-02CC42777BA1}" srcOrd="1" destOrd="0" presId="urn:microsoft.com/office/officeart/2005/8/layout/process2"/>
    <dgm:cxn modelId="{6C89DC8D-D18C-4BAA-B8AA-6017636D8F75}" type="presOf" srcId="{08FA23F9-5184-42E0-B62D-65610D59B2EF}" destId="{0D3FEBF4-571A-4E42-B97D-2F892E8BD0DF}" srcOrd="0" destOrd="0" presId="urn:microsoft.com/office/officeart/2005/8/layout/process2"/>
    <dgm:cxn modelId="{FDE35FAC-DFD7-43D0-AEFB-8079BEFAAD44}" type="presOf" srcId="{E5AFDD54-F11A-4A37-8EAB-5A075F2BF412}" destId="{E6E4A91E-5B0C-4062-8829-660D4AE1AF49}" srcOrd="0" destOrd="0" presId="urn:microsoft.com/office/officeart/2005/8/layout/process2"/>
    <dgm:cxn modelId="{240A2DBA-EAB6-4735-8728-A919D344013C}" type="presOf" srcId="{57A09ECF-6778-4A08-9460-7A61AD263491}" destId="{09D27AA1-21EB-4CA9-8FD5-D9349DDD7DE1}" srcOrd="0" destOrd="0" presId="urn:microsoft.com/office/officeart/2005/8/layout/process2"/>
    <dgm:cxn modelId="{329D03C1-E5AD-4ECE-BF98-6E57F60430E7}" srcId="{E5AFDD54-F11A-4A37-8EAB-5A075F2BF412}" destId="{F227E9B8-9DCB-4C3E-8335-75E264B070C7}" srcOrd="1" destOrd="0" parTransId="{9CC232ED-7533-4B2E-997A-31E49B7B931A}" sibTransId="{08FA23F9-5184-42E0-B62D-65610D59B2EF}"/>
    <dgm:cxn modelId="{84471CC8-2A55-4D62-8141-6EFA487F61B4}" type="presOf" srcId="{57A09ECF-6778-4A08-9460-7A61AD263491}" destId="{C35F973D-8A3E-4D21-ABE3-3CEBE52BA829}" srcOrd="1" destOrd="0" presId="urn:microsoft.com/office/officeart/2005/8/layout/process2"/>
    <dgm:cxn modelId="{2AD597DB-8214-4BA9-9CC7-E4A393D56A3B}" type="presOf" srcId="{F227E9B8-9DCB-4C3E-8335-75E264B070C7}" destId="{123B457E-152E-4032-8242-ACFC3C61D89A}" srcOrd="0" destOrd="0" presId="urn:microsoft.com/office/officeart/2005/8/layout/process2"/>
    <dgm:cxn modelId="{7DCF75E1-33AA-47AF-9A92-71DA743A9CD3}" srcId="{E5AFDD54-F11A-4A37-8EAB-5A075F2BF412}" destId="{C5D5A5B8-B5E9-4A11-900F-9E0F4D93228A}" srcOrd="2" destOrd="0" parTransId="{C875A87B-E89C-4A19-9DE0-D5DD09AF5738}" sibTransId="{EB65FE0C-0EEC-4DE5-80C1-9E0B9A3CF836}"/>
    <dgm:cxn modelId="{5BDB012B-9C2F-4A50-B3BE-7E3129E93023}" type="presParOf" srcId="{E6E4A91E-5B0C-4062-8829-660D4AE1AF49}" destId="{8723E45D-2E4C-4AE1-887E-99D976BD93B7}" srcOrd="0" destOrd="0" presId="urn:microsoft.com/office/officeart/2005/8/layout/process2"/>
    <dgm:cxn modelId="{F865D4DE-45CE-44AE-B046-D7EA66FF18AA}" type="presParOf" srcId="{E6E4A91E-5B0C-4062-8829-660D4AE1AF49}" destId="{09D27AA1-21EB-4CA9-8FD5-D9349DDD7DE1}" srcOrd="1" destOrd="0" presId="urn:microsoft.com/office/officeart/2005/8/layout/process2"/>
    <dgm:cxn modelId="{E9200DF5-46B2-4C37-9BB4-A3A9FDE4AF12}" type="presParOf" srcId="{09D27AA1-21EB-4CA9-8FD5-D9349DDD7DE1}" destId="{C35F973D-8A3E-4D21-ABE3-3CEBE52BA829}" srcOrd="0" destOrd="0" presId="urn:microsoft.com/office/officeart/2005/8/layout/process2"/>
    <dgm:cxn modelId="{3F05A0E8-977C-4B2A-BA0C-3D0FA1AE0AE8}" type="presParOf" srcId="{E6E4A91E-5B0C-4062-8829-660D4AE1AF49}" destId="{123B457E-152E-4032-8242-ACFC3C61D89A}" srcOrd="2" destOrd="0" presId="urn:microsoft.com/office/officeart/2005/8/layout/process2"/>
    <dgm:cxn modelId="{9F024D11-8AEF-4246-B550-4D4B66F0DA58}" type="presParOf" srcId="{E6E4A91E-5B0C-4062-8829-660D4AE1AF49}" destId="{0D3FEBF4-571A-4E42-B97D-2F892E8BD0DF}" srcOrd="3" destOrd="0" presId="urn:microsoft.com/office/officeart/2005/8/layout/process2"/>
    <dgm:cxn modelId="{2A0D3A25-9454-439B-B214-359BA0D2AC61}" type="presParOf" srcId="{0D3FEBF4-571A-4E42-B97D-2F892E8BD0DF}" destId="{7E975E74-E768-47C4-B48D-02CC42777BA1}" srcOrd="0" destOrd="0" presId="urn:microsoft.com/office/officeart/2005/8/layout/process2"/>
    <dgm:cxn modelId="{B65A2A15-342B-4EC8-B669-31A24DDBB6FC}" type="presParOf" srcId="{E6E4A91E-5B0C-4062-8829-660D4AE1AF49}" destId="{EEFFDB8A-4204-46DC-A53E-88A3003E572C}"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2247265" cy="4329430"/>
        <a:chOff x="0" y="0"/>
        <a:chExt cx="2247265" cy="4329430"/>
      </a:xfrm>
    </dsp:grpSpPr>
    <dsp:sp modelId="{8723E45D-2E4C-4AE1-887E-99D976BD93B7}">
      <dsp:nvSpPr>
        <dsp:cNvPr id="3" name="Rounded Rectangle 2"/>
        <dsp:cNvSpPr/>
      </dsp:nvSpPr>
      <dsp:spPr bwMode="white">
        <a:xfrm>
          <a:off x="149511" y="0"/>
          <a:ext cx="1948244" cy="1082358"/>
        </a:xfrm>
        <a:prstGeom prst="roundRect">
          <a:avLst>
            <a:gd name="adj" fmla="val 10000"/>
          </a:avLst>
        </a:prstGeom>
        <a:sp3d contourW="19050" prstMaterial="metal">
          <a:bevelT w="88900" h="203200"/>
          <a:bevelB w="165100" h="254000"/>
        </a:sp3d>
      </dsp:spPr>
      <dsp:style>
        <a:lnRef idx="0">
          <a:schemeClr val="lt1"/>
        </a:lnRef>
        <a:fillRef idx="1">
          <a:schemeClr val="accent5">
            <a:hueOff val="0"/>
            <a:satOff val="0"/>
            <a:lumOff val="0"/>
            <a:alpha val="100000"/>
          </a:schemeClr>
        </a:fillRef>
        <a:effectRef idx="2">
          <a:scrgbClr r="0" g="0" b="0"/>
        </a:effectRef>
        <a:fontRef idx="minor">
          <a:schemeClr val="lt1"/>
        </a:fontRef>
      </dsp:style>
      <dsp:txBody>
        <a:bodyPr lIns="80010" tIns="80010" rIns="80010" bIns="80010"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r>
            <a:rPr lang="en-US" b="1" dirty="0">
              <a:latin typeface="Book Antiqua" panose="02040602050305030304" pitchFamily="18" charset="0"/>
            </a:rPr>
            <a:t>Methodology</a:t>
          </a:r>
        </a:p>
      </dsp:txBody>
      <dsp:txXfrm>
        <a:off x="149511" y="0"/>
        <a:ext cx="1948244" cy="1082358"/>
      </dsp:txXfrm>
    </dsp:sp>
    <dsp:sp modelId="{09D27AA1-21EB-4CA9-8FD5-D9349DDD7DE1}">
      <dsp:nvSpPr>
        <dsp:cNvPr id="4" name="Right Arrow 3"/>
        <dsp:cNvSpPr/>
      </dsp:nvSpPr>
      <dsp:spPr bwMode="white">
        <a:xfrm rot="5399999">
          <a:off x="920690" y="1109416"/>
          <a:ext cx="405884" cy="487061"/>
        </a:xfrm>
        <a:prstGeom prst="rightArrow">
          <a:avLst>
            <a:gd name="adj1" fmla="val 60000"/>
            <a:gd name="adj2" fmla="val 50000"/>
          </a:avLst>
        </a:prstGeom>
        <a:sp3d z="-182000" contourW="19050" prstMaterial="metal">
          <a:bevelT w="88900" h="203200"/>
          <a:bevelB w="165100" h="254000"/>
        </a:sp3d>
      </dsp:spPr>
      <dsp:style>
        <a:lnRef idx="0">
          <a:schemeClr val="lt1"/>
        </a:lnRef>
        <a:fillRef idx="1">
          <a:schemeClr val="accent5">
            <a:hueOff val="0"/>
            <a:satOff val="0"/>
            <a:lumOff val="0"/>
            <a:alpha val="100000"/>
          </a:schemeClr>
        </a:fillRef>
        <a:effectRef idx="0">
          <a:scrgbClr r="0" g="0" b="0"/>
        </a:effectRef>
        <a:fontRef idx="minor">
          <a:schemeClr val="lt1"/>
        </a:fontRef>
      </dsp:style>
      <dsp:txBody>
        <a:bodyPr rot="-5400000" lIns="0" tIns="0" rIns="0" bIns="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endParaRPr lang="en-US" dirty="0"/>
        </a:p>
      </dsp:txBody>
      <dsp:txXfrm rot="5399999">
        <a:off x="920690" y="1109416"/>
        <a:ext cx="405884" cy="487061"/>
      </dsp:txXfrm>
    </dsp:sp>
    <dsp:sp modelId="{123B457E-152E-4032-8242-ACFC3C61D89A}">
      <dsp:nvSpPr>
        <dsp:cNvPr id="5" name="Rounded Rectangle 4"/>
        <dsp:cNvSpPr/>
      </dsp:nvSpPr>
      <dsp:spPr bwMode="white">
        <a:xfrm>
          <a:off x="149511" y="1623536"/>
          <a:ext cx="1948244" cy="1082358"/>
        </a:xfrm>
        <a:prstGeom prst="roundRect">
          <a:avLst>
            <a:gd name="adj" fmla="val 10000"/>
          </a:avLst>
        </a:prstGeom>
        <a:sp3d contourW="19050" prstMaterial="metal">
          <a:bevelT w="88900" h="203200"/>
          <a:bevelB w="165100" h="254000"/>
        </a:sp3d>
      </dsp:spPr>
      <dsp:style>
        <a:lnRef idx="0">
          <a:schemeClr val="lt1"/>
        </a:lnRef>
        <a:fillRef idx="1">
          <a:schemeClr val="accent5">
            <a:hueOff val="-3690000"/>
            <a:satOff val="-5097"/>
            <a:lumOff val="-1960"/>
            <a:alpha val="100000"/>
          </a:schemeClr>
        </a:fillRef>
        <a:effectRef idx="2">
          <a:scrgbClr r="0" g="0" b="0"/>
        </a:effectRef>
        <a:fontRef idx="minor">
          <a:schemeClr val="lt1"/>
        </a:fontRef>
      </dsp:style>
      <dsp:txBody>
        <a:bodyPr lIns="80010" tIns="80010" rIns="80010" bIns="80010"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r>
            <a:rPr lang="en-US" b="1" dirty="0">
              <a:latin typeface="Book Antiqua" panose="02040602050305030304" pitchFamily="18" charset="0"/>
            </a:rPr>
            <a:t>Results</a:t>
          </a:r>
        </a:p>
      </dsp:txBody>
      <dsp:txXfrm>
        <a:off x="149511" y="1623536"/>
        <a:ext cx="1948244" cy="1082358"/>
      </dsp:txXfrm>
    </dsp:sp>
    <dsp:sp modelId="{0D3FEBF4-571A-4E42-B97D-2F892E8BD0DF}">
      <dsp:nvSpPr>
        <dsp:cNvPr id="6" name="Right Arrow 5"/>
        <dsp:cNvSpPr/>
      </dsp:nvSpPr>
      <dsp:spPr bwMode="white">
        <a:xfrm rot="5399999">
          <a:off x="920690" y="2732953"/>
          <a:ext cx="405884" cy="487061"/>
        </a:xfrm>
        <a:prstGeom prst="rightArrow">
          <a:avLst>
            <a:gd name="adj1" fmla="val 60000"/>
            <a:gd name="adj2" fmla="val 50000"/>
          </a:avLst>
        </a:prstGeom>
        <a:sp3d z="-182000" contourW="19050" prstMaterial="metal">
          <a:bevelT w="88900" h="203200"/>
          <a:bevelB w="165100" h="254000"/>
        </a:sp3d>
      </dsp:spPr>
      <dsp:style>
        <a:lnRef idx="0">
          <a:schemeClr val="lt1"/>
        </a:lnRef>
        <a:fillRef idx="1">
          <a:schemeClr val="accent5">
            <a:hueOff val="-7380000"/>
            <a:satOff val="-10195"/>
            <a:lumOff val="-3921"/>
            <a:alpha val="100000"/>
          </a:schemeClr>
        </a:fillRef>
        <a:effectRef idx="0">
          <a:scrgbClr r="0" g="0" b="0"/>
        </a:effectRef>
        <a:fontRef idx="minor">
          <a:schemeClr val="lt1"/>
        </a:fontRef>
      </dsp:style>
      <dsp:txBody>
        <a:bodyPr rot="-5400000" lIns="0" tIns="0" rIns="0" bIns="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endParaRPr lang="en-US"/>
        </a:p>
      </dsp:txBody>
      <dsp:txXfrm rot="5399999">
        <a:off x="920690" y="2732953"/>
        <a:ext cx="405884" cy="487061"/>
      </dsp:txXfrm>
    </dsp:sp>
    <dsp:sp modelId="{EEFFDB8A-4204-46DC-A53E-88A3003E572C}">
      <dsp:nvSpPr>
        <dsp:cNvPr id="7" name="Rounded Rectangle 6"/>
        <dsp:cNvSpPr/>
      </dsp:nvSpPr>
      <dsp:spPr bwMode="white">
        <a:xfrm>
          <a:off x="149511" y="3247073"/>
          <a:ext cx="1948244" cy="1082358"/>
        </a:xfrm>
        <a:prstGeom prst="roundRect">
          <a:avLst>
            <a:gd name="adj" fmla="val 10000"/>
          </a:avLst>
        </a:prstGeom>
        <a:sp3d contourW="19050" prstMaterial="metal">
          <a:bevelT w="88900" h="203200"/>
          <a:bevelB w="165100" h="254000"/>
        </a:sp3d>
      </dsp:spPr>
      <dsp:style>
        <a:lnRef idx="0">
          <a:schemeClr val="lt1"/>
        </a:lnRef>
        <a:fillRef idx="1">
          <a:schemeClr val="accent5">
            <a:hueOff val="-7380000"/>
            <a:satOff val="-10195"/>
            <a:lumOff val="-3921"/>
            <a:alpha val="100000"/>
          </a:schemeClr>
        </a:fillRef>
        <a:effectRef idx="2">
          <a:scrgbClr r="0" g="0" b="0"/>
        </a:effectRef>
        <a:fontRef idx="minor">
          <a:schemeClr val="lt1"/>
        </a:fontRef>
      </dsp:style>
      <dsp:txBody>
        <a:bodyPr lIns="80010" tIns="80010" rIns="80010" bIns="80010" anchor="ctr"/>
        <a:lstStyle>
          <a:lvl1pPr algn="ctr">
            <a:defRPr sz="21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r>
            <a:rPr lang="en-US" b="1">
              <a:latin typeface="Book Antiqua" panose="02040602050305030304" pitchFamily="18" charset="0"/>
            </a:rPr>
            <a:t>Impact</a:t>
          </a:r>
          <a:endParaRPr lang="en-US" b="1" dirty="0">
            <a:latin typeface="Book Antiqua" panose="02040602050305030304" pitchFamily="18" charset="0"/>
          </a:endParaRPr>
        </a:p>
      </dsp:txBody>
      <dsp:txXfrm>
        <a:off x="149511" y="3247073"/>
        <a:ext cx="1948244" cy="1082358"/>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9.pn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0.png"/><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1.png"/><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png"/><Relationship Id="rId1"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8"/>
          <p:cNvSpPr txBox="1"/>
          <p:nvPr/>
        </p:nvSpPr>
        <p:spPr>
          <a:xfrm>
            <a:off x="86995" y="1336040"/>
            <a:ext cx="11931650" cy="1536700"/>
          </a:xfrm>
          <a:prstGeom prst="rect">
            <a:avLst/>
          </a:prstGeom>
        </p:spPr>
        <p:txBody>
          <a:bodyPr lIns="0" tIns="0" rIns="0" bIns="0" rtlCol="0" anchor="t">
            <a:noAutofit/>
          </a:bodyPr>
          <a:lstStyle/>
          <a:p>
            <a:pPr algn="ctr">
              <a:lnSpc>
                <a:spcPts val="8560"/>
              </a:lnSpc>
            </a:pPr>
            <a:r>
              <a:rPr lang="en-US" altLang="en-US" sz="3400" b="1" dirty="0">
                <a:solidFill>
                  <a:srgbClr val="000000"/>
                </a:solidFill>
                <a:latin typeface="Calibri" panose="020F0502020204030204" charset="0"/>
                <a:ea typeface="Brasika"/>
                <a:cs typeface="Calibri" panose="020F0502020204030204" charset="0"/>
                <a:sym typeface="Brasika"/>
              </a:rPr>
              <a:t>“Heart Attack Risk Prediction using 14 Machine Learning Model”</a:t>
            </a:r>
            <a:endParaRPr lang="en-US" altLang="en-US" sz="3400" b="1" dirty="0">
              <a:solidFill>
                <a:srgbClr val="000000"/>
              </a:solidFill>
              <a:latin typeface="Calibri" panose="020F0502020204030204" charset="0"/>
              <a:ea typeface="Brasika"/>
              <a:cs typeface="Calibri" panose="020F0502020204030204" charset="0"/>
              <a:sym typeface="Brasika"/>
            </a:endParaRPr>
          </a:p>
          <a:p>
            <a:pPr algn="ctr">
              <a:lnSpc>
                <a:spcPts val="8560"/>
              </a:lnSpc>
            </a:pPr>
            <a:endParaRPr lang="en-US" altLang="en-US" sz="3400" b="1" dirty="0">
              <a:solidFill>
                <a:srgbClr val="000000"/>
              </a:solidFill>
              <a:latin typeface="Calibri" panose="020F0502020204030204" charset="0"/>
              <a:ea typeface="Brasika"/>
              <a:cs typeface="Calibri" panose="020F0502020204030204" charset="0"/>
              <a:sym typeface="Brasika"/>
            </a:endParaRPr>
          </a:p>
        </p:txBody>
      </p:sp>
      <p:sp>
        <p:nvSpPr>
          <p:cNvPr id="10" name="TextBox 10"/>
          <p:cNvSpPr txBox="1"/>
          <p:nvPr/>
        </p:nvSpPr>
        <p:spPr>
          <a:xfrm>
            <a:off x="4869180" y="2475865"/>
            <a:ext cx="2614930" cy="970915"/>
          </a:xfrm>
          <a:prstGeom prst="rect">
            <a:avLst/>
          </a:prstGeom>
        </p:spPr>
        <p:txBody>
          <a:bodyPr wrap="square" lIns="0" tIns="0" rIns="0" bIns="0" rtlCol="0" anchor="t">
            <a:noAutofit/>
          </a:bodyPr>
          <a:lstStyle/>
          <a:p>
            <a:pPr algn="ctr">
              <a:lnSpc>
                <a:spcPct val="109000"/>
              </a:lnSpc>
            </a:pPr>
            <a:r>
              <a:rPr lang="en-US" sz="2800" b="1" dirty="0">
                <a:solidFill>
                  <a:srgbClr val="000000"/>
                </a:solidFill>
                <a:latin typeface="Calibri" panose="020F0502020204030204" charset="0"/>
                <a:ea typeface="Times New Roman Bold" panose="02030802070405020303"/>
                <a:cs typeface="Calibri" panose="020F0502020204030204" charset="0"/>
                <a:sym typeface="Times New Roman Bold" panose="02030802070405020303"/>
              </a:rPr>
              <a:t>Presented by:</a:t>
            </a:r>
            <a:endParaRPr lang="en-US" sz="2800" b="1" dirty="0">
              <a:solidFill>
                <a:srgbClr val="000000"/>
              </a:solidFill>
              <a:latin typeface="Calibri" panose="020F0502020204030204" charset="0"/>
              <a:ea typeface="Times New Roman Bold" panose="02030802070405020303"/>
              <a:cs typeface="Calibri" panose="020F0502020204030204" charset="0"/>
              <a:sym typeface="Times New Roman Bold" panose="02030802070405020303"/>
            </a:endParaRPr>
          </a:p>
          <a:p>
            <a:pPr algn="ctr">
              <a:lnSpc>
                <a:spcPct val="109000"/>
              </a:lnSpc>
            </a:pPr>
            <a:r>
              <a:rPr lang="en-US" sz="2800" b="1" dirty="0">
                <a:solidFill>
                  <a:srgbClr val="000000"/>
                </a:solidFill>
                <a:latin typeface="Calibri" panose="020F0502020204030204" charset="0"/>
                <a:ea typeface="Times New Roman" panose="02020603050405020304"/>
                <a:cs typeface="Calibri" panose="020F0502020204030204" charset="0"/>
                <a:sym typeface="Times New Roman" panose="02020603050405020304"/>
              </a:rPr>
              <a:t>RunTime_Terr0r</a:t>
            </a:r>
            <a:endParaRPr lang="en-US" sz="2800" dirty="0">
              <a:solidFill>
                <a:srgbClr val="000000"/>
              </a:solidFill>
              <a:latin typeface="Calibri" panose="020F0502020204030204" charset="0"/>
              <a:ea typeface="Times New Roman" panose="02020603050405020304"/>
              <a:cs typeface="Calibri" panose="020F0502020204030204" charset="0"/>
              <a:sym typeface="Times New Roman" panose="02020603050405020304"/>
            </a:endParaRPr>
          </a:p>
        </p:txBody>
      </p:sp>
      <p:sp>
        <p:nvSpPr>
          <p:cNvPr id="11" name="Freeform 11"/>
          <p:cNvSpPr/>
          <p:nvPr/>
        </p:nvSpPr>
        <p:spPr>
          <a:xfrm>
            <a:off x="5480685" y="212091"/>
            <a:ext cx="1075054" cy="1002415"/>
          </a:xfrm>
          <a:custGeom>
            <a:avLst/>
            <a:gdLst/>
            <a:ahLst/>
            <a:cxnLst/>
            <a:rect l="l" t="t" r="r" b="b"/>
            <a:pathLst>
              <a:path w="1612581" h="1503623">
                <a:moveTo>
                  <a:pt x="0" y="0"/>
                </a:moveTo>
                <a:lnTo>
                  <a:pt x="1612581" y="0"/>
                </a:lnTo>
                <a:lnTo>
                  <a:pt x="1612581" y="1503623"/>
                </a:lnTo>
                <a:lnTo>
                  <a:pt x="0" y="1503623"/>
                </a:lnTo>
                <a:lnTo>
                  <a:pt x="0" y="0"/>
                </a:lnTo>
                <a:close/>
              </a:path>
            </a:pathLst>
          </a:custGeom>
          <a:blipFill>
            <a:blip r:embed="rId1"/>
            <a:stretch>
              <a:fillRect/>
            </a:stretch>
          </a:blipFill>
        </p:spPr>
      </p:sp>
      <p:sp>
        <p:nvSpPr>
          <p:cNvPr id="13" name="TextBox 13"/>
          <p:cNvSpPr txBox="1"/>
          <p:nvPr/>
        </p:nvSpPr>
        <p:spPr>
          <a:xfrm>
            <a:off x="2520315" y="1031875"/>
            <a:ext cx="7313295" cy="970915"/>
          </a:xfrm>
          <a:prstGeom prst="rect">
            <a:avLst/>
          </a:prstGeom>
        </p:spPr>
        <p:txBody>
          <a:bodyPr wrap="square" lIns="0" tIns="0" rIns="0" bIns="0" rtlCol="0" anchor="t">
            <a:noAutofit/>
          </a:bodyPr>
          <a:lstStyle/>
          <a:p>
            <a:pPr algn="ctr">
              <a:lnSpc>
                <a:spcPts val="6810"/>
              </a:lnSpc>
            </a:pPr>
            <a:r>
              <a:rPr lang="en-US" sz="3200" b="1" dirty="0">
                <a:solidFill>
                  <a:srgbClr val="000000"/>
                </a:solidFill>
                <a:latin typeface="Calibri" panose="020F0502020204030204" charset="0"/>
                <a:ea typeface="Times New Roman Bold" panose="02030802070405020303"/>
                <a:cs typeface="Calibri" panose="020F0502020204030204" charset="0"/>
                <a:sym typeface="Times New Roman Bold" panose="02030802070405020303"/>
              </a:rPr>
              <a:t>Project Presentation on: </a:t>
            </a:r>
            <a:r>
              <a:rPr lang="en-US" sz="3200" dirty="0">
                <a:solidFill>
                  <a:srgbClr val="000000"/>
                </a:solidFill>
                <a:latin typeface="Calibri" panose="020F0502020204030204" charset="0"/>
                <a:ea typeface="Times New Roman Bold" panose="02030802070405020303"/>
                <a:cs typeface="Calibri" panose="020F0502020204030204" charset="0"/>
                <a:sym typeface="Times New Roman Bold" panose="02030802070405020303"/>
              </a:rPr>
              <a:t>Data Science Lab</a:t>
            </a:r>
            <a:endParaRPr lang="en-US" sz="3200" b="1" dirty="0">
              <a:solidFill>
                <a:srgbClr val="000000"/>
              </a:solidFill>
              <a:latin typeface="Calibri" panose="020F0502020204030204" charset="0"/>
              <a:ea typeface="Times New Roman Bold" panose="02030802070405020303"/>
              <a:cs typeface="Calibri" panose="020F0502020204030204" charset="0"/>
              <a:sym typeface="Times New Roman Bold" panose="02030802070405020303"/>
            </a:endParaRPr>
          </a:p>
          <a:p>
            <a:pPr algn="ctr">
              <a:lnSpc>
                <a:spcPts val="6810"/>
              </a:lnSpc>
              <a:spcBef>
                <a:spcPct val="0"/>
              </a:spcBef>
            </a:pPr>
            <a:endParaRPr lang="en-US" sz="3200" b="1" dirty="0">
              <a:solidFill>
                <a:srgbClr val="000000"/>
              </a:solidFill>
              <a:latin typeface="Calibri" panose="020F0502020204030204" charset="0"/>
              <a:ea typeface="Times New Roman Bold" panose="02030802070405020303"/>
              <a:cs typeface="Calibri" panose="020F0502020204030204" charset="0"/>
              <a:sym typeface="Times New Roman Bold" panose="02030802070405020303"/>
            </a:endParaRPr>
          </a:p>
        </p:txBody>
      </p:sp>
      <p:sp>
        <p:nvSpPr>
          <p:cNvPr id="2" name="Text Box 1"/>
          <p:cNvSpPr txBox="1"/>
          <p:nvPr/>
        </p:nvSpPr>
        <p:spPr>
          <a:xfrm>
            <a:off x="1000125" y="3520440"/>
            <a:ext cx="3810000" cy="723265"/>
          </a:xfrm>
          <a:prstGeom prst="rect">
            <a:avLst/>
          </a:prstGeom>
          <a:noFill/>
        </p:spPr>
        <p:txBody>
          <a:bodyPr wrap="square" rtlCol="0">
            <a:noAutofit/>
          </a:bodyPr>
          <a:lstStyle/>
          <a:p>
            <a:r>
              <a:rPr lang="en-US" sz="2400" b="1" dirty="0" err="1"/>
              <a:t>Md.Sharafatullah</a:t>
            </a:r>
            <a:r>
              <a:rPr lang="en-US" sz="2400" b="1" dirty="0"/>
              <a:t> </a:t>
            </a:r>
            <a:r>
              <a:rPr lang="en-US" sz="2400" b="1" dirty="0" err="1"/>
              <a:t>Jomadder</a:t>
            </a:r>
            <a:endParaRPr lang="en-US" sz="2400" b="1" dirty="0"/>
          </a:p>
          <a:p>
            <a:r>
              <a:rPr lang="en-US" sz="2400" dirty="0"/>
              <a:t>ID:B190305012</a:t>
            </a:r>
            <a:endParaRPr lang="en-US" sz="2400" dirty="0"/>
          </a:p>
        </p:txBody>
      </p:sp>
      <p:sp>
        <p:nvSpPr>
          <p:cNvPr id="3" name="Text Box 2"/>
          <p:cNvSpPr txBox="1"/>
          <p:nvPr/>
        </p:nvSpPr>
        <p:spPr>
          <a:xfrm>
            <a:off x="5131435" y="3520440"/>
            <a:ext cx="2929255" cy="723265"/>
          </a:xfrm>
          <a:prstGeom prst="rect">
            <a:avLst/>
          </a:prstGeom>
          <a:noFill/>
        </p:spPr>
        <p:txBody>
          <a:bodyPr wrap="square" rtlCol="0">
            <a:noAutofit/>
          </a:bodyPr>
          <a:lstStyle/>
          <a:p>
            <a:r>
              <a:rPr lang="en-US" sz="2400" b="1" dirty="0"/>
              <a:t>Nusrat </a:t>
            </a:r>
            <a:r>
              <a:rPr lang="en-US" sz="2400" b="1" dirty="0" err="1"/>
              <a:t>Alam</a:t>
            </a:r>
            <a:r>
              <a:rPr lang="en-US" sz="2400" b="1" dirty="0"/>
              <a:t> </a:t>
            </a:r>
            <a:r>
              <a:rPr lang="en-US" sz="2400" b="1" dirty="0" err="1"/>
              <a:t>Srabanti</a:t>
            </a:r>
            <a:r>
              <a:rPr lang="en-US" sz="2400" dirty="0"/>
              <a:t> </a:t>
            </a:r>
            <a:endParaRPr lang="en-US" sz="2400" dirty="0"/>
          </a:p>
          <a:p>
            <a:r>
              <a:rPr lang="en-US" sz="2400" dirty="0"/>
              <a:t>ID:B190305045</a:t>
            </a:r>
            <a:endParaRPr lang="en-US" sz="2400" dirty="0"/>
          </a:p>
        </p:txBody>
      </p:sp>
      <p:sp>
        <p:nvSpPr>
          <p:cNvPr id="4" name="Text Box 3"/>
          <p:cNvSpPr txBox="1"/>
          <p:nvPr/>
        </p:nvSpPr>
        <p:spPr>
          <a:xfrm>
            <a:off x="8890000" y="3520441"/>
            <a:ext cx="2158365" cy="668655"/>
          </a:xfrm>
          <a:prstGeom prst="rect">
            <a:avLst/>
          </a:prstGeom>
          <a:noFill/>
        </p:spPr>
        <p:txBody>
          <a:bodyPr wrap="square" rtlCol="0">
            <a:noAutofit/>
          </a:bodyPr>
          <a:lstStyle/>
          <a:p>
            <a:r>
              <a:rPr lang="en-US" sz="2400" b="1" dirty="0" err="1"/>
              <a:t>Niloy</a:t>
            </a:r>
            <a:r>
              <a:rPr lang="en-US" sz="2400" b="1" dirty="0"/>
              <a:t> Datta</a:t>
            </a:r>
            <a:endParaRPr lang="en-US" sz="2400" b="1" dirty="0"/>
          </a:p>
          <a:p>
            <a:r>
              <a:rPr lang="en-US" sz="2400" dirty="0"/>
              <a:t>ID:B180305013</a:t>
            </a:r>
            <a:endParaRPr lang="en-US" sz="2400" dirty="0"/>
          </a:p>
        </p:txBody>
      </p:sp>
      <p:sp>
        <p:nvSpPr>
          <p:cNvPr id="108" name="Google Shape;108;p13"/>
          <p:cNvSpPr txBox="1"/>
          <p:nvPr/>
        </p:nvSpPr>
        <p:spPr>
          <a:xfrm>
            <a:off x="2727325" y="4441825"/>
            <a:ext cx="6898005" cy="1659255"/>
          </a:xfrm>
          <a:prstGeom prst="rect">
            <a:avLst/>
          </a:prstGeom>
          <a:noFill/>
          <a:ln>
            <a:noFill/>
          </a:ln>
        </p:spPr>
        <p:txBody>
          <a:bodyPr spcFirstLastPara="1" wrap="square" lIns="91425" tIns="45700" rIns="91425" bIns="45700" anchor="t" anchorCtr="0">
            <a:spAutoFit/>
          </a:bodyPr>
          <a:lstStyle/>
          <a:p>
            <a:pPr algn="ctr"/>
            <a:r>
              <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rPr>
              <a:t> </a:t>
            </a:r>
            <a:r>
              <a:rPr lang="en-US" sz="2600" b="1">
                <a:solidFill>
                  <a:schemeClr val="dk1"/>
                </a:solidFill>
                <a:latin typeface="Calibri" panose="020F0502020204030204" charset="0"/>
                <a:ea typeface="Times New Roman" panose="02020603050405020304"/>
                <a:cs typeface="Calibri" panose="020F0502020204030204" charset="0"/>
                <a:sym typeface="Times New Roman" panose="02020603050405020304"/>
              </a:rPr>
              <a:t>Presented to:</a:t>
            </a:r>
            <a:endParaRPr lang="en-US" sz="24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ctr"/>
            <a:r>
              <a:rPr lang="en-US" sz="2400" b="1">
                <a:solidFill>
                  <a:schemeClr val="dk1"/>
                </a:solidFill>
                <a:latin typeface="Calibri" panose="020F0502020204030204" charset="0"/>
                <a:ea typeface="Times New Roman" panose="02020603050405020304"/>
                <a:cs typeface="Calibri" panose="020F0502020204030204" charset="0"/>
                <a:sym typeface="Times New Roman" panose="02020603050405020304"/>
              </a:rPr>
              <a:t>      </a:t>
            </a:r>
            <a:r>
              <a:rPr lang="en-US" sz="2800" b="1">
                <a:solidFill>
                  <a:schemeClr val="dk1"/>
                </a:solidFill>
                <a:latin typeface="Calibri" panose="020F0502020204030204" charset="0"/>
                <a:ea typeface="Times New Roman" panose="02020603050405020304"/>
                <a:cs typeface="Calibri" panose="020F0502020204030204" charset="0"/>
                <a:sym typeface="Times New Roman" panose="02020603050405020304"/>
              </a:rPr>
              <a:t>Dr. Md. Manowarul Islam</a:t>
            </a:r>
            <a:r>
              <a:rPr lang="en-US" sz="2400">
                <a:solidFill>
                  <a:schemeClr val="dk1"/>
                </a:solidFill>
                <a:latin typeface="Calibri" panose="020F0502020204030204" charset="0"/>
                <a:ea typeface="Times New Roman" panose="02020603050405020304"/>
                <a:cs typeface="Calibri" panose="020F0502020204030204" charset="0"/>
                <a:sym typeface="Times New Roman" panose="02020603050405020304"/>
              </a:rPr>
              <a:t>, Associate Professor </a:t>
            </a:r>
            <a:endParaRPr lang="en-US" sz="2400">
              <a:solidFill>
                <a:schemeClr val="dk1"/>
              </a:solidFill>
              <a:latin typeface="Calibri" panose="020F0502020204030204" charset="0"/>
              <a:ea typeface="Times New Roman" panose="02020603050405020304"/>
              <a:cs typeface="Calibri" panose="020F0502020204030204" charset="0"/>
              <a:sym typeface="Times New Roman" panose="02020603050405020304"/>
            </a:endParaRPr>
          </a:p>
          <a:p>
            <a:pPr algn="ctr"/>
            <a:r>
              <a:rPr lang="en-US" sz="2400">
                <a:solidFill>
                  <a:schemeClr val="dk1"/>
                </a:solidFill>
                <a:latin typeface="Calibri" panose="020F0502020204030204" charset="0"/>
                <a:ea typeface="Times New Roman" panose="02020603050405020304"/>
                <a:cs typeface="Calibri" panose="020F0502020204030204" charset="0"/>
                <a:sym typeface="Times New Roman" panose="02020603050405020304"/>
              </a:rPr>
              <a:t>Dept. of Computer Science &amp; Engineering </a:t>
            </a:r>
            <a:endParaRPr lang="en-US" sz="2400">
              <a:solidFill>
                <a:schemeClr val="dk1"/>
              </a:solidFill>
              <a:latin typeface="Calibri" panose="020F0502020204030204" charset="0"/>
              <a:ea typeface="Times New Roman" panose="02020603050405020304"/>
              <a:cs typeface="Calibri" panose="020F0502020204030204" charset="0"/>
              <a:sym typeface="Times New Roman" panose="02020603050405020304"/>
            </a:endParaRPr>
          </a:p>
          <a:p>
            <a:pPr algn="ctr"/>
            <a:r>
              <a:rPr lang="en-US" sz="2400">
                <a:solidFill>
                  <a:schemeClr val="dk1"/>
                </a:solidFill>
                <a:latin typeface="Calibri" panose="020F0502020204030204" charset="0"/>
                <a:ea typeface="Times New Roman" panose="02020603050405020304"/>
                <a:cs typeface="Calibri" panose="020F0502020204030204" charset="0"/>
                <a:sym typeface="Times New Roman" panose="02020603050405020304"/>
              </a:rPr>
              <a:t>Jagannath University,Dhaka</a:t>
            </a:r>
            <a:endParaRPr lang="en-US" sz="2400">
              <a:solidFill>
                <a:schemeClr val="dk1"/>
              </a:solidFill>
              <a:latin typeface="Calibri" panose="020F0502020204030204" charset="0"/>
              <a:ea typeface="Times New Roman" panose="02020603050405020304"/>
              <a:cs typeface="Calibri" panose="020F0502020204030204" charset="0"/>
              <a:sym typeface="Times New Roman" panose="02020603050405020304"/>
            </a:endParaRPr>
          </a:p>
        </p:txBody>
      </p:sp>
      <p:sp>
        <p:nvSpPr>
          <p:cNvPr id="12" name="Text Box 11"/>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lstStyle/>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4" name="Slide Number Placeholder 7"/>
          <p:cNvSpPr>
            <a:spLocks noGrp="1"/>
          </p:cNvSpPr>
          <p:nvPr>
            <p:ph type="sldNum" sz="quarter" idx="12"/>
          </p:nvPr>
        </p:nvSpPr>
        <p:spPr>
          <a:xfrm>
            <a:off x="11509375" y="6492875"/>
            <a:ext cx="509270" cy="365125"/>
          </a:xfrm>
          <a:solidFill>
            <a:schemeClr val="bg2">
              <a:lumMod val="50000"/>
            </a:schemeClr>
          </a:solidFill>
        </p:spPr>
        <p:txBody>
          <a:bodyPr/>
          <a:lstStyle/>
          <a:p>
            <a:fld id="{9B618960-8005-486C-9A75-10CB2AAC16F9}" type="slidenum">
              <a:rPr lang="en-US" sz="1600">
                <a:solidFill>
                  <a:schemeClr val="bg1"/>
                </a:solidFill>
                <a:cs typeface="Times New Roman" panose="02020603050405020304" charset="0"/>
              </a:rPr>
            </a:fld>
            <a:endParaRPr lang="en-US" sz="1600" dirty="0">
              <a:solidFill>
                <a:schemeClr val="bg1"/>
              </a:solidFill>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7"/>
          <p:cNvSpPr/>
          <p:nvPr/>
        </p:nvSpPr>
        <p:spPr>
          <a:xfrm flipV="1">
            <a:off x="4206875" y="2321000"/>
            <a:ext cx="0" cy="605633"/>
          </a:xfrm>
          <a:prstGeom prst="line">
            <a:avLst/>
          </a:prstGeom>
          <a:ln w="85725" cap="rnd">
            <a:solidFill>
              <a:srgbClr val="A69C8E"/>
            </a:solidFill>
            <a:prstDash val="solid"/>
            <a:headEnd type="none" w="sm" len="sm"/>
            <a:tailEnd type="none" w="sm" len="sm"/>
          </a:ln>
        </p:spPr>
      </p:sp>
      <p:sp>
        <p:nvSpPr>
          <p:cNvPr id="8" name="AutoShape 8"/>
          <p:cNvSpPr/>
          <p:nvPr/>
        </p:nvSpPr>
        <p:spPr>
          <a:xfrm flipV="1">
            <a:off x="473075" y="2321000"/>
            <a:ext cx="0" cy="605633"/>
          </a:xfrm>
          <a:prstGeom prst="line">
            <a:avLst/>
          </a:prstGeom>
          <a:ln w="85725" cap="rnd">
            <a:solidFill>
              <a:srgbClr val="A69C8E"/>
            </a:solidFill>
            <a:prstDash val="solid"/>
            <a:headEnd type="none" w="sm" len="sm"/>
            <a:tailEnd type="none" w="sm" len="sm"/>
          </a:ln>
        </p:spPr>
      </p:sp>
      <p:sp>
        <p:nvSpPr>
          <p:cNvPr id="9" name="AutoShape 9"/>
          <p:cNvSpPr/>
          <p:nvPr/>
        </p:nvSpPr>
        <p:spPr>
          <a:xfrm flipV="1">
            <a:off x="4206875" y="3390155"/>
            <a:ext cx="0" cy="605633"/>
          </a:xfrm>
          <a:prstGeom prst="line">
            <a:avLst/>
          </a:prstGeom>
          <a:ln w="85725" cap="rnd">
            <a:solidFill>
              <a:srgbClr val="A69C8E"/>
            </a:solidFill>
            <a:prstDash val="solid"/>
            <a:headEnd type="none" w="sm" len="sm"/>
            <a:tailEnd type="none" w="sm" len="sm"/>
          </a:ln>
        </p:spPr>
      </p:sp>
      <p:sp>
        <p:nvSpPr>
          <p:cNvPr id="10" name="AutoShape 10"/>
          <p:cNvSpPr/>
          <p:nvPr/>
        </p:nvSpPr>
        <p:spPr>
          <a:xfrm flipV="1">
            <a:off x="473075" y="3390155"/>
            <a:ext cx="0" cy="605633"/>
          </a:xfrm>
          <a:prstGeom prst="line">
            <a:avLst/>
          </a:prstGeom>
          <a:ln w="85725" cap="rnd">
            <a:solidFill>
              <a:srgbClr val="A69C8E"/>
            </a:solidFill>
            <a:prstDash val="solid"/>
            <a:headEnd type="none" w="sm" len="sm"/>
            <a:tailEnd type="none" w="sm" len="sm"/>
          </a:ln>
        </p:spPr>
      </p:sp>
      <p:sp>
        <p:nvSpPr>
          <p:cNvPr id="11" name="AutoShape 11"/>
          <p:cNvSpPr/>
          <p:nvPr/>
        </p:nvSpPr>
        <p:spPr>
          <a:xfrm flipV="1">
            <a:off x="4206875" y="4379936"/>
            <a:ext cx="0" cy="605633"/>
          </a:xfrm>
          <a:prstGeom prst="line">
            <a:avLst/>
          </a:prstGeom>
          <a:ln w="85725" cap="rnd">
            <a:solidFill>
              <a:srgbClr val="A69C8E"/>
            </a:solidFill>
            <a:prstDash val="solid"/>
            <a:headEnd type="none" w="sm" len="sm"/>
            <a:tailEnd type="none" w="sm" len="sm"/>
          </a:ln>
        </p:spPr>
      </p:sp>
      <p:sp>
        <p:nvSpPr>
          <p:cNvPr id="12" name="AutoShape 12"/>
          <p:cNvSpPr/>
          <p:nvPr/>
        </p:nvSpPr>
        <p:spPr>
          <a:xfrm flipV="1">
            <a:off x="473075" y="4459311"/>
            <a:ext cx="0" cy="605633"/>
          </a:xfrm>
          <a:prstGeom prst="line">
            <a:avLst/>
          </a:prstGeom>
          <a:ln w="85725" cap="rnd">
            <a:solidFill>
              <a:srgbClr val="A69C8E"/>
            </a:solidFill>
            <a:prstDash val="solid"/>
            <a:headEnd type="none" w="sm" len="sm"/>
            <a:tailEnd type="none" w="sm" len="sm"/>
          </a:ln>
        </p:spPr>
      </p:sp>
      <p:sp>
        <p:nvSpPr>
          <p:cNvPr id="13" name="AutoShape 13"/>
          <p:cNvSpPr/>
          <p:nvPr/>
        </p:nvSpPr>
        <p:spPr>
          <a:xfrm flipV="1">
            <a:off x="4206875" y="5528467"/>
            <a:ext cx="0" cy="605633"/>
          </a:xfrm>
          <a:prstGeom prst="line">
            <a:avLst/>
          </a:prstGeom>
          <a:ln w="85725" cap="rnd">
            <a:solidFill>
              <a:srgbClr val="A69C8E"/>
            </a:solidFill>
            <a:prstDash val="solid"/>
            <a:headEnd type="none" w="sm" len="sm"/>
            <a:tailEnd type="none" w="sm" len="sm"/>
          </a:ln>
        </p:spPr>
      </p:sp>
      <p:sp>
        <p:nvSpPr>
          <p:cNvPr id="14" name="AutoShape 14"/>
          <p:cNvSpPr/>
          <p:nvPr/>
        </p:nvSpPr>
        <p:spPr>
          <a:xfrm flipV="1">
            <a:off x="473075" y="5528467"/>
            <a:ext cx="0" cy="605633"/>
          </a:xfrm>
          <a:prstGeom prst="line">
            <a:avLst/>
          </a:prstGeom>
          <a:ln w="85725" cap="rnd">
            <a:solidFill>
              <a:srgbClr val="A69C8E"/>
            </a:solidFill>
            <a:prstDash val="solid"/>
            <a:headEnd type="none" w="sm" len="sm"/>
            <a:tailEnd type="none" w="sm" len="sm"/>
          </a:ln>
        </p:spPr>
      </p:sp>
      <p:sp>
        <p:nvSpPr>
          <p:cNvPr id="16" name="AutoShape 16"/>
          <p:cNvSpPr/>
          <p:nvPr/>
        </p:nvSpPr>
        <p:spPr>
          <a:xfrm flipH="1">
            <a:off x="8412480" y="1143204"/>
            <a:ext cx="3474720" cy="0"/>
          </a:xfrm>
          <a:prstGeom prst="line">
            <a:avLst/>
          </a:prstGeom>
          <a:ln w="38100" cap="flat">
            <a:solidFill>
              <a:srgbClr val="040606">
                <a:alpha val="22745"/>
              </a:srgbClr>
            </a:solidFill>
            <a:prstDash val="solid"/>
            <a:headEnd type="none" w="sm" len="sm"/>
            <a:tailEnd type="none" w="sm" len="sm"/>
          </a:ln>
        </p:spPr>
      </p:sp>
      <p:sp>
        <p:nvSpPr>
          <p:cNvPr id="17" name="TextBox 17"/>
          <p:cNvSpPr txBox="1"/>
          <p:nvPr/>
        </p:nvSpPr>
        <p:spPr>
          <a:xfrm>
            <a:off x="0" y="660400"/>
            <a:ext cx="12192000" cy="1292225"/>
          </a:xfrm>
          <a:prstGeom prst="rect">
            <a:avLst/>
          </a:prstGeom>
        </p:spPr>
        <p:txBody>
          <a:bodyPr wrap="square" lIns="0" tIns="0" rIns="0" bIns="0" rtlCol="0" anchor="t">
            <a:spAutoFit/>
          </a:bodyPr>
          <a:lstStyle/>
          <a:p>
            <a:pPr algn="ctr">
              <a:lnSpc>
                <a:spcPts val="10080"/>
              </a:lnSpc>
            </a:pPr>
            <a:r>
              <a:rPr lang="en-US" sz="5845" b="1" dirty="0">
                <a:solidFill>
                  <a:srgbClr val="000000"/>
                </a:solidFill>
                <a:latin typeface="Calibri" panose="020F0502020204030204" charset="0"/>
                <a:ea typeface="Brasika"/>
                <a:cs typeface="Calibri" panose="020F0502020204030204" charset="0"/>
                <a:sym typeface="Brasika"/>
              </a:rPr>
              <a:t>Overview</a:t>
            </a:r>
            <a:endParaRPr lang="en-US" sz="5845" b="1" dirty="0">
              <a:solidFill>
                <a:srgbClr val="000000"/>
              </a:solidFill>
              <a:latin typeface="Calibri" panose="020F0502020204030204" charset="0"/>
              <a:ea typeface="Brasika"/>
              <a:cs typeface="Calibri" panose="020F0502020204030204" charset="0"/>
              <a:sym typeface="Brasika"/>
            </a:endParaRPr>
          </a:p>
        </p:txBody>
      </p:sp>
      <p:sp>
        <p:nvSpPr>
          <p:cNvPr id="18" name="TextBox 18"/>
          <p:cNvSpPr txBox="1"/>
          <p:nvPr/>
        </p:nvSpPr>
        <p:spPr>
          <a:xfrm>
            <a:off x="601980" y="1952625"/>
            <a:ext cx="716915" cy="1089660"/>
          </a:xfrm>
          <a:prstGeom prst="rect">
            <a:avLst/>
          </a:prstGeom>
        </p:spPr>
        <p:txBody>
          <a:bodyPr lIns="0" tIns="0" rIns="0" bIns="0" rtlCol="0" anchor="t">
            <a:noAutofit/>
          </a:bodyPr>
          <a:lstStyle/>
          <a:p>
            <a:pPr algn="l">
              <a:lnSpc>
                <a:spcPts val="7040"/>
              </a:lnSpc>
              <a:spcBef>
                <a:spcPct val="0"/>
              </a:spcBef>
            </a:pPr>
            <a:r>
              <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rPr>
              <a:t>01</a:t>
            </a:r>
            <a:endPar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endParaRPr>
          </a:p>
        </p:txBody>
      </p:sp>
      <p:sp>
        <p:nvSpPr>
          <p:cNvPr id="19" name="TextBox 19"/>
          <p:cNvSpPr txBox="1"/>
          <p:nvPr/>
        </p:nvSpPr>
        <p:spPr>
          <a:xfrm>
            <a:off x="4361180" y="1920875"/>
            <a:ext cx="716915" cy="1121410"/>
          </a:xfrm>
          <a:prstGeom prst="rect">
            <a:avLst/>
          </a:prstGeom>
        </p:spPr>
        <p:txBody>
          <a:bodyPr lIns="0" tIns="0" rIns="0" bIns="0" rtlCol="0" anchor="t">
            <a:noAutofit/>
          </a:bodyPr>
          <a:lstStyle/>
          <a:p>
            <a:pPr algn="l">
              <a:lnSpc>
                <a:spcPts val="7040"/>
              </a:lnSpc>
              <a:spcBef>
                <a:spcPct val="0"/>
              </a:spcBef>
            </a:pPr>
            <a:r>
              <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rPr>
              <a:t>05</a:t>
            </a:r>
            <a:endPar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endParaRPr>
          </a:p>
        </p:txBody>
      </p:sp>
      <p:sp>
        <p:nvSpPr>
          <p:cNvPr id="20" name="TextBox 20"/>
          <p:cNvSpPr txBox="1"/>
          <p:nvPr/>
        </p:nvSpPr>
        <p:spPr>
          <a:xfrm>
            <a:off x="4361180" y="3996055"/>
            <a:ext cx="716915" cy="1147445"/>
          </a:xfrm>
          <a:prstGeom prst="rect">
            <a:avLst/>
          </a:prstGeom>
        </p:spPr>
        <p:txBody>
          <a:bodyPr lIns="0" tIns="0" rIns="0" bIns="0" rtlCol="0" anchor="t">
            <a:noAutofit/>
          </a:bodyPr>
          <a:lstStyle/>
          <a:p>
            <a:pPr algn="l">
              <a:lnSpc>
                <a:spcPts val="7040"/>
              </a:lnSpc>
              <a:spcBef>
                <a:spcPct val="0"/>
              </a:spcBef>
            </a:pPr>
            <a:r>
              <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rPr>
              <a:t>07</a:t>
            </a:r>
            <a:endPar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endParaRPr>
          </a:p>
        </p:txBody>
      </p:sp>
      <p:sp>
        <p:nvSpPr>
          <p:cNvPr id="21" name="TextBox 21"/>
          <p:cNvSpPr txBox="1"/>
          <p:nvPr/>
        </p:nvSpPr>
        <p:spPr>
          <a:xfrm>
            <a:off x="4361180" y="2983230"/>
            <a:ext cx="716915" cy="1128395"/>
          </a:xfrm>
          <a:prstGeom prst="rect">
            <a:avLst/>
          </a:prstGeom>
        </p:spPr>
        <p:txBody>
          <a:bodyPr lIns="0" tIns="0" rIns="0" bIns="0" rtlCol="0" anchor="t">
            <a:noAutofit/>
          </a:bodyPr>
          <a:lstStyle/>
          <a:p>
            <a:pPr algn="l">
              <a:lnSpc>
                <a:spcPts val="7040"/>
              </a:lnSpc>
              <a:spcBef>
                <a:spcPct val="0"/>
              </a:spcBef>
            </a:pPr>
            <a:r>
              <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rPr>
              <a:t>06</a:t>
            </a:r>
            <a:endPar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endParaRPr>
          </a:p>
        </p:txBody>
      </p:sp>
      <p:sp>
        <p:nvSpPr>
          <p:cNvPr id="22" name="TextBox 22"/>
          <p:cNvSpPr txBox="1"/>
          <p:nvPr/>
        </p:nvSpPr>
        <p:spPr>
          <a:xfrm>
            <a:off x="4361180" y="5142230"/>
            <a:ext cx="716915" cy="1157605"/>
          </a:xfrm>
          <a:prstGeom prst="rect">
            <a:avLst/>
          </a:prstGeom>
        </p:spPr>
        <p:txBody>
          <a:bodyPr lIns="0" tIns="0" rIns="0" bIns="0" rtlCol="0" anchor="t">
            <a:noAutofit/>
          </a:bodyPr>
          <a:lstStyle/>
          <a:p>
            <a:pPr algn="l">
              <a:lnSpc>
                <a:spcPts val="7040"/>
              </a:lnSpc>
              <a:spcBef>
                <a:spcPct val="0"/>
              </a:spcBef>
            </a:pPr>
            <a:r>
              <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rPr>
              <a:t>08</a:t>
            </a:r>
            <a:endPar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endParaRPr>
          </a:p>
        </p:txBody>
      </p:sp>
      <p:sp>
        <p:nvSpPr>
          <p:cNvPr id="23" name="TextBox 23"/>
          <p:cNvSpPr txBox="1"/>
          <p:nvPr/>
        </p:nvSpPr>
        <p:spPr>
          <a:xfrm>
            <a:off x="4361180" y="2581910"/>
            <a:ext cx="2424430" cy="539115"/>
          </a:xfrm>
          <a:prstGeom prst="rect">
            <a:avLst/>
          </a:prstGeom>
        </p:spPr>
        <p:txBody>
          <a:bodyPr lIns="0" tIns="0" rIns="0" bIns="0" rtlCol="0" anchor="t">
            <a:noAutofit/>
          </a:bodyPr>
          <a:lstStyle/>
          <a:p>
            <a:pPr algn="l">
              <a:lnSpc>
                <a:spcPts val="3360"/>
              </a:lnSpc>
              <a:spcBef>
                <a:spcPct val="0"/>
              </a:spcBef>
            </a:pPr>
            <a:r>
              <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Dataset Attributes</a:t>
            </a:r>
            <a:endPar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 name="TextBox 24"/>
          <p:cNvSpPr txBox="1"/>
          <p:nvPr/>
        </p:nvSpPr>
        <p:spPr>
          <a:xfrm>
            <a:off x="601980" y="5180965"/>
            <a:ext cx="716915" cy="1153160"/>
          </a:xfrm>
          <a:prstGeom prst="rect">
            <a:avLst/>
          </a:prstGeom>
        </p:spPr>
        <p:txBody>
          <a:bodyPr lIns="0" tIns="0" rIns="0" bIns="0" rtlCol="0" anchor="t">
            <a:noAutofit/>
          </a:bodyPr>
          <a:lstStyle/>
          <a:p>
            <a:pPr algn="l">
              <a:lnSpc>
                <a:spcPts val="7040"/>
              </a:lnSpc>
              <a:spcBef>
                <a:spcPct val="0"/>
              </a:spcBef>
            </a:pPr>
            <a:r>
              <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rPr>
              <a:t>04</a:t>
            </a:r>
            <a:endPar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endParaRPr>
          </a:p>
        </p:txBody>
      </p:sp>
      <p:sp>
        <p:nvSpPr>
          <p:cNvPr id="25" name="TextBox 25"/>
          <p:cNvSpPr txBox="1"/>
          <p:nvPr/>
        </p:nvSpPr>
        <p:spPr>
          <a:xfrm>
            <a:off x="601980" y="2581910"/>
            <a:ext cx="1360805" cy="511175"/>
          </a:xfrm>
          <a:prstGeom prst="rect">
            <a:avLst/>
          </a:prstGeom>
        </p:spPr>
        <p:txBody>
          <a:bodyPr lIns="0" tIns="0" rIns="0" bIns="0" rtlCol="0" anchor="t">
            <a:noAutofit/>
          </a:bodyPr>
          <a:lstStyle/>
          <a:p>
            <a:pPr algn="l">
              <a:lnSpc>
                <a:spcPts val="3360"/>
              </a:lnSpc>
              <a:spcBef>
                <a:spcPct val="0"/>
              </a:spcBef>
            </a:pPr>
            <a:r>
              <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Abstract</a:t>
            </a:r>
            <a:endPar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 name="TextBox 26"/>
          <p:cNvSpPr txBox="1"/>
          <p:nvPr/>
        </p:nvSpPr>
        <p:spPr>
          <a:xfrm>
            <a:off x="601980" y="4033520"/>
            <a:ext cx="716915" cy="1299210"/>
          </a:xfrm>
          <a:prstGeom prst="rect">
            <a:avLst/>
          </a:prstGeom>
        </p:spPr>
        <p:txBody>
          <a:bodyPr lIns="0" tIns="0" rIns="0" bIns="0" rtlCol="0" anchor="t">
            <a:noAutofit/>
          </a:bodyPr>
          <a:lstStyle/>
          <a:p>
            <a:pPr algn="l">
              <a:lnSpc>
                <a:spcPts val="7040"/>
              </a:lnSpc>
              <a:spcBef>
                <a:spcPct val="0"/>
              </a:spcBef>
            </a:pPr>
            <a:r>
              <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rPr>
              <a:t>03</a:t>
            </a:r>
            <a:endPar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endParaRPr>
          </a:p>
        </p:txBody>
      </p:sp>
      <p:sp>
        <p:nvSpPr>
          <p:cNvPr id="27" name="TextBox 27"/>
          <p:cNvSpPr txBox="1"/>
          <p:nvPr/>
        </p:nvSpPr>
        <p:spPr>
          <a:xfrm>
            <a:off x="600075" y="4611370"/>
            <a:ext cx="2437765" cy="546735"/>
          </a:xfrm>
          <a:prstGeom prst="rect">
            <a:avLst/>
          </a:prstGeom>
        </p:spPr>
        <p:txBody>
          <a:bodyPr wrap="square" lIns="0" tIns="0" rIns="0" bIns="0" rtlCol="0" anchor="t">
            <a:noAutofit/>
          </a:bodyPr>
          <a:lstStyle/>
          <a:p>
            <a:pPr algn="l">
              <a:lnSpc>
                <a:spcPts val="3360"/>
              </a:lnSpc>
              <a:spcBef>
                <a:spcPct val="0"/>
              </a:spcBef>
            </a:pPr>
            <a:r>
              <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Aims &amp; Objectives</a:t>
            </a:r>
            <a:endPar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 name="TextBox 28"/>
          <p:cNvSpPr txBox="1"/>
          <p:nvPr/>
        </p:nvSpPr>
        <p:spPr>
          <a:xfrm>
            <a:off x="601980" y="2983230"/>
            <a:ext cx="716915" cy="1050290"/>
          </a:xfrm>
          <a:prstGeom prst="rect">
            <a:avLst/>
          </a:prstGeom>
        </p:spPr>
        <p:txBody>
          <a:bodyPr lIns="0" tIns="0" rIns="0" bIns="0" rtlCol="0" anchor="t">
            <a:noAutofit/>
          </a:bodyPr>
          <a:lstStyle/>
          <a:p>
            <a:pPr algn="l">
              <a:lnSpc>
                <a:spcPts val="7040"/>
              </a:lnSpc>
              <a:spcBef>
                <a:spcPct val="0"/>
              </a:spcBef>
            </a:pPr>
            <a:r>
              <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rPr>
              <a:t>02</a:t>
            </a:r>
            <a:endPar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endParaRPr>
          </a:p>
        </p:txBody>
      </p:sp>
      <p:sp>
        <p:nvSpPr>
          <p:cNvPr id="29" name="TextBox 29"/>
          <p:cNvSpPr txBox="1"/>
          <p:nvPr/>
        </p:nvSpPr>
        <p:spPr>
          <a:xfrm>
            <a:off x="601980" y="3592195"/>
            <a:ext cx="1360805" cy="570230"/>
          </a:xfrm>
          <a:prstGeom prst="rect">
            <a:avLst/>
          </a:prstGeom>
        </p:spPr>
        <p:txBody>
          <a:bodyPr lIns="0" tIns="0" rIns="0" bIns="0" rtlCol="0" anchor="t">
            <a:noAutofit/>
          </a:bodyPr>
          <a:lstStyle/>
          <a:p>
            <a:pPr algn="l">
              <a:lnSpc>
                <a:spcPts val="3360"/>
              </a:lnSpc>
              <a:spcBef>
                <a:spcPct val="0"/>
              </a:spcBef>
            </a:pPr>
            <a:r>
              <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Introduction</a:t>
            </a:r>
            <a:endPar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TextBox 30"/>
          <p:cNvSpPr txBox="1"/>
          <p:nvPr/>
        </p:nvSpPr>
        <p:spPr>
          <a:xfrm>
            <a:off x="4361180" y="4609465"/>
            <a:ext cx="2327275" cy="534035"/>
          </a:xfrm>
          <a:prstGeom prst="rect">
            <a:avLst/>
          </a:prstGeom>
        </p:spPr>
        <p:txBody>
          <a:bodyPr lIns="0" tIns="0" rIns="0" bIns="0" rtlCol="0" anchor="t">
            <a:noAutofit/>
          </a:bodyPr>
          <a:lstStyle/>
          <a:p>
            <a:pPr algn="l">
              <a:lnSpc>
                <a:spcPts val="3360"/>
              </a:lnSpc>
              <a:spcBef>
                <a:spcPct val="0"/>
              </a:spcBef>
            </a:pPr>
            <a:r>
              <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Data Pre-Processing</a:t>
            </a:r>
            <a:endPar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TextBox 31"/>
          <p:cNvSpPr txBox="1"/>
          <p:nvPr/>
        </p:nvSpPr>
        <p:spPr>
          <a:xfrm>
            <a:off x="4361180" y="3592195"/>
            <a:ext cx="2162175" cy="572135"/>
          </a:xfrm>
          <a:prstGeom prst="rect">
            <a:avLst/>
          </a:prstGeom>
        </p:spPr>
        <p:txBody>
          <a:bodyPr lIns="0" tIns="0" rIns="0" bIns="0" rtlCol="0" anchor="t">
            <a:noAutofit/>
          </a:bodyPr>
          <a:lstStyle/>
          <a:p>
            <a:pPr algn="l">
              <a:lnSpc>
                <a:spcPts val="3360"/>
              </a:lnSpc>
              <a:spcBef>
                <a:spcPct val="0"/>
              </a:spcBef>
            </a:pPr>
            <a:r>
              <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Tools &amp; Technology</a:t>
            </a:r>
            <a:endPar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2" name="TextBox 32"/>
          <p:cNvSpPr txBox="1"/>
          <p:nvPr/>
        </p:nvSpPr>
        <p:spPr>
          <a:xfrm>
            <a:off x="-739140" y="5528310"/>
            <a:ext cx="4946015" cy="841375"/>
          </a:xfrm>
          <a:prstGeom prst="rect">
            <a:avLst/>
          </a:prstGeom>
        </p:spPr>
        <p:txBody>
          <a:bodyPr lIns="0" tIns="0" rIns="0" bIns="0" rtlCol="0" anchor="t">
            <a:noAutofit/>
          </a:bodyPr>
          <a:lstStyle/>
          <a:p>
            <a:pPr algn="ctr">
              <a:lnSpc>
                <a:spcPts val="5980"/>
              </a:lnSpc>
            </a:pPr>
            <a:r>
              <a:rPr lang="en-US" sz="1865" b="1" dirty="0">
                <a:solidFill>
                  <a:srgbClr val="000000"/>
                </a:solidFill>
                <a:latin typeface="Times New Roman" panose="02020603050405020304" charset="0"/>
                <a:ea typeface="Times New Roman" panose="02020603050405020304"/>
                <a:cs typeface="Times New Roman" panose="02020603050405020304" charset="0"/>
                <a:sym typeface="Times New Roman" panose="02020603050405020304"/>
              </a:rPr>
              <a:t>Proposed Methodolgy</a:t>
            </a:r>
            <a:endParaRPr lang="en-US" sz="1865" b="1" dirty="0">
              <a:solidFill>
                <a:srgbClr val="000000"/>
              </a:solidFill>
              <a:latin typeface="Times New Roman" panose="02020603050405020304" charset="0"/>
              <a:ea typeface="Times New Roman" panose="02020603050405020304"/>
              <a:cs typeface="Times New Roman" panose="02020603050405020304" charset="0"/>
              <a:sym typeface="Times New Roman" panose="02020603050405020304"/>
            </a:endParaRPr>
          </a:p>
        </p:txBody>
      </p:sp>
      <p:sp>
        <p:nvSpPr>
          <p:cNvPr id="33" name="TextBox 33"/>
          <p:cNvSpPr txBox="1"/>
          <p:nvPr/>
        </p:nvSpPr>
        <p:spPr>
          <a:xfrm>
            <a:off x="4361180" y="5793105"/>
            <a:ext cx="3590290" cy="652780"/>
          </a:xfrm>
          <a:prstGeom prst="rect">
            <a:avLst/>
          </a:prstGeom>
        </p:spPr>
        <p:txBody>
          <a:bodyPr lIns="0" tIns="0" rIns="0" bIns="0" rtlCol="0" anchor="t">
            <a:noAutofit/>
          </a:bodyPr>
          <a:lstStyle/>
          <a:p>
            <a:pPr algn="l">
              <a:lnSpc>
                <a:spcPts val="3360"/>
              </a:lnSpc>
              <a:spcBef>
                <a:spcPct val="0"/>
              </a:spcBef>
            </a:pPr>
            <a:r>
              <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Exploratory Data Analysis</a:t>
            </a:r>
            <a:endPar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4" name="Freeform 34"/>
          <p:cNvSpPr/>
          <p:nvPr/>
        </p:nvSpPr>
        <p:spPr>
          <a:xfrm>
            <a:off x="11143488" y="225552"/>
            <a:ext cx="725823" cy="676781"/>
          </a:xfrm>
          <a:custGeom>
            <a:avLst/>
            <a:gdLst/>
            <a:ahLst/>
            <a:cxnLst/>
            <a:rect l="l" t="t" r="r" b="b"/>
            <a:pathLst>
              <a:path w="1088735" h="1015171">
                <a:moveTo>
                  <a:pt x="0" y="0"/>
                </a:moveTo>
                <a:lnTo>
                  <a:pt x="1088734" y="0"/>
                </a:lnTo>
                <a:lnTo>
                  <a:pt x="1088734" y="1015171"/>
                </a:lnTo>
                <a:lnTo>
                  <a:pt x="0" y="1015171"/>
                </a:lnTo>
                <a:lnTo>
                  <a:pt x="0" y="0"/>
                </a:lnTo>
                <a:close/>
              </a:path>
            </a:pathLst>
          </a:custGeom>
          <a:blipFill>
            <a:blip r:embed="rId1"/>
            <a:stretch>
              <a:fillRect/>
            </a:stretch>
          </a:blipFill>
        </p:spPr>
      </p:sp>
      <p:sp>
        <p:nvSpPr>
          <p:cNvPr id="37" name="AutoShape 16"/>
          <p:cNvSpPr/>
          <p:nvPr/>
        </p:nvSpPr>
        <p:spPr>
          <a:xfrm flipH="1">
            <a:off x="304800" y="1146048"/>
            <a:ext cx="3474720" cy="0"/>
          </a:xfrm>
          <a:prstGeom prst="line">
            <a:avLst/>
          </a:prstGeom>
          <a:ln w="38100" cap="flat">
            <a:solidFill>
              <a:srgbClr val="040606">
                <a:alpha val="22745"/>
              </a:srgbClr>
            </a:solidFill>
            <a:prstDash val="solid"/>
            <a:headEnd type="none" w="sm" len="sm"/>
            <a:tailEnd type="none" w="sm" len="sm"/>
          </a:ln>
        </p:spPr>
      </p:sp>
      <p:sp>
        <p:nvSpPr>
          <p:cNvPr id="3" name="Text Box 2"/>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4" name="Slide Number Placeholder 3"/>
          <p:cNvSpPr>
            <a:spLocks noGrp="1"/>
          </p:cNvSpPr>
          <p:nvPr>
            <p:ph type="sldNum" sz="quarter" idx="12"/>
          </p:nvPr>
        </p:nvSpPr>
        <p:spPr>
          <a:xfrm>
            <a:off x="11518265" y="6492875"/>
            <a:ext cx="509270" cy="365125"/>
          </a:xfrm>
          <a:solidFill>
            <a:schemeClr val="bg2">
              <a:lumMod val="50000"/>
            </a:schemeClr>
          </a:solidFill>
        </p:spPr>
        <p:txBody>
          <a:bodyPr/>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2" name="AutoShape 7"/>
          <p:cNvSpPr/>
          <p:nvPr/>
        </p:nvSpPr>
        <p:spPr>
          <a:xfrm flipV="1">
            <a:off x="8120380" y="2321000"/>
            <a:ext cx="0" cy="605633"/>
          </a:xfrm>
          <a:prstGeom prst="line">
            <a:avLst/>
          </a:prstGeom>
          <a:ln w="85725" cap="rnd">
            <a:solidFill>
              <a:srgbClr val="A69C8E"/>
            </a:solidFill>
            <a:prstDash val="solid"/>
            <a:headEnd type="none" w="sm" len="sm"/>
            <a:tailEnd type="none" w="sm" len="sm"/>
          </a:ln>
        </p:spPr>
      </p:sp>
      <p:sp>
        <p:nvSpPr>
          <p:cNvPr id="5" name="AutoShape 7"/>
          <p:cNvSpPr/>
          <p:nvPr/>
        </p:nvSpPr>
        <p:spPr>
          <a:xfrm flipH="1" flipV="1">
            <a:off x="8120380" y="3381375"/>
            <a:ext cx="635" cy="614680"/>
          </a:xfrm>
          <a:prstGeom prst="line">
            <a:avLst/>
          </a:prstGeom>
          <a:ln w="85725" cap="rnd">
            <a:solidFill>
              <a:srgbClr val="A69C8E"/>
            </a:solidFill>
            <a:prstDash val="solid"/>
            <a:headEnd type="none" w="sm" len="sm"/>
            <a:tailEnd type="none" w="sm" len="sm"/>
          </a:ln>
        </p:spPr>
      </p:sp>
      <p:sp>
        <p:nvSpPr>
          <p:cNvPr id="6" name="AutoShape 7"/>
          <p:cNvSpPr/>
          <p:nvPr/>
        </p:nvSpPr>
        <p:spPr>
          <a:xfrm flipH="1" flipV="1">
            <a:off x="8120380" y="4370705"/>
            <a:ext cx="635" cy="614680"/>
          </a:xfrm>
          <a:prstGeom prst="line">
            <a:avLst/>
          </a:prstGeom>
          <a:ln w="85725" cap="rnd">
            <a:solidFill>
              <a:srgbClr val="A69C8E"/>
            </a:solidFill>
            <a:prstDash val="solid"/>
            <a:headEnd type="none" w="sm" len="sm"/>
            <a:tailEnd type="none" w="sm" len="sm"/>
          </a:ln>
        </p:spPr>
      </p:sp>
      <p:sp>
        <p:nvSpPr>
          <p:cNvPr id="15" name="AutoShape 7"/>
          <p:cNvSpPr/>
          <p:nvPr/>
        </p:nvSpPr>
        <p:spPr>
          <a:xfrm flipH="1" flipV="1">
            <a:off x="8120380" y="5519420"/>
            <a:ext cx="635" cy="614680"/>
          </a:xfrm>
          <a:prstGeom prst="line">
            <a:avLst/>
          </a:prstGeom>
          <a:ln w="85725" cap="rnd">
            <a:solidFill>
              <a:srgbClr val="A69C8E"/>
            </a:solidFill>
            <a:prstDash val="solid"/>
            <a:headEnd type="none" w="sm" len="sm"/>
            <a:tailEnd type="none" w="sm" len="sm"/>
          </a:ln>
        </p:spPr>
      </p:sp>
      <p:sp>
        <p:nvSpPr>
          <p:cNvPr id="35" name="TextBox 19"/>
          <p:cNvSpPr txBox="1"/>
          <p:nvPr/>
        </p:nvSpPr>
        <p:spPr>
          <a:xfrm>
            <a:off x="8245475" y="5135245"/>
            <a:ext cx="716915" cy="1121410"/>
          </a:xfrm>
          <a:prstGeom prst="rect">
            <a:avLst/>
          </a:prstGeom>
        </p:spPr>
        <p:txBody>
          <a:bodyPr lIns="0" tIns="0" rIns="0" bIns="0" rtlCol="0" anchor="t">
            <a:noAutofit/>
          </a:bodyPr>
          <a:p>
            <a:pPr algn="l">
              <a:lnSpc>
                <a:spcPts val="7040"/>
              </a:lnSpc>
              <a:spcBef>
                <a:spcPct val="0"/>
              </a:spcBef>
            </a:pPr>
            <a:r>
              <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rPr>
              <a:t>12</a:t>
            </a:r>
            <a:endPar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endParaRPr>
          </a:p>
        </p:txBody>
      </p:sp>
      <p:sp>
        <p:nvSpPr>
          <p:cNvPr id="36" name="TextBox 19"/>
          <p:cNvSpPr txBox="1"/>
          <p:nvPr/>
        </p:nvSpPr>
        <p:spPr>
          <a:xfrm>
            <a:off x="8238490" y="3943350"/>
            <a:ext cx="716915" cy="1121410"/>
          </a:xfrm>
          <a:prstGeom prst="rect">
            <a:avLst/>
          </a:prstGeom>
        </p:spPr>
        <p:txBody>
          <a:bodyPr lIns="0" tIns="0" rIns="0" bIns="0" rtlCol="0" anchor="t">
            <a:noAutofit/>
          </a:bodyPr>
          <a:lstStyle/>
          <a:p>
            <a:pPr algn="l">
              <a:lnSpc>
                <a:spcPts val="7040"/>
              </a:lnSpc>
              <a:spcBef>
                <a:spcPct val="0"/>
              </a:spcBef>
            </a:pPr>
            <a:r>
              <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rPr>
              <a:t>11</a:t>
            </a:r>
            <a:endPar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endParaRPr>
          </a:p>
        </p:txBody>
      </p:sp>
      <p:sp>
        <p:nvSpPr>
          <p:cNvPr id="38" name="TextBox 19"/>
          <p:cNvSpPr txBox="1"/>
          <p:nvPr/>
        </p:nvSpPr>
        <p:spPr>
          <a:xfrm>
            <a:off x="8238490" y="2983230"/>
            <a:ext cx="716915" cy="1121410"/>
          </a:xfrm>
          <a:prstGeom prst="rect">
            <a:avLst/>
          </a:prstGeom>
        </p:spPr>
        <p:txBody>
          <a:bodyPr lIns="0" tIns="0" rIns="0" bIns="0" rtlCol="0" anchor="t">
            <a:noAutofit/>
          </a:bodyPr>
          <a:lstStyle/>
          <a:p>
            <a:pPr algn="l">
              <a:lnSpc>
                <a:spcPts val="7040"/>
              </a:lnSpc>
              <a:spcBef>
                <a:spcPct val="0"/>
              </a:spcBef>
            </a:pPr>
            <a:r>
              <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rPr>
              <a:t>10</a:t>
            </a:r>
            <a:endPar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endParaRPr>
          </a:p>
        </p:txBody>
      </p:sp>
      <p:sp>
        <p:nvSpPr>
          <p:cNvPr id="39" name="TextBox 19"/>
          <p:cNvSpPr txBox="1"/>
          <p:nvPr/>
        </p:nvSpPr>
        <p:spPr>
          <a:xfrm>
            <a:off x="8245475" y="1861820"/>
            <a:ext cx="716915" cy="1121410"/>
          </a:xfrm>
          <a:prstGeom prst="rect">
            <a:avLst/>
          </a:prstGeom>
        </p:spPr>
        <p:txBody>
          <a:bodyPr lIns="0" tIns="0" rIns="0" bIns="0" rtlCol="0" anchor="t">
            <a:noAutofit/>
          </a:bodyPr>
          <a:lstStyle/>
          <a:p>
            <a:pPr algn="l">
              <a:lnSpc>
                <a:spcPts val="7040"/>
              </a:lnSpc>
              <a:spcBef>
                <a:spcPct val="0"/>
              </a:spcBef>
            </a:pPr>
            <a:r>
              <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rPr>
              <a:t>09</a:t>
            </a:r>
            <a:endParaRPr lang="en-US" sz="3350" b="1" dirty="0">
              <a:solidFill>
                <a:srgbClr val="000000"/>
              </a:solidFill>
              <a:latin typeface="Times New Roman Ultra-Bold" panose="02030902070405020303"/>
              <a:ea typeface="Times New Roman Ultra-Bold" panose="02030902070405020303"/>
              <a:cs typeface="Times New Roman Ultra-Bold" panose="02030902070405020303"/>
              <a:sym typeface="Times New Roman Ultra-Bold" panose="02030902070405020303"/>
            </a:endParaRPr>
          </a:p>
        </p:txBody>
      </p:sp>
      <p:sp>
        <p:nvSpPr>
          <p:cNvPr id="40" name="TextBox 33"/>
          <p:cNvSpPr txBox="1"/>
          <p:nvPr/>
        </p:nvSpPr>
        <p:spPr>
          <a:xfrm>
            <a:off x="8279130" y="3592195"/>
            <a:ext cx="3590290" cy="652780"/>
          </a:xfrm>
          <a:prstGeom prst="rect">
            <a:avLst/>
          </a:prstGeom>
        </p:spPr>
        <p:txBody>
          <a:bodyPr lIns="0" tIns="0" rIns="0" bIns="0" rtlCol="0" anchor="t">
            <a:noAutofit/>
          </a:bodyPr>
          <a:p>
            <a:pPr algn="l">
              <a:lnSpc>
                <a:spcPts val="3360"/>
              </a:lnSpc>
              <a:spcBef>
                <a:spcPct val="0"/>
              </a:spcBef>
            </a:pPr>
            <a:r>
              <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User Interface</a:t>
            </a:r>
            <a:endPar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1" name="TextBox 33"/>
          <p:cNvSpPr txBox="1"/>
          <p:nvPr/>
        </p:nvSpPr>
        <p:spPr>
          <a:xfrm>
            <a:off x="8254365" y="5794375"/>
            <a:ext cx="3590290" cy="652780"/>
          </a:xfrm>
          <a:prstGeom prst="rect">
            <a:avLst/>
          </a:prstGeom>
        </p:spPr>
        <p:txBody>
          <a:bodyPr lIns="0" tIns="0" rIns="0" bIns="0" rtlCol="0" anchor="t">
            <a:noAutofit/>
          </a:bodyPr>
          <a:lstStyle/>
          <a:p>
            <a:pPr algn="l">
              <a:lnSpc>
                <a:spcPts val="3360"/>
              </a:lnSpc>
              <a:spcBef>
                <a:spcPct val="0"/>
              </a:spcBef>
            </a:pPr>
            <a:r>
              <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Conclusion </a:t>
            </a:r>
            <a:endPar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2" name="TextBox 33"/>
          <p:cNvSpPr txBox="1"/>
          <p:nvPr/>
        </p:nvSpPr>
        <p:spPr>
          <a:xfrm>
            <a:off x="8254365" y="4528185"/>
            <a:ext cx="3590290" cy="652780"/>
          </a:xfrm>
          <a:prstGeom prst="rect">
            <a:avLst/>
          </a:prstGeom>
        </p:spPr>
        <p:txBody>
          <a:bodyPr lIns="0" tIns="0" rIns="0" bIns="0" rtlCol="0" anchor="t">
            <a:noAutofit/>
          </a:bodyPr>
          <a:lstStyle/>
          <a:p>
            <a:pPr algn="l">
              <a:lnSpc>
                <a:spcPts val="3360"/>
              </a:lnSpc>
              <a:spcBef>
                <a:spcPct val="0"/>
              </a:spcBef>
            </a:pPr>
            <a:r>
              <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Future Work</a:t>
            </a:r>
            <a:endPar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3" name="TextBox 33"/>
          <p:cNvSpPr txBox="1"/>
          <p:nvPr/>
        </p:nvSpPr>
        <p:spPr>
          <a:xfrm>
            <a:off x="8245475" y="2468245"/>
            <a:ext cx="3590290" cy="652780"/>
          </a:xfrm>
          <a:prstGeom prst="rect">
            <a:avLst/>
          </a:prstGeom>
        </p:spPr>
        <p:txBody>
          <a:bodyPr lIns="0" tIns="0" rIns="0" bIns="0" rtlCol="0" anchor="t">
            <a:noAutofit/>
          </a:bodyPr>
          <a:lstStyle/>
          <a:p>
            <a:pPr algn="l">
              <a:lnSpc>
                <a:spcPts val="3360"/>
              </a:lnSpc>
              <a:spcBef>
                <a:spcPct val="0"/>
              </a:spcBef>
            </a:pPr>
            <a:r>
              <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Model Evaluation</a:t>
            </a:r>
            <a:endParaRPr lang="en-US" sz="1865" b="1"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12" name="TextBox 11"/>
          <p:cNvSpPr txBox="1"/>
          <p:nvPr/>
        </p:nvSpPr>
        <p:spPr>
          <a:xfrm>
            <a:off x="4055110" y="320067"/>
            <a:ext cx="3606800" cy="829945"/>
          </a:xfrm>
          <a:prstGeom prst="rect">
            <a:avLst/>
          </a:prstGeom>
          <a:noFill/>
        </p:spPr>
        <p:txBody>
          <a:bodyPr wrap="square" rtlCol="0">
            <a:spAutoFit/>
          </a:bodyPr>
          <a:p>
            <a:pPr algn="ctr"/>
            <a:r>
              <a:rPr lang="en-US" sz="4800" b="1" dirty="0">
                <a:latin typeface="Book Antiqua" panose="02040602050305030304" pitchFamily="18" charset="0"/>
              </a:rPr>
              <a:t>ABSTRACT</a:t>
            </a:r>
            <a:endParaRPr lang="en-US" sz="4800" b="1" dirty="0">
              <a:latin typeface="Book Antiqua" panose="02040602050305030304" pitchFamily="18" charset="0"/>
            </a:endParaRPr>
          </a:p>
        </p:txBody>
      </p:sp>
      <p:graphicFrame>
        <p:nvGraphicFramePr>
          <p:cNvPr id="13" name="Diagram 12"/>
          <p:cNvGraphicFramePr/>
          <p:nvPr/>
        </p:nvGraphicFramePr>
        <p:xfrm>
          <a:off x="9262745" y="1559560"/>
          <a:ext cx="2247265" cy="43294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Arrow: Right 13"/>
          <p:cNvSpPr/>
          <p:nvPr/>
        </p:nvSpPr>
        <p:spPr>
          <a:xfrm>
            <a:off x="548640" y="1200785"/>
            <a:ext cx="304800" cy="323088"/>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en-US" sz="1200"/>
          </a:p>
        </p:txBody>
      </p:sp>
      <p:sp>
        <p:nvSpPr>
          <p:cNvPr id="15" name="Arrow: Right 14"/>
          <p:cNvSpPr/>
          <p:nvPr/>
        </p:nvSpPr>
        <p:spPr>
          <a:xfrm>
            <a:off x="548640" y="3630295"/>
            <a:ext cx="304800" cy="323088"/>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en-US" sz="1200"/>
          </a:p>
        </p:txBody>
      </p:sp>
      <p:sp>
        <p:nvSpPr>
          <p:cNvPr id="16" name="Arrow: Right 15"/>
          <p:cNvSpPr/>
          <p:nvPr/>
        </p:nvSpPr>
        <p:spPr>
          <a:xfrm>
            <a:off x="548640" y="5132705"/>
            <a:ext cx="304800" cy="323088"/>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en-US" sz="1200"/>
          </a:p>
        </p:txBody>
      </p:sp>
      <p:sp>
        <p:nvSpPr>
          <p:cNvPr id="3" name="TextBox 3"/>
          <p:cNvSpPr txBox="1"/>
          <p:nvPr/>
        </p:nvSpPr>
        <p:spPr>
          <a:xfrm rot="10800000" flipV="1">
            <a:off x="853440" y="1149985"/>
            <a:ext cx="8056880" cy="5173980"/>
          </a:xfrm>
          <a:prstGeom prst="rect">
            <a:avLst/>
          </a:prstGeom>
          <a:noFill/>
        </p:spPr>
        <p:txBody>
          <a:bodyPr wrap="square" rtlCol="0">
            <a:noAutofit/>
          </a:bodyPr>
          <a:p>
            <a:pPr algn="just"/>
            <a:r>
              <a:rPr lang="en-US" sz="2000" b="1" dirty="0">
                <a:latin typeface="Calibri" panose="020F0502020204030204" charset="0"/>
                <a:cs typeface="Calibri" panose="020F0502020204030204" charset="0"/>
              </a:rPr>
              <a:t>Methodology:</a:t>
            </a:r>
            <a:endParaRPr lang="en-US" sz="2000" b="1" dirty="0">
              <a:latin typeface="Calibri" panose="020F0502020204030204" charset="0"/>
              <a:cs typeface="Calibri" panose="020F0502020204030204" charset="0"/>
            </a:endParaRPr>
          </a:p>
          <a:p>
            <a:pPr marL="342900" lvl="0" indent="-342900" algn="just">
              <a:buFont typeface="Arial" panose="020B0604020202020204" pitchFamily="34" charset="0"/>
              <a:buChar char="•"/>
            </a:pPr>
            <a:r>
              <a:rPr lang="en-US" altLang="en-US" sz="2000" dirty="0">
                <a:latin typeface="Calibri" panose="020F0502020204030204" charset="0"/>
                <a:cs typeface="Calibri" panose="020F0502020204030204" charset="0"/>
              </a:rPr>
              <a:t>Utilized a comprehensive machine learning approach to predict heart attack using a cleaned and preprocessed healthcare dataset </a:t>
            </a:r>
            <a:endParaRPr lang="en-US" altLang="en-US" sz="2000" dirty="0">
              <a:latin typeface="Calibri" panose="020F0502020204030204" charset="0"/>
              <a:cs typeface="Calibri" panose="020F0502020204030204" charset="0"/>
            </a:endParaRPr>
          </a:p>
          <a:p>
            <a:pPr marL="342900" lvl="0" indent="-342900" algn="just">
              <a:buFont typeface="Arial" panose="020B0604020202020204" pitchFamily="34" charset="0"/>
              <a:buChar char="•"/>
            </a:pPr>
            <a:r>
              <a:rPr lang="en-US" altLang="en-US" sz="2000" dirty="0">
                <a:latin typeface="Calibri" panose="020F0502020204030204" charset="0"/>
                <a:cs typeface="Calibri" panose="020F0502020204030204" charset="0"/>
                <a:sym typeface="+mn-ea"/>
              </a:rPr>
              <a:t>Outliers were removed using the IQR method, followed by label encoding of categorical variables</a:t>
            </a:r>
            <a:endParaRPr lang="en-US" altLang="en-US" sz="2000" dirty="0">
              <a:latin typeface="Calibri" panose="020F0502020204030204" charset="0"/>
              <a:cs typeface="Calibri" panose="020F0502020204030204" charset="0"/>
            </a:endParaRPr>
          </a:p>
          <a:p>
            <a:pPr marL="342900" lvl="0" indent="-342900" algn="just">
              <a:buFont typeface="Arial" panose="020B0604020202020204" pitchFamily="34" charset="0"/>
              <a:buChar char="•"/>
            </a:pPr>
            <a:r>
              <a:rPr lang="en-US" altLang="en-US" sz="2000" dirty="0">
                <a:latin typeface="Calibri" panose="020F0502020204030204" charset="0"/>
                <a:cs typeface="Calibri" panose="020F0502020204030204" charset="0"/>
              </a:rPr>
              <a:t>Multiple classification algorithms—including Logistic Regression, Random Forest, SVM, XGBoost and others—were trained and evaluated using cross-validation and accuracy metrics</a:t>
            </a:r>
            <a:endParaRPr lang="en-US" sz="2000" b="1" dirty="0">
              <a:latin typeface="Calibri" panose="020F0502020204030204" charset="0"/>
              <a:cs typeface="Calibri" panose="020F0502020204030204" charset="0"/>
            </a:endParaRPr>
          </a:p>
          <a:p>
            <a:pPr algn="just"/>
            <a:r>
              <a:rPr lang="en-US" sz="2000" b="1" dirty="0">
                <a:latin typeface="Calibri" panose="020F0502020204030204" charset="0"/>
                <a:cs typeface="Calibri" panose="020F0502020204030204" charset="0"/>
              </a:rPr>
              <a:t>Results:</a:t>
            </a:r>
            <a:endParaRPr lang="en-US" sz="2000" b="1" dirty="0">
              <a:latin typeface="Calibri" panose="020F0502020204030204" charset="0"/>
              <a:cs typeface="Calibri" panose="020F0502020204030204" charset="0"/>
            </a:endParaRPr>
          </a:p>
          <a:p>
            <a:pPr marL="457200" indent="-457200" algn="just">
              <a:buFont typeface="Arial" panose="020B0604020202020204" pitchFamily="34" charset="0"/>
              <a:buChar char="•"/>
            </a:pPr>
            <a:r>
              <a:rPr lang="en-US" altLang="en-US" sz="2000" dirty="0">
                <a:latin typeface="Calibri" panose="020F0502020204030204" charset="0"/>
                <a:cs typeface="Calibri" panose="020F0502020204030204" charset="0"/>
              </a:rPr>
              <a:t>The best-performing models were identified and further optimized via hyperparameter tuning.</a:t>
            </a:r>
            <a:endParaRPr lang="en-US" altLang="en-US" sz="2000" dirty="0">
              <a:latin typeface="Calibri" panose="020F0502020204030204" charset="0"/>
              <a:cs typeface="Calibri" panose="020F0502020204030204" charset="0"/>
            </a:endParaRPr>
          </a:p>
          <a:p>
            <a:pPr marL="457200" indent="-457200" algn="just">
              <a:buFont typeface="Arial" panose="020B0604020202020204" pitchFamily="34" charset="0"/>
              <a:buChar char="•"/>
            </a:pPr>
            <a:r>
              <a:rPr lang="en-US" altLang="en-US" sz="2000" dirty="0">
                <a:latin typeface="Calibri" panose="020F0502020204030204" charset="0"/>
                <a:cs typeface="Calibri" panose="020F0502020204030204" charset="0"/>
              </a:rPr>
              <a:t>Results demonstrated that ensemble models like </a:t>
            </a:r>
            <a:r>
              <a:rPr lang="en-US" altLang="en-US" sz="2000" b="1" dirty="0">
                <a:latin typeface="Calibri" panose="020F0502020204030204" charset="0"/>
                <a:cs typeface="Calibri" panose="020F0502020204030204" charset="0"/>
              </a:rPr>
              <a:t>XGBoost</a:t>
            </a:r>
            <a:r>
              <a:rPr lang="en-US" altLang="en-US" sz="2000" dirty="0">
                <a:latin typeface="Calibri" panose="020F0502020204030204" charset="0"/>
                <a:cs typeface="Calibri" panose="020F0502020204030204" charset="0"/>
              </a:rPr>
              <a:t> and </a:t>
            </a:r>
            <a:r>
              <a:rPr lang="en-US" altLang="en-US" sz="2000" b="1" dirty="0">
                <a:latin typeface="Calibri" panose="020F0502020204030204" charset="0"/>
                <a:cs typeface="Calibri" panose="020F0502020204030204" charset="0"/>
              </a:rPr>
              <a:t>Random Forest</a:t>
            </a:r>
            <a:r>
              <a:rPr lang="en-US" altLang="en-US" sz="2000" dirty="0">
                <a:latin typeface="Calibri" panose="020F0502020204030204" charset="0"/>
                <a:cs typeface="Calibri" panose="020F0502020204030204" charset="0"/>
              </a:rPr>
              <a:t> achieved the highest predictive accuracy</a:t>
            </a:r>
            <a:endParaRPr lang="en-US" altLang="en-US" sz="2000" dirty="0">
              <a:latin typeface="Calibri" panose="020F0502020204030204" charset="0"/>
              <a:cs typeface="Calibri" panose="020F0502020204030204" charset="0"/>
            </a:endParaRPr>
          </a:p>
          <a:p>
            <a:pPr algn="just"/>
            <a:r>
              <a:rPr lang="en-US" sz="2000" b="1" dirty="0">
                <a:latin typeface="Calibri" panose="020F0502020204030204" charset="0"/>
                <a:cs typeface="Calibri" panose="020F0502020204030204" charset="0"/>
              </a:rPr>
              <a:t>Impact:</a:t>
            </a:r>
            <a:endParaRPr lang="en-US" sz="2000" b="1" dirty="0">
              <a:latin typeface="Calibri" panose="020F0502020204030204" charset="0"/>
              <a:cs typeface="Calibri" panose="020F0502020204030204" charset="0"/>
            </a:endParaRPr>
          </a:p>
          <a:p>
            <a:pPr marL="457200" indent="-457200" algn="just">
              <a:buFont typeface="Arial" panose="020B0604020202020204" pitchFamily="34" charset="0"/>
              <a:buChar char="•"/>
            </a:pPr>
            <a:r>
              <a:rPr lang="en-US" altLang="en-US" sz="2000" dirty="0">
                <a:latin typeface="Calibri" panose="020F0502020204030204" charset="0"/>
                <a:cs typeface="Calibri" panose="020F0502020204030204" charset="0"/>
              </a:rPr>
              <a:t>Significant implications for early diagnosis, enabling data-driven decision-making in healthcare</a:t>
            </a:r>
            <a:endParaRPr lang="en-US" altLang="en-US" sz="2000" dirty="0">
              <a:latin typeface="Calibri" panose="020F0502020204030204" charset="0"/>
              <a:cs typeface="Calibri" panose="020F0502020204030204" charset="0"/>
            </a:endParaRPr>
          </a:p>
          <a:p>
            <a:pPr marL="457200" indent="-457200" algn="just">
              <a:buFont typeface="Arial" panose="020B0604020202020204" pitchFamily="34" charset="0"/>
              <a:buChar char="•"/>
            </a:pPr>
            <a:r>
              <a:rPr lang="en-US" altLang="en-US" sz="2000" dirty="0">
                <a:latin typeface="Calibri" panose="020F0502020204030204" charset="0"/>
                <a:cs typeface="Calibri" panose="020F0502020204030204" charset="0"/>
              </a:rPr>
              <a:t>Potentially reducing the risk of undetected heart conditions</a:t>
            </a:r>
            <a:endParaRPr lang="en-US" altLang="en-US" sz="2000" dirty="0">
              <a:latin typeface="Calibri" panose="020F0502020204030204" charset="0"/>
              <a:cs typeface="Calibri" panose="020F050202020403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12" name="TextBox 11"/>
          <p:cNvSpPr txBox="1"/>
          <p:nvPr/>
        </p:nvSpPr>
        <p:spPr>
          <a:xfrm>
            <a:off x="2924810" y="328930"/>
            <a:ext cx="5543550" cy="829945"/>
          </a:xfrm>
          <a:prstGeom prst="rect">
            <a:avLst/>
          </a:prstGeom>
          <a:noFill/>
        </p:spPr>
        <p:txBody>
          <a:bodyPr wrap="square" rtlCol="0">
            <a:spAutoFit/>
          </a:bodyPr>
          <a:p>
            <a:pPr algn="ctr"/>
            <a:r>
              <a:rPr lang="en-US" sz="4800" b="1" dirty="0">
                <a:latin typeface="Book Antiqua" panose="02040602050305030304" pitchFamily="18" charset="0"/>
              </a:rPr>
              <a:t>INTRODUCTION</a:t>
            </a:r>
            <a:endParaRPr lang="en-US" sz="4800" b="1" dirty="0">
              <a:latin typeface="Book Antiqua" panose="02040602050305030304" pitchFamily="18" charset="0"/>
            </a:endParaRPr>
          </a:p>
        </p:txBody>
      </p:sp>
      <p:pic>
        <p:nvPicPr>
          <p:cNvPr id="2" name="Picture 1" descr="heart"/>
          <p:cNvPicPr>
            <a:picLocks noChangeAspect="1"/>
          </p:cNvPicPr>
          <p:nvPr/>
        </p:nvPicPr>
        <p:blipFill>
          <a:blip r:embed="rId2"/>
          <a:stretch>
            <a:fillRect/>
          </a:stretch>
        </p:blipFill>
        <p:spPr>
          <a:xfrm>
            <a:off x="8965565" y="1270635"/>
            <a:ext cx="2903855" cy="4792980"/>
          </a:xfrm>
          <a:prstGeom prst="rect">
            <a:avLst/>
          </a:prstGeom>
        </p:spPr>
      </p:pic>
      <p:sp>
        <p:nvSpPr>
          <p:cNvPr id="3" name="Text Box 2"/>
          <p:cNvSpPr txBox="1"/>
          <p:nvPr/>
        </p:nvSpPr>
        <p:spPr>
          <a:xfrm>
            <a:off x="563880" y="1270635"/>
            <a:ext cx="8322945" cy="4792980"/>
          </a:xfrm>
          <a:prstGeom prst="rect">
            <a:avLst/>
          </a:prstGeom>
          <a:noFill/>
        </p:spPr>
        <p:txBody>
          <a:bodyPr wrap="square" rtlCol="0">
            <a:noAutofit/>
          </a:bodyPr>
          <a:p>
            <a:pPr algn="just"/>
            <a:r>
              <a:rPr lang="en-US" altLang="en-US" sz="2800" b="1"/>
              <a:t>Heart Attacks</a:t>
            </a:r>
            <a:r>
              <a:rPr lang="en-US" altLang="en-US" sz="2800"/>
              <a:t>, also known as myocardial infarctions, are a leading cause of death worldwide. </a:t>
            </a:r>
            <a:endParaRPr lang="en-US" altLang="en-US" sz="2800"/>
          </a:p>
          <a:p>
            <a:pPr algn="just"/>
            <a:endParaRPr lang="en-US" altLang="en-US" sz="2800"/>
          </a:p>
          <a:p>
            <a:pPr algn="just"/>
            <a:r>
              <a:rPr lang="en-US" altLang="en-US" sz="2800"/>
              <a:t>Predicting the risk of heart attacks can significantly improve patient outcomes by enabling early intervention and preventive measures.</a:t>
            </a:r>
            <a:endParaRPr lang="en-US" altLang="en-US" sz="2800"/>
          </a:p>
          <a:p>
            <a:pPr algn="just"/>
            <a:endParaRPr lang="en-US" altLang="en-US" sz="2800"/>
          </a:p>
          <a:p>
            <a:pPr algn="just"/>
            <a:r>
              <a:rPr lang="en-US" altLang="en-US" sz="2800"/>
              <a:t>With the advent of machine learning, we can leverage vast amounts of health data to develop predictive models and web interface that can assist healthcare professionals in identifying individuals at high risk.</a:t>
            </a:r>
            <a:endParaRPr lang="en-US" altLang="en-US" sz="2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ounded Rectangle 1"/>
          <p:cNvSpPr/>
          <p:nvPr/>
        </p:nvSpPr>
        <p:spPr>
          <a:xfrm>
            <a:off x="4257040" y="1284605"/>
            <a:ext cx="161925" cy="4748530"/>
          </a:xfrm>
          <a:custGeom>
            <a:avLst/>
            <a:gdLst/>
            <a:ahLst/>
            <a:cxnLst/>
            <a:rect l="0" t="0" r="0" b="0"/>
            <a:pathLst>
              <a:path w="8626" h="1552754">
                <a:moveTo>
                  <a:pt x="0" y="0"/>
                </a:moveTo>
                <a:lnTo>
                  <a:pt x="0" y="1552754"/>
                </a:lnTo>
              </a:path>
            </a:pathLst>
          </a:custGeom>
          <a:noFill/>
          <a:ln w="28575">
            <a:solidFill>
              <a:srgbClr val="969696"/>
            </a:solidFill>
          </a:ln>
        </p:spPr>
        <p:txBody>
          <a:bodyPr rtlCol="0" anchor="ctr"/>
          <a:lstStyle/>
          <a:p>
            <a:pPr algn="ctr"/>
          </a:p>
        </p:txBody>
      </p:sp>
      <p:sp>
        <p:nvSpPr>
          <p:cNvPr id="3" name="Rounded Rectangle 2"/>
          <p:cNvSpPr/>
          <p:nvPr/>
        </p:nvSpPr>
        <p:spPr>
          <a:xfrm>
            <a:off x="280670" y="3582035"/>
            <a:ext cx="7985760" cy="238760"/>
          </a:xfrm>
          <a:custGeom>
            <a:avLst/>
            <a:gdLst/>
            <a:ahLst/>
            <a:cxnLst/>
            <a:rect l="0" t="0" r="0" b="0"/>
            <a:pathLst>
              <a:path w="2898475" h="8626">
                <a:moveTo>
                  <a:pt x="2898475" y="0"/>
                </a:moveTo>
                <a:lnTo>
                  <a:pt x="0" y="0"/>
                </a:lnTo>
              </a:path>
            </a:pathLst>
          </a:custGeom>
          <a:noFill/>
          <a:ln w="28575">
            <a:solidFill>
              <a:srgbClr val="969696"/>
            </a:solidFill>
          </a:ln>
        </p:spPr>
        <p:txBody>
          <a:bodyPr rtlCol="0" anchor="ctr"/>
          <a:lstStyle/>
          <a:p>
            <a:pPr algn="ctr"/>
          </a:p>
        </p:txBody>
      </p:sp>
      <p:grpSp>
        <p:nvGrpSpPr>
          <p:cNvPr id="7" name="Group 6"/>
          <p:cNvGrpSpPr/>
          <p:nvPr/>
        </p:nvGrpSpPr>
        <p:grpSpPr>
          <a:xfrm>
            <a:off x="8534983" y="1054110"/>
            <a:ext cx="2483261" cy="2329132"/>
            <a:chOff x="4141824" y="422694"/>
            <a:chExt cx="2483261" cy="2329132"/>
          </a:xfrm>
        </p:grpSpPr>
        <p:sp>
          <p:nvSpPr>
            <p:cNvPr id="5" name="Rounded Rectangle 4"/>
            <p:cNvSpPr/>
            <p:nvPr/>
          </p:nvSpPr>
          <p:spPr>
            <a:xfrm>
              <a:off x="4141824" y="422694"/>
              <a:ext cx="2483261" cy="2327544"/>
            </a:xfrm>
            <a:custGeom>
              <a:avLst/>
              <a:gdLst/>
              <a:ahLst/>
              <a:cxnLst/>
              <a:rect l="0" t="0" r="0" b="0"/>
              <a:pathLst>
                <a:path w="2483261" h="2327544">
                  <a:moveTo>
                    <a:pt x="716506" y="592368"/>
                  </a:moveTo>
                  <a:lnTo>
                    <a:pt x="614183" y="731641"/>
                  </a:lnTo>
                  <a:cubicBezTo>
                    <a:pt x="429106" y="983549"/>
                    <a:pt x="323735" y="1284550"/>
                    <a:pt x="310775" y="1595886"/>
                  </a:cubicBezTo>
                  <a:lnTo>
                    <a:pt x="0" y="1595886"/>
                  </a:lnTo>
                  <a:cubicBezTo>
                    <a:pt x="13115" y="1218377"/>
                    <a:pt x="139671" y="852994"/>
                    <a:pt x="363916" y="547772"/>
                  </a:cubicBezTo>
                  <a:lnTo>
                    <a:pt x="466239" y="408498"/>
                  </a:lnTo>
                  <a:cubicBezTo>
                    <a:pt x="554146" y="288846"/>
                    <a:pt x="606404" y="147240"/>
                    <a:pt x="617662" y="0"/>
                  </a:cubicBezTo>
                  <a:lnTo>
                    <a:pt x="928866" y="0"/>
                  </a:lnTo>
                  <a:cubicBezTo>
                    <a:pt x="917160" y="213454"/>
                    <a:pt x="843591" y="419391"/>
                    <a:pt x="716506" y="592368"/>
                  </a:cubicBezTo>
                  <a:close/>
                  <a:moveTo>
                    <a:pt x="2483261" y="223939"/>
                  </a:moveTo>
                  <a:cubicBezTo>
                    <a:pt x="2483261" y="653267"/>
                    <a:pt x="2252091" y="1049334"/>
                    <a:pt x="1878267" y="1260474"/>
                  </a:cubicBezTo>
                  <a:lnTo>
                    <a:pt x="1683129" y="1370694"/>
                  </a:lnTo>
                  <a:cubicBezTo>
                    <a:pt x="1601863" y="1416595"/>
                    <a:pt x="1551609" y="1502695"/>
                    <a:pt x="1551609" y="1596024"/>
                  </a:cubicBezTo>
                  <a:lnTo>
                    <a:pt x="1551609" y="2327544"/>
                  </a:lnTo>
                  <a:cubicBezTo>
                    <a:pt x="1505931" y="2301122"/>
                    <a:pt x="1452898" y="2286000"/>
                    <a:pt x="1396333" y="2286000"/>
                  </a:cubicBezTo>
                  <a:cubicBezTo>
                    <a:pt x="1339768" y="2286000"/>
                    <a:pt x="1286735" y="2301122"/>
                    <a:pt x="1241058" y="2327544"/>
                  </a:cubicBezTo>
                  <a:lnTo>
                    <a:pt x="1241058" y="1596024"/>
                  </a:lnTo>
                  <a:cubicBezTo>
                    <a:pt x="1241058" y="1390698"/>
                    <a:pt x="1351618" y="1201271"/>
                    <a:pt x="1530402" y="1100290"/>
                  </a:cubicBezTo>
                  <a:lnTo>
                    <a:pt x="1725540" y="990070"/>
                  </a:lnTo>
                  <a:cubicBezTo>
                    <a:pt x="2001844" y="834014"/>
                    <a:pt x="2172710" y="541268"/>
                    <a:pt x="2172710" y="223939"/>
                  </a:cubicBezTo>
                  <a:lnTo>
                    <a:pt x="2172710" y="0"/>
                  </a:lnTo>
                  <a:lnTo>
                    <a:pt x="2483261" y="0"/>
                  </a:lnTo>
                  <a:close/>
                  <a:moveTo>
                    <a:pt x="1655124" y="41327"/>
                  </a:moveTo>
                  <a:cubicBezTo>
                    <a:pt x="1655124" y="383211"/>
                    <a:pt x="1508138" y="708593"/>
                    <a:pt x="1251603" y="934585"/>
                  </a:cubicBezTo>
                  <a:lnTo>
                    <a:pt x="1228765" y="954711"/>
                  </a:lnTo>
                  <a:cubicBezTo>
                    <a:pt x="1164726" y="1011119"/>
                    <a:pt x="1109923" y="1075920"/>
                    <a:pt x="1065422" y="1146726"/>
                  </a:cubicBezTo>
                  <a:cubicBezTo>
                    <a:pt x="1060710" y="1154222"/>
                    <a:pt x="1047219" y="1176479"/>
                    <a:pt x="1041862" y="1186537"/>
                  </a:cubicBezTo>
                  <a:cubicBezTo>
                    <a:pt x="954712" y="1045038"/>
                    <a:pt x="816690" y="1035256"/>
                    <a:pt x="770632" y="1035256"/>
                  </a:cubicBezTo>
                  <a:cubicBezTo>
                    <a:pt x="835793" y="918368"/>
                    <a:pt x="920874" y="812074"/>
                    <a:pt x="1023481" y="721683"/>
                  </a:cubicBezTo>
                  <a:lnTo>
                    <a:pt x="1046319" y="701564"/>
                  </a:lnTo>
                  <a:cubicBezTo>
                    <a:pt x="1235932" y="534523"/>
                    <a:pt x="1344576" y="294024"/>
                    <a:pt x="1344576" y="41327"/>
                  </a:cubicBezTo>
                  <a:lnTo>
                    <a:pt x="1344576" y="0"/>
                  </a:lnTo>
                  <a:lnTo>
                    <a:pt x="1655124" y="0"/>
                  </a:lnTo>
                  <a:close/>
                </a:path>
              </a:pathLst>
            </a:custGeom>
            <a:solidFill>
              <a:srgbClr val="F5F5F5"/>
            </a:solidFill>
            <a:ln>
              <a:noFill/>
            </a:ln>
          </p:spPr>
          <p:txBody>
            <a:bodyPr rtlCol="0" anchor="ctr"/>
            <a:lstStyle/>
            <a:p>
              <a:pPr algn="ctr"/>
            </a:p>
          </p:txBody>
        </p:sp>
        <p:sp>
          <p:nvSpPr>
            <p:cNvPr id="6" name="Rounded Rectangle 5"/>
            <p:cNvSpPr/>
            <p:nvPr/>
          </p:nvSpPr>
          <p:spPr>
            <a:xfrm>
              <a:off x="4141824" y="422694"/>
              <a:ext cx="2483261" cy="2329132"/>
            </a:xfrm>
            <a:custGeom>
              <a:avLst/>
              <a:gdLst/>
              <a:ahLst/>
              <a:cxnLst/>
              <a:rect l="0" t="0" r="0" b="0"/>
              <a:pathLst>
                <a:path w="2483261" h="2329132">
                  <a:moveTo>
                    <a:pt x="0" y="1595886"/>
                  </a:moveTo>
                  <a:cubicBezTo>
                    <a:pt x="13115" y="1218380"/>
                    <a:pt x="139671" y="852994"/>
                    <a:pt x="363916" y="547772"/>
                  </a:cubicBezTo>
                  <a:lnTo>
                    <a:pt x="466239" y="408498"/>
                  </a:lnTo>
                  <a:cubicBezTo>
                    <a:pt x="554146" y="288846"/>
                    <a:pt x="606404" y="147240"/>
                    <a:pt x="617662" y="0"/>
                  </a:cubicBezTo>
                  <a:moveTo>
                    <a:pt x="310775" y="1595886"/>
                  </a:moveTo>
                  <a:cubicBezTo>
                    <a:pt x="323735" y="1284550"/>
                    <a:pt x="429106" y="983552"/>
                    <a:pt x="614183" y="731641"/>
                  </a:cubicBezTo>
                  <a:lnTo>
                    <a:pt x="716506" y="592368"/>
                  </a:lnTo>
                  <a:cubicBezTo>
                    <a:pt x="843591" y="419391"/>
                    <a:pt x="917157" y="213454"/>
                    <a:pt x="928863" y="0"/>
                  </a:cubicBezTo>
                  <a:moveTo>
                    <a:pt x="1344582" y="0"/>
                  </a:moveTo>
                  <a:lnTo>
                    <a:pt x="1344582" y="41327"/>
                  </a:lnTo>
                  <a:cubicBezTo>
                    <a:pt x="1344582" y="294024"/>
                    <a:pt x="1235937" y="534523"/>
                    <a:pt x="1046324" y="701564"/>
                  </a:cubicBezTo>
                  <a:lnTo>
                    <a:pt x="1023487" y="721683"/>
                  </a:lnTo>
                  <a:cubicBezTo>
                    <a:pt x="919358" y="813415"/>
                    <a:pt x="833278" y="921522"/>
                    <a:pt x="767750" y="1040461"/>
                  </a:cubicBezTo>
                  <a:moveTo>
                    <a:pt x="1655133" y="0"/>
                  </a:moveTo>
                  <a:lnTo>
                    <a:pt x="1655133" y="41327"/>
                  </a:lnTo>
                  <a:cubicBezTo>
                    <a:pt x="1655133" y="383211"/>
                    <a:pt x="1508144" y="708593"/>
                    <a:pt x="1251608" y="934589"/>
                  </a:cubicBezTo>
                  <a:lnTo>
                    <a:pt x="1228770" y="954707"/>
                  </a:lnTo>
                  <a:cubicBezTo>
                    <a:pt x="1164556" y="1011277"/>
                    <a:pt x="1109627" y="1076272"/>
                    <a:pt x="1065061" y="1147313"/>
                  </a:cubicBezTo>
                  <a:cubicBezTo>
                    <a:pt x="1060062" y="1154962"/>
                    <a:pt x="1048924" y="1173188"/>
                    <a:pt x="1044370" y="1184899"/>
                  </a:cubicBezTo>
                  <a:moveTo>
                    <a:pt x="1241058" y="2329132"/>
                  </a:moveTo>
                  <a:lnTo>
                    <a:pt x="1241058" y="1596025"/>
                  </a:lnTo>
                  <a:cubicBezTo>
                    <a:pt x="1241058" y="1390695"/>
                    <a:pt x="1351618" y="1201271"/>
                    <a:pt x="1530402" y="1100291"/>
                  </a:cubicBezTo>
                  <a:lnTo>
                    <a:pt x="1725540" y="990074"/>
                  </a:lnTo>
                  <a:cubicBezTo>
                    <a:pt x="2001844" y="834014"/>
                    <a:pt x="2172710" y="541268"/>
                    <a:pt x="2172710" y="223939"/>
                  </a:cubicBezTo>
                  <a:lnTo>
                    <a:pt x="2172710" y="0"/>
                  </a:lnTo>
                  <a:moveTo>
                    <a:pt x="1551609" y="2329132"/>
                  </a:moveTo>
                  <a:lnTo>
                    <a:pt x="1551609" y="1596025"/>
                  </a:lnTo>
                  <a:cubicBezTo>
                    <a:pt x="1551609" y="1502693"/>
                    <a:pt x="1601863" y="1416591"/>
                    <a:pt x="1683129" y="1370691"/>
                  </a:cubicBezTo>
                  <a:lnTo>
                    <a:pt x="1878267" y="1260475"/>
                  </a:lnTo>
                  <a:cubicBezTo>
                    <a:pt x="2252088" y="1049335"/>
                    <a:pt x="2483261" y="653267"/>
                    <a:pt x="2483261" y="223939"/>
                  </a:cubicBezTo>
                  <a:lnTo>
                    <a:pt x="2483261" y="0"/>
                  </a:lnTo>
                </a:path>
              </a:pathLst>
            </a:custGeom>
            <a:noFill/>
            <a:ln w="12939">
              <a:solidFill>
                <a:srgbClr val="969696"/>
              </a:solidFill>
            </a:ln>
          </p:spPr>
          <p:txBody>
            <a:bodyPr rtlCol="0" anchor="ctr"/>
            <a:lstStyle/>
            <a:p>
              <a:pPr algn="ctr"/>
            </a:p>
          </p:txBody>
        </p:sp>
      </p:grpSp>
      <p:sp>
        <p:nvSpPr>
          <p:cNvPr id="8" name="Rounded Rectangle 7"/>
          <p:cNvSpPr/>
          <p:nvPr/>
        </p:nvSpPr>
        <p:spPr>
          <a:xfrm>
            <a:off x="8711567" y="1054110"/>
            <a:ext cx="2161826" cy="2286000"/>
          </a:xfrm>
          <a:custGeom>
            <a:avLst/>
            <a:gdLst/>
            <a:ahLst/>
            <a:cxnLst/>
            <a:rect l="0" t="0" r="0" b="0"/>
            <a:pathLst>
              <a:path w="2161826" h="2286000">
                <a:moveTo>
                  <a:pt x="0" y="1552754"/>
                </a:moveTo>
                <a:cubicBezTo>
                  <a:pt x="20720" y="1223702"/>
                  <a:pt x="135391" y="906628"/>
                  <a:pt x="331497" y="639706"/>
                </a:cubicBezTo>
                <a:lnTo>
                  <a:pt x="433820" y="500433"/>
                </a:lnTo>
                <a:cubicBezTo>
                  <a:pt x="541318" y="354117"/>
                  <a:pt x="604245" y="180352"/>
                  <a:pt x="615764" y="0"/>
                </a:cubicBezTo>
                <a:moveTo>
                  <a:pt x="1342305" y="0"/>
                </a:moveTo>
                <a:lnTo>
                  <a:pt x="1342305" y="41327"/>
                </a:lnTo>
                <a:cubicBezTo>
                  <a:pt x="1342305" y="338617"/>
                  <a:pt x="1214490" y="621558"/>
                  <a:pt x="991415" y="818076"/>
                </a:cubicBezTo>
                <a:cubicBezTo>
                  <a:pt x="907048" y="892399"/>
                  <a:pt x="826531" y="976794"/>
                  <a:pt x="770648" y="1075089"/>
                </a:cubicBezTo>
                <a:moveTo>
                  <a:pt x="1238800" y="2286000"/>
                </a:moveTo>
                <a:lnTo>
                  <a:pt x="1238800" y="1594922"/>
                </a:lnTo>
                <a:cubicBezTo>
                  <a:pt x="1238800" y="1445351"/>
                  <a:pt x="1318463" y="1307368"/>
                  <a:pt x="1447284" y="1233811"/>
                </a:cubicBezTo>
                <a:lnTo>
                  <a:pt x="1640616" y="1123417"/>
                </a:lnTo>
                <a:cubicBezTo>
                  <a:pt x="1962667" y="939524"/>
                  <a:pt x="2161826" y="594565"/>
                  <a:pt x="2161826" y="220639"/>
                </a:cubicBezTo>
                <a:lnTo>
                  <a:pt x="2161826" y="0"/>
                </a:lnTo>
              </a:path>
            </a:pathLst>
          </a:custGeom>
          <a:noFill/>
          <a:ln w="12939">
            <a:solidFill>
              <a:srgbClr val="969696"/>
            </a:solidFill>
            <a:prstDash val="dash"/>
          </a:ln>
        </p:spPr>
        <p:txBody>
          <a:bodyPr rtlCol="0" anchor="ctr"/>
          <a:lstStyle/>
          <a:p>
            <a:pPr algn="ctr"/>
          </a:p>
        </p:txBody>
      </p:sp>
      <p:grpSp>
        <p:nvGrpSpPr>
          <p:cNvPr id="13" name="Group 12"/>
          <p:cNvGrpSpPr/>
          <p:nvPr/>
        </p:nvGrpSpPr>
        <p:grpSpPr>
          <a:xfrm>
            <a:off x="9621401" y="3323600"/>
            <a:ext cx="621101" cy="2786333"/>
            <a:chOff x="5227607" y="2708694"/>
            <a:chExt cx="621101" cy="2786333"/>
          </a:xfrm>
        </p:grpSpPr>
        <p:sp>
          <p:nvSpPr>
            <p:cNvPr id="9" name="Rounded Rectangle 8"/>
            <p:cNvSpPr/>
            <p:nvPr/>
          </p:nvSpPr>
          <p:spPr>
            <a:xfrm>
              <a:off x="5382883" y="3290472"/>
              <a:ext cx="310550" cy="2204554"/>
            </a:xfrm>
            <a:custGeom>
              <a:avLst/>
              <a:gdLst/>
              <a:ahLst/>
              <a:cxnLst/>
              <a:rect l="0" t="0" r="0" b="0"/>
              <a:pathLst>
                <a:path w="310550" h="2204554">
                  <a:moveTo>
                    <a:pt x="310550" y="2204554"/>
                  </a:moveTo>
                  <a:lnTo>
                    <a:pt x="0" y="2204554"/>
                  </a:lnTo>
                  <a:lnTo>
                    <a:pt x="0" y="134214"/>
                  </a:lnTo>
                  <a:lnTo>
                    <a:pt x="310550" y="134214"/>
                  </a:lnTo>
                  <a:close/>
                  <a:moveTo>
                    <a:pt x="0" y="0"/>
                  </a:moveTo>
                  <a:lnTo>
                    <a:pt x="3906" y="0"/>
                  </a:lnTo>
                  <a:cubicBezTo>
                    <a:pt x="48690" y="25047"/>
                    <a:pt x="100315" y="39324"/>
                    <a:pt x="155275" y="39324"/>
                  </a:cubicBezTo>
                  <a:cubicBezTo>
                    <a:pt x="210235" y="39324"/>
                    <a:pt x="261860" y="25047"/>
                    <a:pt x="306644" y="0"/>
                  </a:cubicBezTo>
                  <a:lnTo>
                    <a:pt x="310550" y="0"/>
                  </a:lnTo>
                  <a:lnTo>
                    <a:pt x="310550" y="134214"/>
                  </a:lnTo>
                  <a:lnTo>
                    <a:pt x="0" y="134214"/>
                  </a:lnTo>
                  <a:close/>
                </a:path>
              </a:pathLst>
            </a:custGeom>
            <a:solidFill>
              <a:srgbClr val="FFF2E5"/>
            </a:solidFill>
            <a:ln>
              <a:noFill/>
            </a:ln>
          </p:spPr>
          <p:txBody>
            <a:bodyPr rtlCol="0" anchor="ctr"/>
            <a:lstStyle/>
            <a:p>
              <a:pPr algn="ctr"/>
            </a:p>
          </p:txBody>
        </p:sp>
        <p:sp>
          <p:nvSpPr>
            <p:cNvPr id="10" name="Rounded Rectangle 9"/>
            <p:cNvSpPr/>
            <p:nvPr/>
          </p:nvSpPr>
          <p:spPr>
            <a:xfrm>
              <a:off x="5227607" y="2708694"/>
              <a:ext cx="621101" cy="621101"/>
            </a:xfrm>
            <a:custGeom>
              <a:avLst/>
              <a:gdLst/>
              <a:ahLst/>
              <a:cxnLst/>
              <a:rect l="0" t="0" r="0" b="0"/>
              <a:pathLst>
                <a:path w="621101" h="621101">
                  <a:moveTo>
                    <a:pt x="0" y="310550"/>
                  </a:moveTo>
                  <a:cubicBezTo>
                    <a:pt x="0" y="139038"/>
                    <a:pt x="139038" y="0"/>
                    <a:pt x="310550" y="0"/>
                  </a:cubicBezTo>
                  <a:cubicBezTo>
                    <a:pt x="482063" y="0"/>
                    <a:pt x="621101" y="139038"/>
                    <a:pt x="621101" y="310550"/>
                  </a:cubicBezTo>
                  <a:cubicBezTo>
                    <a:pt x="621101" y="482063"/>
                    <a:pt x="482063" y="621101"/>
                    <a:pt x="310550" y="621101"/>
                  </a:cubicBezTo>
                  <a:cubicBezTo>
                    <a:pt x="139038" y="621101"/>
                    <a:pt x="0" y="482063"/>
                    <a:pt x="0" y="310550"/>
                  </a:cubicBezTo>
                </a:path>
              </a:pathLst>
            </a:custGeom>
            <a:solidFill>
              <a:srgbClr val="FFF2E5"/>
            </a:solidFill>
            <a:ln>
              <a:noFill/>
            </a:ln>
          </p:spPr>
          <p:txBody>
            <a:bodyPr rtlCol="0" anchor="ctr"/>
            <a:lstStyle/>
            <a:p>
              <a:pPr algn="ctr"/>
            </a:p>
          </p:txBody>
        </p:sp>
        <p:sp>
          <p:nvSpPr>
            <p:cNvPr id="11" name="Rounded Rectangle 10"/>
            <p:cNvSpPr/>
            <p:nvPr/>
          </p:nvSpPr>
          <p:spPr>
            <a:xfrm>
              <a:off x="5382883" y="3290501"/>
              <a:ext cx="310550" cy="2204526"/>
            </a:xfrm>
            <a:custGeom>
              <a:avLst/>
              <a:gdLst/>
              <a:ahLst/>
              <a:cxnLst/>
              <a:rect l="0" t="0" r="0" b="0"/>
              <a:pathLst>
                <a:path w="310550" h="2204526">
                  <a:moveTo>
                    <a:pt x="0" y="0"/>
                  </a:moveTo>
                  <a:lnTo>
                    <a:pt x="0" y="2204526"/>
                  </a:lnTo>
                  <a:moveTo>
                    <a:pt x="310550" y="2204526"/>
                  </a:moveTo>
                  <a:lnTo>
                    <a:pt x="310550" y="0"/>
                  </a:lnTo>
                </a:path>
              </a:pathLst>
            </a:custGeom>
            <a:noFill/>
            <a:ln w="12939">
              <a:solidFill>
                <a:srgbClr val="DE8431"/>
              </a:solidFill>
            </a:ln>
          </p:spPr>
          <p:txBody>
            <a:bodyPr rtlCol="0" anchor="ctr"/>
            <a:lstStyle/>
            <a:p>
              <a:pPr algn="ctr"/>
            </a:p>
          </p:txBody>
        </p:sp>
        <p:sp>
          <p:nvSpPr>
            <p:cNvPr id="12" name="Rounded Rectangle 11"/>
            <p:cNvSpPr/>
            <p:nvPr/>
          </p:nvSpPr>
          <p:spPr>
            <a:xfrm>
              <a:off x="5227607" y="2708694"/>
              <a:ext cx="621101" cy="621101"/>
            </a:xfrm>
            <a:custGeom>
              <a:avLst/>
              <a:gdLst/>
              <a:ahLst/>
              <a:cxnLst/>
              <a:rect l="0" t="0" r="0" b="0"/>
              <a:pathLst>
                <a:path w="621101" h="621101">
                  <a:moveTo>
                    <a:pt x="0" y="310550"/>
                  </a:moveTo>
                  <a:cubicBezTo>
                    <a:pt x="0" y="139038"/>
                    <a:pt x="139038" y="0"/>
                    <a:pt x="310550" y="0"/>
                  </a:cubicBezTo>
                  <a:cubicBezTo>
                    <a:pt x="482063" y="0"/>
                    <a:pt x="621101" y="139038"/>
                    <a:pt x="621101" y="310550"/>
                  </a:cubicBezTo>
                  <a:cubicBezTo>
                    <a:pt x="621101" y="482063"/>
                    <a:pt x="482063" y="621101"/>
                    <a:pt x="310550" y="621101"/>
                  </a:cubicBezTo>
                  <a:cubicBezTo>
                    <a:pt x="139038" y="621101"/>
                    <a:pt x="0" y="482063"/>
                    <a:pt x="0" y="310550"/>
                  </a:cubicBezTo>
                </a:path>
              </a:pathLst>
            </a:custGeom>
            <a:noFill/>
            <a:ln w="12939">
              <a:solidFill>
                <a:srgbClr val="DE8431"/>
              </a:solidFill>
            </a:ln>
          </p:spPr>
          <p:txBody>
            <a:bodyPr rtlCol="0" anchor="ctr"/>
            <a:lstStyle/>
            <a:p>
              <a:pPr algn="ctr"/>
            </a:p>
          </p:txBody>
        </p:sp>
      </p:grpSp>
      <p:grpSp>
        <p:nvGrpSpPr>
          <p:cNvPr id="18" name="Group 17"/>
          <p:cNvGrpSpPr/>
          <p:nvPr/>
        </p:nvGrpSpPr>
        <p:grpSpPr>
          <a:xfrm>
            <a:off x="8988234" y="2072770"/>
            <a:ext cx="621101" cy="4037161"/>
            <a:chOff x="4606505" y="1457864"/>
            <a:chExt cx="621101" cy="4037161"/>
          </a:xfrm>
        </p:grpSpPr>
        <p:sp>
          <p:nvSpPr>
            <p:cNvPr id="14" name="Rounded Rectangle 13"/>
            <p:cNvSpPr/>
            <p:nvPr/>
          </p:nvSpPr>
          <p:spPr>
            <a:xfrm>
              <a:off x="4761781" y="2037417"/>
              <a:ext cx="310550" cy="3457608"/>
            </a:xfrm>
            <a:custGeom>
              <a:avLst/>
              <a:gdLst/>
              <a:ahLst/>
              <a:cxnLst/>
              <a:rect l="0" t="0" r="0" b="0"/>
              <a:pathLst>
                <a:path w="310550" h="3457608">
                  <a:moveTo>
                    <a:pt x="310550" y="3457608"/>
                  </a:moveTo>
                  <a:lnTo>
                    <a:pt x="0" y="3457608"/>
                  </a:lnTo>
                  <a:lnTo>
                    <a:pt x="0" y="145065"/>
                  </a:lnTo>
                  <a:lnTo>
                    <a:pt x="310550" y="145065"/>
                  </a:lnTo>
                  <a:close/>
                  <a:moveTo>
                    <a:pt x="155275" y="41546"/>
                  </a:moveTo>
                  <a:cubicBezTo>
                    <a:pt x="211840" y="41546"/>
                    <a:pt x="264873" y="26423"/>
                    <a:pt x="310550" y="0"/>
                  </a:cubicBezTo>
                  <a:lnTo>
                    <a:pt x="310550" y="145063"/>
                  </a:lnTo>
                  <a:lnTo>
                    <a:pt x="0" y="145063"/>
                  </a:lnTo>
                  <a:lnTo>
                    <a:pt x="0" y="0"/>
                  </a:lnTo>
                  <a:cubicBezTo>
                    <a:pt x="45677" y="26423"/>
                    <a:pt x="98710" y="41546"/>
                    <a:pt x="155275" y="41546"/>
                  </a:cubicBezTo>
                  <a:close/>
                </a:path>
              </a:pathLst>
            </a:custGeom>
            <a:solidFill>
              <a:srgbClr val="E3FFF2"/>
            </a:solidFill>
            <a:ln>
              <a:noFill/>
            </a:ln>
          </p:spPr>
          <p:txBody>
            <a:bodyPr rtlCol="0" anchor="ctr"/>
            <a:lstStyle/>
            <a:p>
              <a:pPr algn="ctr"/>
            </a:p>
          </p:txBody>
        </p:sp>
        <p:sp>
          <p:nvSpPr>
            <p:cNvPr id="15" name="Rounded Rectangle 14"/>
            <p:cNvSpPr/>
            <p:nvPr/>
          </p:nvSpPr>
          <p:spPr>
            <a:xfrm>
              <a:off x="4606505" y="1457864"/>
              <a:ext cx="621101" cy="621101"/>
            </a:xfrm>
            <a:custGeom>
              <a:avLst/>
              <a:gdLst/>
              <a:ahLst/>
              <a:cxnLst/>
              <a:rect l="0" t="0" r="0" b="0"/>
              <a:pathLst>
                <a:path w="621101" h="621101">
                  <a:moveTo>
                    <a:pt x="0" y="310550"/>
                  </a:moveTo>
                  <a:cubicBezTo>
                    <a:pt x="0" y="139038"/>
                    <a:pt x="139038" y="0"/>
                    <a:pt x="310550" y="0"/>
                  </a:cubicBezTo>
                  <a:cubicBezTo>
                    <a:pt x="482063" y="0"/>
                    <a:pt x="621101" y="139038"/>
                    <a:pt x="621101" y="310550"/>
                  </a:cubicBezTo>
                  <a:cubicBezTo>
                    <a:pt x="621101" y="482063"/>
                    <a:pt x="482063" y="621101"/>
                    <a:pt x="310550" y="621101"/>
                  </a:cubicBezTo>
                  <a:cubicBezTo>
                    <a:pt x="139038" y="621101"/>
                    <a:pt x="0" y="482063"/>
                    <a:pt x="0" y="310550"/>
                  </a:cubicBezTo>
                </a:path>
              </a:pathLst>
            </a:custGeom>
            <a:solidFill>
              <a:srgbClr val="E3FFF2"/>
            </a:solidFill>
            <a:ln>
              <a:noFill/>
            </a:ln>
          </p:spPr>
          <p:txBody>
            <a:bodyPr rtlCol="0" anchor="ctr"/>
            <a:lstStyle/>
            <a:p>
              <a:pPr algn="ctr"/>
            </a:p>
          </p:txBody>
        </p:sp>
        <p:sp>
          <p:nvSpPr>
            <p:cNvPr id="16" name="Rounded Rectangle 15"/>
            <p:cNvSpPr/>
            <p:nvPr/>
          </p:nvSpPr>
          <p:spPr>
            <a:xfrm>
              <a:off x="4761781" y="2036928"/>
              <a:ext cx="310550" cy="3458096"/>
            </a:xfrm>
            <a:custGeom>
              <a:avLst/>
              <a:gdLst/>
              <a:ahLst/>
              <a:cxnLst/>
              <a:rect l="0" t="0" r="0" b="0"/>
              <a:pathLst>
                <a:path w="310550" h="3458096">
                  <a:moveTo>
                    <a:pt x="0" y="0"/>
                  </a:moveTo>
                  <a:lnTo>
                    <a:pt x="0" y="3458096"/>
                  </a:lnTo>
                  <a:moveTo>
                    <a:pt x="310550" y="3458096"/>
                  </a:moveTo>
                  <a:lnTo>
                    <a:pt x="310550" y="0"/>
                  </a:lnTo>
                </a:path>
              </a:pathLst>
            </a:custGeom>
            <a:noFill/>
            <a:ln w="12939">
              <a:solidFill>
                <a:srgbClr val="3CC583"/>
              </a:solidFill>
            </a:ln>
          </p:spPr>
          <p:txBody>
            <a:bodyPr rtlCol="0" anchor="ctr"/>
            <a:lstStyle/>
            <a:p>
              <a:pPr algn="ctr"/>
            </a:p>
          </p:txBody>
        </p:sp>
        <p:sp>
          <p:nvSpPr>
            <p:cNvPr id="17" name="Rounded Rectangle 16"/>
            <p:cNvSpPr/>
            <p:nvPr/>
          </p:nvSpPr>
          <p:spPr>
            <a:xfrm>
              <a:off x="4606505" y="1457864"/>
              <a:ext cx="621101" cy="621101"/>
            </a:xfrm>
            <a:custGeom>
              <a:avLst/>
              <a:gdLst/>
              <a:ahLst/>
              <a:cxnLst/>
              <a:rect l="0" t="0" r="0" b="0"/>
              <a:pathLst>
                <a:path w="621101" h="621101">
                  <a:moveTo>
                    <a:pt x="0" y="310550"/>
                  </a:moveTo>
                  <a:cubicBezTo>
                    <a:pt x="0" y="139038"/>
                    <a:pt x="139038" y="0"/>
                    <a:pt x="310550" y="0"/>
                  </a:cubicBezTo>
                  <a:cubicBezTo>
                    <a:pt x="482063" y="0"/>
                    <a:pt x="621101" y="139038"/>
                    <a:pt x="621101" y="310550"/>
                  </a:cubicBezTo>
                  <a:cubicBezTo>
                    <a:pt x="621101" y="482063"/>
                    <a:pt x="482063" y="621101"/>
                    <a:pt x="310550" y="621101"/>
                  </a:cubicBezTo>
                  <a:cubicBezTo>
                    <a:pt x="139038" y="621101"/>
                    <a:pt x="0" y="482063"/>
                    <a:pt x="0" y="310550"/>
                  </a:cubicBezTo>
                </a:path>
              </a:pathLst>
            </a:custGeom>
            <a:noFill/>
            <a:ln w="12939">
              <a:solidFill>
                <a:srgbClr val="3CC583"/>
              </a:solidFill>
            </a:ln>
          </p:spPr>
          <p:txBody>
            <a:bodyPr rtlCol="0" anchor="ctr"/>
            <a:lstStyle/>
            <a:p>
              <a:pPr algn="ctr"/>
            </a:p>
          </p:txBody>
        </p:sp>
      </p:grpSp>
      <p:grpSp>
        <p:nvGrpSpPr>
          <p:cNvPr id="23" name="Group 22"/>
          <p:cNvGrpSpPr/>
          <p:nvPr/>
        </p:nvGrpSpPr>
        <p:grpSpPr>
          <a:xfrm>
            <a:off x="8374117" y="2590990"/>
            <a:ext cx="621101" cy="3519577"/>
            <a:chOff x="3985403" y="1975449"/>
            <a:chExt cx="621101" cy="3519577"/>
          </a:xfrm>
        </p:grpSpPr>
        <p:sp>
          <p:nvSpPr>
            <p:cNvPr id="19" name="Rounded Rectangle 18"/>
            <p:cNvSpPr/>
            <p:nvPr/>
          </p:nvSpPr>
          <p:spPr>
            <a:xfrm>
              <a:off x="4140679" y="2555003"/>
              <a:ext cx="310550" cy="2940018"/>
            </a:xfrm>
            <a:custGeom>
              <a:avLst/>
              <a:gdLst/>
              <a:ahLst/>
              <a:cxnLst/>
              <a:rect l="0" t="0" r="0" b="0"/>
              <a:pathLst>
                <a:path w="310550" h="2940018">
                  <a:moveTo>
                    <a:pt x="310550" y="2940018"/>
                  </a:moveTo>
                  <a:lnTo>
                    <a:pt x="0" y="2940018"/>
                  </a:lnTo>
                  <a:lnTo>
                    <a:pt x="0" y="145065"/>
                  </a:lnTo>
                  <a:lnTo>
                    <a:pt x="310550" y="145065"/>
                  </a:lnTo>
                  <a:close/>
                  <a:moveTo>
                    <a:pt x="155275" y="41546"/>
                  </a:moveTo>
                  <a:cubicBezTo>
                    <a:pt x="211840" y="41546"/>
                    <a:pt x="264873" y="26423"/>
                    <a:pt x="310550" y="0"/>
                  </a:cubicBezTo>
                  <a:lnTo>
                    <a:pt x="310550" y="145065"/>
                  </a:lnTo>
                  <a:lnTo>
                    <a:pt x="0" y="145065"/>
                  </a:lnTo>
                  <a:lnTo>
                    <a:pt x="0" y="0"/>
                  </a:lnTo>
                  <a:cubicBezTo>
                    <a:pt x="45677" y="26423"/>
                    <a:pt x="98710" y="41546"/>
                    <a:pt x="155275" y="41546"/>
                  </a:cubicBezTo>
                  <a:close/>
                </a:path>
              </a:pathLst>
            </a:custGeom>
            <a:solidFill>
              <a:srgbClr val="EDF4FF"/>
            </a:solidFill>
            <a:ln>
              <a:noFill/>
            </a:ln>
          </p:spPr>
          <p:txBody>
            <a:bodyPr rtlCol="0" anchor="ctr"/>
            <a:lstStyle/>
            <a:p>
              <a:pPr algn="ctr"/>
            </a:p>
          </p:txBody>
        </p:sp>
        <p:sp>
          <p:nvSpPr>
            <p:cNvPr id="20" name="Rounded Rectangle 19"/>
            <p:cNvSpPr/>
            <p:nvPr/>
          </p:nvSpPr>
          <p:spPr>
            <a:xfrm>
              <a:off x="3985403" y="1975449"/>
              <a:ext cx="621101" cy="621101"/>
            </a:xfrm>
            <a:custGeom>
              <a:avLst/>
              <a:gdLst/>
              <a:ahLst/>
              <a:cxnLst/>
              <a:rect l="0" t="0" r="0" b="0"/>
              <a:pathLst>
                <a:path w="621101" h="621101">
                  <a:moveTo>
                    <a:pt x="0" y="310550"/>
                  </a:moveTo>
                  <a:cubicBezTo>
                    <a:pt x="0" y="139038"/>
                    <a:pt x="139038" y="0"/>
                    <a:pt x="310550" y="0"/>
                  </a:cubicBezTo>
                  <a:cubicBezTo>
                    <a:pt x="482063" y="0"/>
                    <a:pt x="621101" y="139038"/>
                    <a:pt x="621101" y="310550"/>
                  </a:cubicBezTo>
                  <a:cubicBezTo>
                    <a:pt x="621101" y="482063"/>
                    <a:pt x="482063" y="621101"/>
                    <a:pt x="310550" y="621101"/>
                  </a:cubicBezTo>
                  <a:cubicBezTo>
                    <a:pt x="139038" y="621101"/>
                    <a:pt x="0" y="482063"/>
                    <a:pt x="0" y="310550"/>
                  </a:cubicBezTo>
                </a:path>
              </a:pathLst>
            </a:custGeom>
            <a:solidFill>
              <a:srgbClr val="EDF4FF"/>
            </a:solidFill>
            <a:ln>
              <a:noFill/>
            </a:ln>
          </p:spPr>
          <p:txBody>
            <a:bodyPr rtlCol="0" anchor="ctr"/>
            <a:lstStyle/>
            <a:p>
              <a:pPr algn="ctr"/>
            </a:p>
          </p:txBody>
        </p:sp>
        <p:sp>
          <p:nvSpPr>
            <p:cNvPr id="21" name="Rounded Rectangle 20"/>
            <p:cNvSpPr/>
            <p:nvPr/>
          </p:nvSpPr>
          <p:spPr>
            <a:xfrm>
              <a:off x="4140679" y="2553419"/>
              <a:ext cx="310550" cy="2941607"/>
            </a:xfrm>
            <a:custGeom>
              <a:avLst/>
              <a:gdLst/>
              <a:ahLst/>
              <a:cxnLst/>
              <a:rect l="0" t="0" r="0" b="0"/>
              <a:pathLst>
                <a:path w="310550" h="2941607">
                  <a:moveTo>
                    <a:pt x="0" y="0"/>
                  </a:moveTo>
                  <a:lnTo>
                    <a:pt x="0" y="2941607"/>
                  </a:lnTo>
                  <a:moveTo>
                    <a:pt x="310550" y="2941607"/>
                  </a:moveTo>
                  <a:lnTo>
                    <a:pt x="310550" y="0"/>
                  </a:lnTo>
                </a:path>
              </a:pathLst>
            </a:custGeom>
            <a:noFill/>
            <a:ln w="12939">
              <a:solidFill>
                <a:srgbClr val="4E88E7"/>
              </a:solidFill>
            </a:ln>
          </p:spPr>
          <p:txBody>
            <a:bodyPr rtlCol="0" anchor="ctr"/>
            <a:lstStyle/>
            <a:p>
              <a:pPr algn="ctr"/>
            </a:p>
          </p:txBody>
        </p:sp>
        <p:sp>
          <p:nvSpPr>
            <p:cNvPr id="22" name="Rounded Rectangle 21"/>
            <p:cNvSpPr/>
            <p:nvPr/>
          </p:nvSpPr>
          <p:spPr>
            <a:xfrm>
              <a:off x="3985403" y="1975449"/>
              <a:ext cx="621101" cy="621101"/>
            </a:xfrm>
            <a:custGeom>
              <a:avLst/>
              <a:gdLst/>
              <a:ahLst/>
              <a:cxnLst/>
              <a:rect l="0" t="0" r="0" b="0"/>
              <a:pathLst>
                <a:path w="621101" h="621101">
                  <a:moveTo>
                    <a:pt x="0" y="310550"/>
                  </a:moveTo>
                  <a:cubicBezTo>
                    <a:pt x="0" y="139038"/>
                    <a:pt x="139038" y="0"/>
                    <a:pt x="310550" y="0"/>
                  </a:cubicBezTo>
                  <a:cubicBezTo>
                    <a:pt x="482063" y="0"/>
                    <a:pt x="621101" y="139038"/>
                    <a:pt x="621101" y="310550"/>
                  </a:cubicBezTo>
                  <a:cubicBezTo>
                    <a:pt x="621101" y="482063"/>
                    <a:pt x="482063" y="621101"/>
                    <a:pt x="310550" y="621101"/>
                  </a:cubicBezTo>
                  <a:cubicBezTo>
                    <a:pt x="139038" y="621101"/>
                    <a:pt x="0" y="482063"/>
                    <a:pt x="0" y="310550"/>
                  </a:cubicBezTo>
                </a:path>
              </a:pathLst>
            </a:custGeom>
            <a:noFill/>
            <a:ln w="12939">
              <a:solidFill>
                <a:srgbClr val="4E88E7"/>
              </a:solidFill>
            </a:ln>
          </p:spPr>
          <p:txBody>
            <a:bodyPr rtlCol="0" anchor="ctr"/>
            <a:lstStyle/>
            <a:p>
              <a:pPr algn="ctr"/>
            </a:p>
          </p:txBody>
        </p:sp>
      </p:grpSp>
      <p:sp>
        <p:nvSpPr>
          <p:cNvPr id="24" name="Rounded Rectangle 23"/>
          <p:cNvSpPr/>
          <p:nvPr/>
        </p:nvSpPr>
        <p:spPr>
          <a:xfrm>
            <a:off x="9926872" y="3944468"/>
            <a:ext cx="8626" cy="2165491"/>
          </a:xfrm>
          <a:custGeom>
            <a:avLst/>
            <a:gdLst/>
            <a:ahLst/>
            <a:cxnLst/>
            <a:rect l="0" t="0" r="0" b="0"/>
            <a:pathLst>
              <a:path w="8626" h="2165491">
                <a:moveTo>
                  <a:pt x="0" y="0"/>
                </a:moveTo>
                <a:lnTo>
                  <a:pt x="0" y="2165491"/>
                </a:lnTo>
              </a:path>
            </a:pathLst>
          </a:custGeom>
          <a:noFill/>
          <a:ln w="12939">
            <a:solidFill>
              <a:srgbClr val="DE8431"/>
            </a:solidFill>
            <a:prstDash val="dash"/>
          </a:ln>
        </p:spPr>
        <p:txBody>
          <a:bodyPr rtlCol="0" anchor="ctr"/>
          <a:lstStyle/>
          <a:p>
            <a:pPr algn="ctr"/>
          </a:p>
        </p:txBody>
      </p:sp>
      <p:sp>
        <p:nvSpPr>
          <p:cNvPr id="25" name="Rounded Rectangle 24"/>
          <p:cNvSpPr/>
          <p:nvPr/>
        </p:nvSpPr>
        <p:spPr>
          <a:xfrm>
            <a:off x="9314025" y="2785947"/>
            <a:ext cx="8626" cy="3416060"/>
          </a:xfrm>
          <a:custGeom>
            <a:avLst/>
            <a:gdLst/>
            <a:ahLst/>
            <a:cxnLst/>
            <a:rect l="0" t="0" r="0" b="0"/>
            <a:pathLst>
              <a:path w="8626" h="3416060">
                <a:moveTo>
                  <a:pt x="0" y="0"/>
                </a:moveTo>
                <a:lnTo>
                  <a:pt x="0" y="3416060"/>
                </a:lnTo>
              </a:path>
            </a:pathLst>
          </a:custGeom>
          <a:noFill/>
          <a:ln w="12939">
            <a:solidFill>
              <a:srgbClr val="3CC583"/>
            </a:solidFill>
            <a:prstDash val="dash"/>
          </a:ln>
        </p:spPr>
        <p:txBody>
          <a:bodyPr rtlCol="0" anchor="ctr"/>
          <a:lstStyle/>
          <a:p>
            <a:pPr algn="ctr"/>
          </a:p>
        </p:txBody>
      </p:sp>
      <p:sp>
        <p:nvSpPr>
          <p:cNvPr id="26" name="Rounded Rectangle 25"/>
          <p:cNvSpPr/>
          <p:nvPr/>
        </p:nvSpPr>
        <p:spPr>
          <a:xfrm>
            <a:off x="8700543" y="3212092"/>
            <a:ext cx="8626" cy="2898475"/>
          </a:xfrm>
          <a:custGeom>
            <a:avLst/>
            <a:gdLst/>
            <a:ahLst/>
            <a:cxnLst/>
            <a:rect l="0" t="0" r="0" b="0"/>
            <a:pathLst>
              <a:path w="8626" h="2898475">
                <a:moveTo>
                  <a:pt x="0" y="0"/>
                </a:moveTo>
                <a:lnTo>
                  <a:pt x="0" y="2898475"/>
                </a:lnTo>
              </a:path>
            </a:pathLst>
          </a:custGeom>
          <a:noFill/>
          <a:ln w="12939">
            <a:solidFill>
              <a:srgbClr val="4E88E7"/>
            </a:solidFill>
            <a:prstDash val="dash"/>
          </a:ln>
        </p:spPr>
        <p:txBody>
          <a:bodyPr rtlCol="0" anchor="ctr"/>
          <a:lstStyle/>
          <a:p>
            <a:pPr algn="ctr"/>
          </a:p>
        </p:txBody>
      </p:sp>
      <p:sp>
        <p:nvSpPr>
          <p:cNvPr id="34" name="Rounded Rectangle 33"/>
          <p:cNvSpPr/>
          <p:nvPr/>
        </p:nvSpPr>
        <p:spPr>
          <a:xfrm>
            <a:off x="9143186" y="2190892"/>
            <a:ext cx="401128" cy="401130"/>
          </a:xfrm>
          <a:custGeom>
            <a:avLst/>
            <a:gdLst/>
            <a:ahLst/>
            <a:cxnLst/>
            <a:rect l="0" t="0" r="0" b="0"/>
            <a:pathLst>
              <a:path w="401128" h="401130">
                <a:moveTo>
                  <a:pt x="12939" y="116456"/>
                </a:moveTo>
                <a:lnTo>
                  <a:pt x="12939" y="47445"/>
                </a:lnTo>
                <a:cubicBezTo>
                  <a:pt x="12939" y="28467"/>
                  <a:pt x="28467" y="12939"/>
                  <a:pt x="47445" y="12939"/>
                </a:cubicBezTo>
                <a:lnTo>
                  <a:pt x="314864" y="12939"/>
                </a:lnTo>
                <a:cubicBezTo>
                  <a:pt x="333842" y="12939"/>
                  <a:pt x="349369" y="28467"/>
                  <a:pt x="349369" y="47445"/>
                </a:cubicBezTo>
                <a:lnTo>
                  <a:pt x="349369" y="116456"/>
                </a:lnTo>
                <a:moveTo>
                  <a:pt x="349369" y="116456"/>
                </a:moveTo>
                <a:lnTo>
                  <a:pt x="12939" y="116456"/>
                </a:lnTo>
                <a:moveTo>
                  <a:pt x="237226" y="116456"/>
                </a:moveTo>
                <a:lnTo>
                  <a:pt x="349369" y="116456"/>
                </a:lnTo>
                <a:moveTo>
                  <a:pt x="349369" y="116456"/>
                </a:moveTo>
                <a:lnTo>
                  <a:pt x="349369" y="180292"/>
                </a:lnTo>
                <a:moveTo>
                  <a:pt x="125083" y="320039"/>
                </a:moveTo>
                <a:lnTo>
                  <a:pt x="47445" y="320039"/>
                </a:lnTo>
                <a:cubicBezTo>
                  <a:pt x="28467" y="320039"/>
                  <a:pt x="12939" y="304512"/>
                  <a:pt x="12939" y="285534"/>
                </a:cubicBezTo>
                <a:lnTo>
                  <a:pt x="12939" y="116456"/>
                </a:lnTo>
                <a:moveTo>
                  <a:pt x="12939" y="116456"/>
                </a:moveTo>
                <a:lnTo>
                  <a:pt x="125083" y="116456"/>
                </a:lnTo>
                <a:moveTo>
                  <a:pt x="125083" y="116456"/>
                </a:moveTo>
                <a:lnTo>
                  <a:pt x="125083" y="320039"/>
                </a:lnTo>
                <a:moveTo>
                  <a:pt x="237226" y="116456"/>
                </a:moveTo>
                <a:lnTo>
                  <a:pt x="125083" y="116456"/>
                </a:lnTo>
                <a:moveTo>
                  <a:pt x="173390" y="320039"/>
                </a:moveTo>
                <a:lnTo>
                  <a:pt x="125083" y="320039"/>
                </a:lnTo>
                <a:moveTo>
                  <a:pt x="12939" y="219973"/>
                </a:moveTo>
                <a:lnTo>
                  <a:pt x="194094" y="219973"/>
                </a:lnTo>
                <a:moveTo>
                  <a:pt x="237226" y="116456"/>
                </a:moveTo>
                <a:lnTo>
                  <a:pt x="237226" y="180292"/>
                </a:lnTo>
                <a:moveTo>
                  <a:pt x="0" y="0"/>
                </a:moveTo>
                <a:moveTo>
                  <a:pt x="401128" y="401130"/>
                </a:moveTo>
                <a:lnTo>
                  <a:pt x="357683" y="357687"/>
                </a:lnTo>
                <a:moveTo>
                  <a:pt x="380424" y="302787"/>
                </a:moveTo>
                <a:cubicBezTo>
                  <a:pt x="380424" y="345665"/>
                  <a:pt x="345665" y="380424"/>
                  <a:pt x="302787" y="380424"/>
                </a:cubicBezTo>
                <a:cubicBezTo>
                  <a:pt x="259908" y="380424"/>
                  <a:pt x="225149" y="345665"/>
                  <a:pt x="225149" y="302787"/>
                </a:cubicBezTo>
                <a:cubicBezTo>
                  <a:pt x="225149" y="259910"/>
                  <a:pt x="259908" y="225149"/>
                  <a:pt x="302787" y="225149"/>
                </a:cubicBezTo>
                <a:cubicBezTo>
                  <a:pt x="345665" y="225149"/>
                  <a:pt x="380424" y="259910"/>
                  <a:pt x="380424" y="302787"/>
                </a:cubicBezTo>
                <a:close/>
              </a:path>
            </a:pathLst>
          </a:custGeom>
          <a:noFill/>
          <a:ln w="12939">
            <a:solidFill>
              <a:srgbClr val="3CC583"/>
            </a:solidFill>
          </a:ln>
        </p:spPr>
        <p:txBody>
          <a:bodyPr rtlCol="0" anchor="ctr"/>
          <a:lstStyle/>
          <a:p>
            <a:pPr algn="ctr"/>
          </a:p>
        </p:txBody>
      </p:sp>
      <p:sp>
        <p:nvSpPr>
          <p:cNvPr id="35" name="Rounded Rectangle 34"/>
          <p:cNvSpPr/>
          <p:nvPr/>
        </p:nvSpPr>
        <p:spPr>
          <a:xfrm>
            <a:off x="8521186" y="2693608"/>
            <a:ext cx="401355" cy="396816"/>
          </a:xfrm>
          <a:custGeom>
            <a:avLst/>
            <a:gdLst/>
            <a:ahLst/>
            <a:cxnLst/>
            <a:rect l="0" t="0" r="0" b="0"/>
            <a:pathLst>
              <a:path w="401355" h="396816">
                <a:moveTo>
                  <a:pt x="207033" y="396815"/>
                </a:moveTo>
                <a:lnTo>
                  <a:pt x="17252" y="396815"/>
                </a:lnTo>
                <a:cubicBezTo>
                  <a:pt x="7724" y="396815"/>
                  <a:pt x="0" y="389090"/>
                  <a:pt x="0" y="379562"/>
                </a:cubicBezTo>
                <a:lnTo>
                  <a:pt x="0" y="17252"/>
                </a:lnTo>
                <a:cubicBezTo>
                  <a:pt x="0" y="7724"/>
                  <a:pt x="7724" y="0"/>
                  <a:pt x="17252" y="0"/>
                </a:cubicBezTo>
                <a:lnTo>
                  <a:pt x="246594" y="0"/>
                </a:lnTo>
                <a:cubicBezTo>
                  <a:pt x="251170" y="0"/>
                  <a:pt x="255557" y="1819"/>
                  <a:pt x="258792" y="5055"/>
                </a:cubicBezTo>
                <a:lnTo>
                  <a:pt x="322748" y="69011"/>
                </a:lnTo>
                <a:cubicBezTo>
                  <a:pt x="325984" y="72246"/>
                  <a:pt x="327802" y="76633"/>
                  <a:pt x="327803" y="81209"/>
                </a:cubicBezTo>
                <a:lnTo>
                  <a:pt x="327803" y="172528"/>
                </a:lnTo>
                <a:moveTo>
                  <a:pt x="155275" y="258792"/>
                </a:moveTo>
                <a:lnTo>
                  <a:pt x="51758" y="258792"/>
                </a:lnTo>
                <a:moveTo>
                  <a:pt x="69011" y="181154"/>
                </a:moveTo>
                <a:lnTo>
                  <a:pt x="69011" y="258792"/>
                </a:lnTo>
                <a:lnTo>
                  <a:pt x="69011" y="258792"/>
                </a:lnTo>
                <a:lnTo>
                  <a:pt x="103516" y="258792"/>
                </a:lnTo>
                <a:lnTo>
                  <a:pt x="103516" y="258792"/>
                </a:lnTo>
                <a:lnTo>
                  <a:pt x="103516" y="181154"/>
                </a:lnTo>
                <a:cubicBezTo>
                  <a:pt x="103516" y="176390"/>
                  <a:pt x="99654" y="172528"/>
                  <a:pt x="94890" y="172528"/>
                </a:cubicBezTo>
                <a:lnTo>
                  <a:pt x="77637" y="172528"/>
                </a:lnTo>
                <a:cubicBezTo>
                  <a:pt x="72873" y="172528"/>
                  <a:pt x="69011" y="176390"/>
                  <a:pt x="69011" y="181154"/>
                </a:cubicBezTo>
                <a:close/>
                <a:moveTo>
                  <a:pt x="172528" y="207033"/>
                </a:moveTo>
                <a:lnTo>
                  <a:pt x="172528" y="129396"/>
                </a:lnTo>
                <a:cubicBezTo>
                  <a:pt x="172528" y="124632"/>
                  <a:pt x="168666" y="120769"/>
                  <a:pt x="163901" y="120769"/>
                </a:cubicBezTo>
                <a:lnTo>
                  <a:pt x="146649" y="120769"/>
                </a:lnTo>
                <a:cubicBezTo>
                  <a:pt x="141884" y="120769"/>
                  <a:pt x="138022" y="124632"/>
                  <a:pt x="138022" y="129396"/>
                </a:cubicBezTo>
                <a:lnTo>
                  <a:pt x="138022" y="258792"/>
                </a:lnTo>
                <a:moveTo>
                  <a:pt x="299526" y="394158"/>
                </a:moveTo>
                <a:cubicBezTo>
                  <a:pt x="297899" y="395856"/>
                  <a:pt x="295649" y="396816"/>
                  <a:pt x="293298" y="396816"/>
                </a:cubicBezTo>
                <a:cubicBezTo>
                  <a:pt x="290946" y="396816"/>
                  <a:pt x="288696" y="395856"/>
                  <a:pt x="287069" y="394158"/>
                </a:cubicBezTo>
                <a:lnTo>
                  <a:pt x="205067" y="308618"/>
                </a:lnTo>
                <a:cubicBezTo>
                  <a:pt x="189181" y="292726"/>
                  <a:pt x="185241" y="268455"/>
                  <a:pt x="195284" y="248354"/>
                </a:cubicBezTo>
                <a:lnTo>
                  <a:pt x="195284" y="248354"/>
                </a:lnTo>
                <a:cubicBezTo>
                  <a:pt x="202791" y="233347"/>
                  <a:pt x="217054" y="222863"/>
                  <a:pt x="233617" y="220176"/>
                </a:cubicBezTo>
                <a:cubicBezTo>
                  <a:pt x="250181" y="217489"/>
                  <a:pt x="267026" y="222928"/>
                  <a:pt x="278892" y="234793"/>
                </a:cubicBezTo>
                <a:lnTo>
                  <a:pt x="293298" y="249199"/>
                </a:lnTo>
                <a:lnTo>
                  <a:pt x="307704" y="234793"/>
                </a:lnTo>
                <a:cubicBezTo>
                  <a:pt x="319569" y="222928"/>
                  <a:pt x="336415" y="217489"/>
                  <a:pt x="352978" y="220176"/>
                </a:cubicBezTo>
                <a:cubicBezTo>
                  <a:pt x="369542" y="222862"/>
                  <a:pt x="383804" y="233347"/>
                  <a:pt x="391311" y="248354"/>
                </a:cubicBezTo>
                <a:lnTo>
                  <a:pt x="391311" y="248354"/>
                </a:lnTo>
                <a:cubicBezTo>
                  <a:pt x="401355" y="268455"/>
                  <a:pt x="397415" y="292726"/>
                  <a:pt x="381529" y="308618"/>
                </a:cubicBezTo>
                <a:close/>
              </a:path>
            </a:pathLst>
          </a:custGeom>
          <a:noFill/>
          <a:ln w="12939">
            <a:solidFill>
              <a:srgbClr val="4E88E7"/>
            </a:solidFill>
          </a:ln>
        </p:spPr>
        <p:txBody>
          <a:bodyPr rtlCol="0" anchor="ctr"/>
          <a:lstStyle/>
          <a:p>
            <a:pPr algn="ctr"/>
          </a:p>
        </p:txBody>
      </p:sp>
      <p:sp>
        <p:nvSpPr>
          <p:cNvPr id="36" name="Rounded Rectangle 35"/>
          <p:cNvSpPr/>
          <p:nvPr/>
        </p:nvSpPr>
        <p:spPr>
          <a:xfrm>
            <a:off x="9776365" y="3424216"/>
            <a:ext cx="397602" cy="396740"/>
          </a:xfrm>
          <a:custGeom>
            <a:avLst/>
            <a:gdLst/>
            <a:ahLst/>
            <a:cxnLst/>
            <a:rect l="0" t="0" r="0" b="0"/>
            <a:pathLst>
              <a:path w="397602" h="396740">
                <a:moveTo>
                  <a:pt x="241539" y="189693"/>
                </a:moveTo>
                <a:lnTo>
                  <a:pt x="241539" y="86176"/>
                </a:lnTo>
                <a:lnTo>
                  <a:pt x="51758" y="86176"/>
                </a:lnTo>
                <a:lnTo>
                  <a:pt x="51758" y="310446"/>
                </a:lnTo>
                <a:lnTo>
                  <a:pt x="138022" y="310463"/>
                </a:lnTo>
                <a:moveTo>
                  <a:pt x="146649" y="362221"/>
                </a:moveTo>
                <a:lnTo>
                  <a:pt x="17252" y="362221"/>
                </a:lnTo>
                <a:cubicBezTo>
                  <a:pt x="7724" y="362221"/>
                  <a:pt x="0" y="354497"/>
                  <a:pt x="0" y="344969"/>
                </a:cubicBezTo>
                <a:lnTo>
                  <a:pt x="0" y="51671"/>
                </a:lnTo>
                <a:cubicBezTo>
                  <a:pt x="0" y="42142"/>
                  <a:pt x="7724" y="34418"/>
                  <a:pt x="17252" y="34418"/>
                </a:cubicBezTo>
                <a:lnTo>
                  <a:pt x="94062" y="34418"/>
                </a:lnTo>
                <a:cubicBezTo>
                  <a:pt x="103207" y="13510"/>
                  <a:pt x="123863" y="0"/>
                  <a:pt x="146683" y="0"/>
                </a:cubicBezTo>
                <a:cubicBezTo>
                  <a:pt x="169503" y="0"/>
                  <a:pt x="190159" y="13510"/>
                  <a:pt x="199304" y="34418"/>
                </a:cubicBezTo>
                <a:lnTo>
                  <a:pt x="276045" y="34418"/>
                </a:lnTo>
                <a:cubicBezTo>
                  <a:pt x="285573" y="34418"/>
                  <a:pt x="293298" y="42142"/>
                  <a:pt x="293298" y="51671"/>
                </a:cubicBezTo>
                <a:lnTo>
                  <a:pt x="293298" y="155187"/>
                </a:lnTo>
                <a:moveTo>
                  <a:pt x="103516" y="137935"/>
                </a:moveTo>
                <a:lnTo>
                  <a:pt x="189781" y="137935"/>
                </a:lnTo>
                <a:moveTo>
                  <a:pt x="103516" y="189693"/>
                </a:moveTo>
                <a:lnTo>
                  <a:pt x="189781" y="189693"/>
                </a:lnTo>
                <a:moveTo>
                  <a:pt x="155275" y="241452"/>
                </a:moveTo>
                <a:lnTo>
                  <a:pt x="103516" y="241452"/>
                </a:lnTo>
                <a:moveTo>
                  <a:pt x="293298" y="344969"/>
                </a:moveTo>
                <a:cubicBezTo>
                  <a:pt x="290916" y="344969"/>
                  <a:pt x="288984" y="346900"/>
                  <a:pt x="288984" y="349282"/>
                </a:cubicBezTo>
                <a:cubicBezTo>
                  <a:pt x="288984" y="351664"/>
                  <a:pt x="290916" y="353595"/>
                  <a:pt x="293298" y="353595"/>
                </a:cubicBezTo>
                <a:cubicBezTo>
                  <a:pt x="295680" y="353595"/>
                  <a:pt x="297611" y="351664"/>
                  <a:pt x="297611" y="349282"/>
                </a:cubicBezTo>
                <a:cubicBezTo>
                  <a:pt x="297611" y="346900"/>
                  <a:pt x="295680" y="344969"/>
                  <a:pt x="293298" y="344969"/>
                </a:cubicBezTo>
                <a:moveTo>
                  <a:pt x="293298" y="258704"/>
                </a:moveTo>
                <a:lnTo>
                  <a:pt x="293298" y="310463"/>
                </a:lnTo>
                <a:moveTo>
                  <a:pt x="394986" y="373229"/>
                </a:moveTo>
                <a:cubicBezTo>
                  <a:pt x="397602" y="378213"/>
                  <a:pt x="397392" y="384209"/>
                  <a:pt x="394434" y="388998"/>
                </a:cubicBezTo>
                <a:cubicBezTo>
                  <a:pt x="391447" y="393815"/>
                  <a:pt x="386178" y="396740"/>
                  <a:pt x="380511" y="396727"/>
                </a:cubicBezTo>
                <a:lnTo>
                  <a:pt x="206067" y="396727"/>
                </a:lnTo>
                <a:cubicBezTo>
                  <a:pt x="200400" y="396740"/>
                  <a:pt x="195130" y="393815"/>
                  <a:pt x="192144" y="388998"/>
                </a:cubicBezTo>
                <a:cubicBezTo>
                  <a:pt x="189191" y="384205"/>
                  <a:pt x="188988" y="378210"/>
                  <a:pt x="191609" y="373229"/>
                </a:cubicBezTo>
                <a:lnTo>
                  <a:pt x="278822" y="206998"/>
                </a:lnTo>
                <a:cubicBezTo>
                  <a:pt x="281669" y="201652"/>
                  <a:pt x="287232" y="198312"/>
                  <a:pt x="293289" y="198312"/>
                </a:cubicBezTo>
                <a:cubicBezTo>
                  <a:pt x="299345" y="198312"/>
                  <a:pt x="304908" y="201652"/>
                  <a:pt x="307755" y="206998"/>
                </a:cubicBezTo>
                <a:close/>
              </a:path>
            </a:pathLst>
          </a:custGeom>
          <a:noFill/>
          <a:ln w="12939">
            <a:solidFill>
              <a:srgbClr val="DE8431"/>
            </a:solidFill>
          </a:ln>
        </p:spPr>
        <p:txBody>
          <a:bodyPr rtlCol="0" anchor="ctr"/>
          <a:lstStyle/>
          <a:p>
            <a:pPr algn="ctr"/>
          </a:p>
        </p:txBody>
      </p:sp>
      <p:sp>
        <p:nvSpPr>
          <p:cNvPr id="27"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37" name="Text Box 36"/>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38" name="TextBox 11"/>
          <p:cNvSpPr txBox="1"/>
          <p:nvPr/>
        </p:nvSpPr>
        <p:spPr>
          <a:xfrm>
            <a:off x="2414905" y="328930"/>
            <a:ext cx="6191250" cy="808355"/>
          </a:xfrm>
          <a:prstGeom prst="rect">
            <a:avLst/>
          </a:prstGeom>
          <a:noFill/>
        </p:spPr>
        <p:txBody>
          <a:bodyPr wrap="square" rtlCol="0">
            <a:noAutofit/>
          </a:bodyPr>
          <a:p>
            <a:pPr algn="ctr"/>
            <a:r>
              <a:rPr lang="en-US" sz="4800" b="1" dirty="0">
                <a:latin typeface="Book Antiqua" panose="02040602050305030304" pitchFamily="18" charset="0"/>
              </a:rPr>
              <a:t>AIMS</a:t>
            </a:r>
            <a:endParaRPr lang="en-US" sz="4800" b="1" dirty="0">
              <a:latin typeface="Book Antiqua" panose="02040602050305030304" pitchFamily="18" charset="0"/>
            </a:endParaRPr>
          </a:p>
        </p:txBody>
      </p:sp>
      <p:sp>
        <p:nvSpPr>
          <p:cNvPr id="39" name="Text Box 38"/>
          <p:cNvSpPr txBox="1"/>
          <p:nvPr/>
        </p:nvSpPr>
        <p:spPr>
          <a:xfrm>
            <a:off x="235585" y="1227455"/>
            <a:ext cx="4003675" cy="2312670"/>
          </a:xfrm>
          <a:prstGeom prst="rect">
            <a:avLst/>
          </a:prstGeom>
          <a:noFill/>
        </p:spPr>
        <p:txBody>
          <a:bodyPr wrap="square" rtlCol="0">
            <a:noAutofit/>
          </a:bodyPr>
          <a:p>
            <a:pPr algn="l"/>
            <a:r>
              <a:rPr lang="en-US" altLang="en-US" sz="2800" b="1"/>
              <a:t>Develop Predictive Model</a:t>
            </a:r>
            <a:endParaRPr lang="en-US" altLang="en-US" sz="2800" b="1"/>
          </a:p>
          <a:p>
            <a:pPr algn="just"/>
            <a:r>
              <a:rPr lang="en-US" altLang="en-US" sz="2700"/>
              <a:t>Create a machine learning model to accurately predict heart attack risks</a:t>
            </a:r>
            <a:endParaRPr lang="en-US" sz="2700"/>
          </a:p>
        </p:txBody>
      </p:sp>
      <p:sp>
        <p:nvSpPr>
          <p:cNvPr id="40" name="Text Box 39"/>
          <p:cNvSpPr txBox="1"/>
          <p:nvPr/>
        </p:nvSpPr>
        <p:spPr>
          <a:xfrm>
            <a:off x="4384040" y="1216025"/>
            <a:ext cx="3882390" cy="2313940"/>
          </a:xfrm>
          <a:prstGeom prst="rect">
            <a:avLst/>
          </a:prstGeom>
          <a:noFill/>
        </p:spPr>
        <p:txBody>
          <a:bodyPr wrap="square" rtlCol="0">
            <a:noAutofit/>
          </a:bodyPr>
          <a:p>
            <a:pPr algn="l"/>
            <a:r>
              <a:rPr lang="en-US" altLang="en-US" sz="2600" b="1"/>
              <a:t>Algorithm Comparison</a:t>
            </a:r>
            <a:endParaRPr lang="en-US" altLang="en-US" sz="2600"/>
          </a:p>
          <a:p>
            <a:pPr algn="just"/>
            <a:r>
              <a:rPr lang="en-US" altLang="en-US" sz="2700"/>
              <a:t>Evaluate and compare different algorithms to find the most accurate model</a:t>
            </a:r>
            <a:endParaRPr lang="en-US" sz="2700"/>
          </a:p>
        </p:txBody>
      </p:sp>
      <p:sp>
        <p:nvSpPr>
          <p:cNvPr id="41" name="Text Box 40"/>
          <p:cNvSpPr txBox="1"/>
          <p:nvPr/>
        </p:nvSpPr>
        <p:spPr>
          <a:xfrm>
            <a:off x="280035" y="3609340"/>
            <a:ext cx="3959225" cy="2423795"/>
          </a:xfrm>
          <a:prstGeom prst="rect">
            <a:avLst/>
          </a:prstGeom>
          <a:noFill/>
        </p:spPr>
        <p:txBody>
          <a:bodyPr wrap="square" rtlCol="0">
            <a:noAutofit/>
          </a:bodyPr>
          <a:p>
            <a:pPr algn="just"/>
            <a:r>
              <a:rPr lang="en-US" altLang="en-US" sz="2800" b="1"/>
              <a:t>Identify Risk Factors</a:t>
            </a:r>
            <a:endParaRPr lang="en-US" altLang="en-US" sz="2800" b="1"/>
          </a:p>
          <a:p>
            <a:pPr algn="just"/>
            <a:r>
              <a:rPr lang="en-US" altLang="en-US" sz="2700"/>
              <a:t>Pinpoint significant risk factors to enhance the predictive model</a:t>
            </a:r>
            <a:endParaRPr lang="en-US" sz="2700"/>
          </a:p>
        </p:txBody>
      </p:sp>
      <p:sp>
        <p:nvSpPr>
          <p:cNvPr id="42" name="Text Box 41"/>
          <p:cNvSpPr txBox="1"/>
          <p:nvPr/>
        </p:nvSpPr>
        <p:spPr>
          <a:xfrm>
            <a:off x="4339590" y="3609340"/>
            <a:ext cx="4034790" cy="2354580"/>
          </a:xfrm>
          <a:prstGeom prst="rect">
            <a:avLst/>
          </a:prstGeom>
          <a:noFill/>
        </p:spPr>
        <p:txBody>
          <a:bodyPr wrap="square" rtlCol="0">
            <a:noAutofit/>
          </a:bodyPr>
          <a:p>
            <a:pPr algn="l"/>
            <a:r>
              <a:rPr lang="en-US" altLang="en-US" sz="2800" b="1"/>
              <a:t>Interactive User Interface</a:t>
            </a:r>
            <a:endParaRPr lang="en-US" altLang="en-US" sz="2600"/>
          </a:p>
          <a:p>
            <a:pPr algn="just"/>
            <a:r>
              <a:rPr lang="en-US" altLang="en-US" sz="2700"/>
              <a:t>Develop a user-friendly interface for easy data input and clear heart attack risk predictions</a:t>
            </a:r>
            <a:endParaRPr lang="en-US" altLang="en-US" sz="2700"/>
          </a:p>
        </p:txBody>
      </p:sp>
      <p:sp>
        <p:nvSpPr>
          <p:cNvPr id="43"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Group 3"/>
          <p:cNvGrpSpPr/>
          <p:nvPr/>
        </p:nvGrpSpPr>
        <p:grpSpPr>
          <a:xfrm>
            <a:off x="4289706" y="4692762"/>
            <a:ext cx="813908" cy="784398"/>
            <a:chOff x="1243983" y="4278671"/>
            <a:chExt cx="813908" cy="784398"/>
          </a:xfrm>
        </p:grpSpPr>
        <p:sp>
          <p:nvSpPr>
            <p:cNvPr id="2" name="Rounded Rectangle 1"/>
            <p:cNvSpPr/>
            <p:nvPr/>
          </p:nvSpPr>
          <p:spPr>
            <a:xfrm>
              <a:off x="1243983" y="4278671"/>
              <a:ext cx="813908" cy="784398"/>
            </a:xfrm>
            <a:custGeom>
              <a:avLst/>
              <a:gdLst/>
              <a:ahLst/>
              <a:cxnLst/>
              <a:rect l="0" t="0" r="0" b="0"/>
              <a:pathLst>
                <a:path w="813908" h="784398">
                  <a:moveTo>
                    <a:pt x="407016" y="784398"/>
                  </a:moveTo>
                  <a:cubicBezTo>
                    <a:pt x="223516" y="784398"/>
                    <a:pt x="74760" y="735119"/>
                    <a:pt x="74760" y="674331"/>
                  </a:cubicBezTo>
                  <a:lnTo>
                    <a:pt x="74314" y="669116"/>
                  </a:lnTo>
                  <a:cubicBezTo>
                    <a:pt x="54737" y="441113"/>
                    <a:pt x="30239" y="218839"/>
                    <a:pt x="417" y="3601"/>
                  </a:cubicBezTo>
                  <a:lnTo>
                    <a:pt x="79" y="691"/>
                  </a:lnTo>
                  <a:cubicBezTo>
                    <a:pt x="51" y="461"/>
                    <a:pt x="24" y="230"/>
                    <a:pt x="0" y="0"/>
                  </a:cubicBezTo>
                  <a:lnTo>
                    <a:pt x="79" y="691"/>
                  </a:lnTo>
                  <a:cubicBezTo>
                    <a:pt x="8598" y="69241"/>
                    <a:pt x="187682" y="123991"/>
                    <a:pt x="407354" y="123991"/>
                  </a:cubicBezTo>
                  <a:cubicBezTo>
                    <a:pt x="618811" y="123991"/>
                    <a:pt x="792658" y="73259"/>
                    <a:pt x="812963" y="8321"/>
                  </a:cubicBezTo>
                  <a:cubicBezTo>
                    <a:pt x="813277" y="6045"/>
                    <a:pt x="813592" y="3769"/>
                    <a:pt x="813908" y="1494"/>
                  </a:cubicBezTo>
                  <a:lnTo>
                    <a:pt x="813024" y="8122"/>
                  </a:lnTo>
                  <a:cubicBezTo>
                    <a:pt x="813004" y="8188"/>
                    <a:pt x="812983" y="8255"/>
                    <a:pt x="812963" y="8321"/>
                  </a:cubicBezTo>
                  <a:cubicBezTo>
                    <a:pt x="783262" y="223338"/>
                    <a:pt x="758869" y="445360"/>
                    <a:pt x="739379" y="673085"/>
                  </a:cubicBezTo>
                  <a:lnTo>
                    <a:pt x="739271" y="674332"/>
                  </a:lnTo>
                  <a:cubicBezTo>
                    <a:pt x="739271" y="735119"/>
                    <a:pt x="590516" y="784398"/>
                    <a:pt x="407016" y="784398"/>
                  </a:cubicBezTo>
                  <a:close/>
                </a:path>
              </a:pathLst>
            </a:custGeom>
            <a:solidFill>
              <a:srgbClr val="DE8431"/>
            </a:solidFill>
            <a:ln>
              <a:noFill/>
            </a:ln>
          </p:spPr>
          <p:txBody>
            <a:bodyPr rtlCol="0" anchor="ctr"/>
            <a:lstStyle/>
            <a:p>
              <a:pPr algn="ctr"/>
            </a:p>
          </p:txBody>
        </p:sp>
        <p:sp>
          <p:nvSpPr>
            <p:cNvPr id="3" name="Rounded Rectangle 2"/>
            <p:cNvSpPr/>
            <p:nvPr/>
          </p:nvSpPr>
          <p:spPr>
            <a:xfrm>
              <a:off x="1243983" y="4278671"/>
              <a:ext cx="813908" cy="784398"/>
            </a:xfrm>
            <a:custGeom>
              <a:avLst/>
              <a:gdLst/>
              <a:ahLst/>
              <a:cxnLst/>
              <a:rect l="0" t="0" r="0" b="0"/>
              <a:pathLst>
                <a:path w="813908" h="784398">
                  <a:moveTo>
                    <a:pt x="407016" y="784398"/>
                  </a:moveTo>
                  <a:cubicBezTo>
                    <a:pt x="223516" y="784398"/>
                    <a:pt x="74760" y="735119"/>
                    <a:pt x="74760" y="674331"/>
                  </a:cubicBezTo>
                  <a:lnTo>
                    <a:pt x="74314" y="669116"/>
                  </a:lnTo>
                  <a:cubicBezTo>
                    <a:pt x="54737" y="441113"/>
                    <a:pt x="30239" y="218839"/>
                    <a:pt x="417" y="3601"/>
                  </a:cubicBezTo>
                  <a:lnTo>
                    <a:pt x="0" y="0"/>
                  </a:lnTo>
                  <a:cubicBezTo>
                    <a:pt x="7395" y="68872"/>
                    <a:pt x="186943" y="123991"/>
                    <a:pt x="407354" y="123991"/>
                  </a:cubicBezTo>
                  <a:cubicBezTo>
                    <a:pt x="619026" y="123991"/>
                    <a:pt x="793013" y="73155"/>
                    <a:pt x="813024" y="8122"/>
                  </a:cubicBezTo>
                  <a:lnTo>
                    <a:pt x="813908" y="1494"/>
                  </a:lnTo>
                  <a:cubicBezTo>
                    <a:pt x="783780" y="218637"/>
                    <a:pt x="759075" y="442948"/>
                    <a:pt x="739379" y="673085"/>
                  </a:cubicBezTo>
                  <a:lnTo>
                    <a:pt x="739272" y="674331"/>
                  </a:lnTo>
                  <a:cubicBezTo>
                    <a:pt x="739272" y="735119"/>
                    <a:pt x="590516" y="784398"/>
                    <a:pt x="407016" y="784398"/>
                  </a:cubicBezTo>
                  <a:close/>
                </a:path>
              </a:pathLst>
            </a:custGeom>
            <a:noFill/>
            <a:ln w="13758">
              <a:solidFill>
                <a:srgbClr val="FFFFFF"/>
              </a:solidFill>
            </a:ln>
          </p:spPr>
          <p:txBody>
            <a:bodyPr rtlCol="0" anchor="ctr"/>
            <a:lstStyle/>
            <a:p>
              <a:pPr algn="ctr"/>
            </a:p>
          </p:txBody>
        </p:sp>
      </p:grpSp>
      <p:grpSp>
        <p:nvGrpSpPr>
          <p:cNvPr id="7" name="Group 6"/>
          <p:cNvGrpSpPr/>
          <p:nvPr/>
        </p:nvGrpSpPr>
        <p:grpSpPr>
          <a:xfrm>
            <a:off x="5077460" y="4977130"/>
            <a:ext cx="1452245" cy="119380"/>
            <a:chOff x="2031647" y="4563180"/>
            <a:chExt cx="1270352" cy="119238"/>
          </a:xfrm>
        </p:grpSpPr>
        <p:sp>
          <p:nvSpPr>
            <p:cNvPr id="5" name="Rounded Rectangle 4"/>
            <p:cNvSpPr/>
            <p:nvPr/>
          </p:nvSpPr>
          <p:spPr>
            <a:xfrm>
              <a:off x="2036233" y="4622800"/>
              <a:ext cx="1265766" cy="9172"/>
            </a:xfrm>
            <a:custGeom>
              <a:avLst/>
              <a:gdLst/>
              <a:ahLst/>
              <a:cxnLst/>
              <a:rect l="0" t="0" r="0" b="0"/>
              <a:pathLst>
                <a:path w="1265766" h="9172">
                  <a:moveTo>
                    <a:pt x="1265766" y="0"/>
                  </a:moveTo>
                  <a:lnTo>
                    <a:pt x="0" y="0"/>
                  </a:lnTo>
                </a:path>
              </a:pathLst>
            </a:custGeom>
            <a:noFill/>
            <a:ln w="13758">
              <a:solidFill>
                <a:srgbClr val="484848"/>
              </a:solidFill>
            </a:ln>
          </p:spPr>
          <p:txBody>
            <a:bodyPr rtlCol="0" anchor="ctr"/>
            <a:lstStyle/>
            <a:p>
              <a:pPr algn="ctr"/>
            </a:p>
          </p:txBody>
        </p:sp>
        <p:sp>
          <p:nvSpPr>
            <p:cNvPr id="6" name="Rounded Rectangle 5"/>
            <p:cNvSpPr/>
            <p:nvPr/>
          </p:nvSpPr>
          <p:spPr>
            <a:xfrm>
              <a:off x="2031647" y="4563180"/>
              <a:ext cx="59619" cy="119238"/>
            </a:xfrm>
            <a:custGeom>
              <a:avLst/>
              <a:gdLst/>
              <a:ahLst/>
              <a:cxnLst/>
              <a:rect l="0" t="0" r="0" b="0"/>
              <a:pathLst>
                <a:path w="59619" h="119238">
                  <a:moveTo>
                    <a:pt x="59619" y="119238"/>
                  </a:moveTo>
                  <a:lnTo>
                    <a:pt x="0" y="59619"/>
                  </a:lnTo>
                  <a:lnTo>
                    <a:pt x="59619" y="0"/>
                  </a:lnTo>
                </a:path>
              </a:pathLst>
            </a:custGeom>
            <a:noFill/>
            <a:ln w="13758">
              <a:solidFill>
                <a:srgbClr val="484848"/>
              </a:solidFill>
            </a:ln>
          </p:spPr>
          <p:txBody>
            <a:bodyPr rtlCol="0" anchor="ctr"/>
            <a:lstStyle/>
            <a:p>
              <a:pPr algn="ctr"/>
            </a:p>
          </p:txBody>
        </p:sp>
      </p:grpSp>
      <p:grpSp>
        <p:nvGrpSpPr>
          <p:cNvPr id="10" name="Group 9"/>
          <p:cNvGrpSpPr/>
          <p:nvPr/>
        </p:nvGrpSpPr>
        <p:grpSpPr>
          <a:xfrm>
            <a:off x="4175104" y="4028788"/>
            <a:ext cx="1043123" cy="787965"/>
            <a:chOff x="1129381" y="3614697"/>
            <a:chExt cx="1043123" cy="787965"/>
          </a:xfrm>
        </p:grpSpPr>
        <p:sp>
          <p:nvSpPr>
            <p:cNvPr id="8" name="Rounded Rectangle 7"/>
            <p:cNvSpPr/>
            <p:nvPr/>
          </p:nvSpPr>
          <p:spPr>
            <a:xfrm>
              <a:off x="1129384" y="3614697"/>
              <a:ext cx="1043120" cy="787965"/>
            </a:xfrm>
            <a:custGeom>
              <a:avLst/>
              <a:gdLst/>
              <a:ahLst/>
              <a:cxnLst/>
              <a:rect l="0" t="0" r="0" b="0"/>
              <a:pathLst>
                <a:path w="1043120" h="787965">
                  <a:moveTo>
                    <a:pt x="1043120" y="556"/>
                  </a:moveTo>
                  <a:cubicBezTo>
                    <a:pt x="998491" y="213064"/>
                    <a:pt x="960451" y="435233"/>
                    <a:pt x="928508" y="665461"/>
                  </a:cubicBezTo>
                  <a:lnTo>
                    <a:pt x="927624" y="672098"/>
                  </a:lnTo>
                  <a:cubicBezTo>
                    <a:pt x="907613" y="737131"/>
                    <a:pt x="733626" y="787965"/>
                    <a:pt x="521953" y="787965"/>
                  </a:cubicBezTo>
                  <a:cubicBezTo>
                    <a:pt x="301543" y="787965"/>
                    <a:pt x="121990" y="732847"/>
                    <a:pt x="114597" y="663975"/>
                  </a:cubicBezTo>
                  <a:lnTo>
                    <a:pt x="113827" y="658970"/>
                  </a:lnTo>
                  <a:cubicBezTo>
                    <a:pt x="82109" y="431367"/>
                    <a:pt x="44430" y="211668"/>
                    <a:pt x="293" y="1419"/>
                  </a:cubicBezTo>
                  <a:cubicBezTo>
                    <a:pt x="265" y="1316"/>
                    <a:pt x="229" y="1211"/>
                    <a:pt x="201" y="1107"/>
                  </a:cubicBezTo>
                  <a:lnTo>
                    <a:pt x="0" y="0"/>
                  </a:lnTo>
                  <a:cubicBezTo>
                    <a:pt x="100" y="473"/>
                    <a:pt x="192" y="946"/>
                    <a:pt x="293" y="1419"/>
                  </a:cubicBezTo>
                  <a:cubicBezTo>
                    <a:pt x="22114" y="71937"/>
                    <a:pt x="247334" y="127381"/>
                    <a:pt x="521953" y="127381"/>
                  </a:cubicBezTo>
                  <a:cubicBezTo>
                    <a:pt x="790828" y="127381"/>
                    <a:pt x="1012351" y="74232"/>
                    <a:pt x="1041976" y="5824"/>
                  </a:cubicBezTo>
                  <a:close/>
                </a:path>
              </a:pathLst>
            </a:custGeom>
            <a:solidFill>
              <a:srgbClr val="E0CB15"/>
            </a:solidFill>
            <a:ln>
              <a:noFill/>
            </a:ln>
          </p:spPr>
          <p:txBody>
            <a:bodyPr rtlCol="0" anchor="ctr"/>
            <a:lstStyle/>
            <a:p>
              <a:pPr algn="ctr"/>
            </a:p>
          </p:txBody>
        </p:sp>
        <p:sp>
          <p:nvSpPr>
            <p:cNvPr id="9" name="Rounded Rectangle 8"/>
            <p:cNvSpPr/>
            <p:nvPr/>
          </p:nvSpPr>
          <p:spPr>
            <a:xfrm>
              <a:off x="1129381" y="3614697"/>
              <a:ext cx="1043122" cy="787965"/>
            </a:xfrm>
            <a:custGeom>
              <a:avLst/>
              <a:gdLst/>
              <a:ahLst/>
              <a:cxnLst/>
              <a:rect l="0" t="0" r="0" b="0"/>
              <a:pathLst>
                <a:path w="1043122" h="787965">
                  <a:moveTo>
                    <a:pt x="1043122" y="556"/>
                  </a:moveTo>
                  <a:cubicBezTo>
                    <a:pt x="998494" y="213064"/>
                    <a:pt x="960455" y="435233"/>
                    <a:pt x="928511" y="665461"/>
                  </a:cubicBezTo>
                  <a:lnTo>
                    <a:pt x="927627" y="672098"/>
                  </a:lnTo>
                  <a:cubicBezTo>
                    <a:pt x="907616" y="737131"/>
                    <a:pt x="733629" y="787965"/>
                    <a:pt x="521956" y="787965"/>
                  </a:cubicBezTo>
                  <a:cubicBezTo>
                    <a:pt x="301545" y="787965"/>
                    <a:pt x="121997" y="732847"/>
                    <a:pt x="114602" y="663975"/>
                  </a:cubicBezTo>
                  <a:lnTo>
                    <a:pt x="113825" y="658970"/>
                  </a:lnTo>
                  <a:cubicBezTo>
                    <a:pt x="82041" y="430855"/>
                    <a:pt x="44259" y="210678"/>
                    <a:pt x="0" y="0"/>
                  </a:cubicBezTo>
                  <a:lnTo>
                    <a:pt x="203" y="1107"/>
                  </a:lnTo>
                  <a:cubicBezTo>
                    <a:pt x="21451" y="71773"/>
                    <a:pt x="246931" y="127381"/>
                    <a:pt x="521956" y="127381"/>
                  </a:cubicBezTo>
                  <a:cubicBezTo>
                    <a:pt x="790831" y="127381"/>
                    <a:pt x="1012353" y="74232"/>
                    <a:pt x="1041979" y="5824"/>
                  </a:cubicBezTo>
                  <a:close/>
                </a:path>
              </a:pathLst>
            </a:custGeom>
            <a:noFill/>
            <a:ln w="13758">
              <a:solidFill>
                <a:srgbClr val="FFFFFF"/>
              </a:solidFill>
            </a:ln>
          </p:spPr>
          <p:txBody>
            <a:bodyPr rtlCol="0" anchor="ctr"/>
            <a:lstStyle/>
            <a:p>
              <a:pPr algn="ctr"/>
            </a:p>
          </p:txBody>
        </p:sp>
      </p:grpSp>
      <p:grpSp>
        <p:nvGrpSpPr>
          <p:cNvPr id="13" name="Group 12"/>
          <p:cNvGrpSpPr/>
          <p:nvPr/>
        </p:nvGrpSpPr>
        <p:grpSpPr>
          <a:xfrm>
            <a:off x="5160010" y="4371975"/>
            <a:ext cx="1369695" cy="119380"/>
            <a:chOff x="2114197" y="3957813"/>
            <a:chExt cx="1187802" cy="119238"/>
          </a:xfrm>
        </p:grpSpPr>
        <p:sp>
          <p:nvSpPr>
            <p:cNvPr id="11" name="Rounded Rectangle 10"/>
            <p:cNvSpPr/>
            <p:nvPr/>
          </p:nvSpPr>
          <p:spPr>
            <a:xfrm>
              <a:off x="2118783" y="4017433"/>
              <a:ext cx="1183216" cy="9172"/>
            </a:xfrm>
            <a:custGeom>
              <a:avLst/>
              <a:gdLst/>
              <a:ahLst/>
              <a:cxnLst/>
              <a:rect l="0" t="0" r="0" b="0"/>
              <a:pathLst>
                <a:path w="1183216" h="9172">
                  <a:moveTo>
                    <a:pt x="1183216" y="0"/>
                  </a:moveTo>
                  <a:lnTo>
                    <a:pt x="0" y="0"/>
                  </a:lnTo>
                </a:path>
              </a:pathLst>
            </a:custGeom>
            <a:noFill/>
            <a:ln w="13758">
              <a:solidFill>
                <a:srgbClr val="484848"/>
              </a:solidFill>
            </a:ln>
          </p:spPr>
          <p:txBody>
            <a:bodyPr rtlCol="0" anchor="ctr"/>
            <a:lstStyle/>
            <a:p>
              <a:pPr algn="ctr"/>
            </a:p>
          </p:txBody>
        </p:sp>
        <p:sp>
          <p:nvSpPr>
            <p:cNvPr id="12" name="Rounded Rectangle 11"/>
            <p:cNvSpPr/>
            <p:nvPr/>
          </p:nvSpPr>
          <p:spPr>
            <a:xfrm>
              <a:off x="2114197" y="3957813"/>
              <a:ext cx="59619" cy="119238"/>
            </a:xfrm>
            <a:custGeom>
              <a:avLst/>
              <a:gdLst/>
              <a:ahLst/>
              <a:cxnLst/>
              <a:rect l="0" t="0" r="0" b="0"/>
              <a:pathLst>
                <a:path w="59619" h="119238">
                  <a:moveTo>
                    <a:pt x="59619" y="119238"/>
                  </a:moveTo>
                  <a:lnTo>
                    <a:pt x="0" y="59619"/>
                  </a:lnTo>
                  <a:lnTo>
                    <a:pt x="59619" y="0"/>
                  </a:lnTo>
                </a:path>
              </a:pathLst>
            </a:custGeom>
            <a:noFill/>
            <a:ln w="13758">
              <a:solidFill>
                <a:srgbClr val="484848"/>
              </a:solidFill>
            </a:ln>
          </p:spPr>
          <p:txBody>
            <a:bodyPr rtlCol="0" anchor="ctr"/>
            <a:lstStyle/>
            <a:p>
              <a:pPr algn="ctr"/>
            </a:p>
          </p:txBody>
        </p:sp>
      </p:grpSp>
      <p:grpSp>
        <p:nvGrpSpPr>
          <p:cNvPr id="16" name="Group 15"/>
          <p:cNvGrpSpPr/>
          <p:nvPr/>
        </p:nvGrpSpPr>
        <p:grpSpPr>
          <a:xfrm>
            <a:off x="4001626" y="3359753"/>
            <a:ext cx="1389233" cy="796416"/>
            <a:chOff x="955903" y="2945662"/>
            <a:chExt cx="1389233" cy="796416"/>
          </a:xfrm>
        </p:grpSpPr>
        <p:sp>
          <p:nvSpPr>
            <p:cNvPr id="14" name="Rounded Rectangle 13"/>
            <p:cNvSpPr/>
            <p:nvPr/>
          </p:nvSpPr>
          <p:spPr>
            <a:xfrm>
              <a:off x="955903" y="2945662"/>
              <a:ext cx="1389233" cy="796416"/>
            </a:xfrm>
            <a:custGeom>
              <a:avLst/>
              <a:gdLst/>
              <a:ahLst/>
              <a:cxnLst/>
              <a:rect l="0" t="0" r="0" b="0"/>
              <a:pathLst>
                <a:path w="1389233" h="796416">
                  <a:moveTo>
                    <a:pt x="1215457" y="674859"/>
                  </a:moveTo>
                  <a:cubicBezTo>
                    <a:pt x="1185831" y="743267"/>
                    <a:pt x="964309" y="796416"/>
                    <a:pt x="695434" y="796416"/>
                  </a:cubicBezTo>
                  <a:cubicBezTo>
                    <a:pt x="420408" y="796416"/>
                    <a:pt x="194927" y="740808"/>
                    <a:pt x="173685" y="670141"/>
                  </a:cubicBezTo>
                  <a:lnTo>
                    <a:pt x="173474" y="669040"/>
                  </a:lnTo>
                  <a:cubicBezTo>
                    <a:pt x="123980" y="433417"/>
                    <a:pt x="66379" y="209676"/>
                    <a:pt x="0" y="0"/>
                  </a:cubicBezTo>
                  <a:lnTo>
                    <a:pt x="1449" y="4540"/>
                  </a:lnTo>
                  <a:cubicBezTo>
                    <a:pt x="37514" y="78552"/>
                    <a:pt x="334455" y="136287"/>
                    <a:pt x="695434" y="136287"/>
                  </a:cubicBezTo>
                  <a:cubicBezTo>
                    <a:pt x="1051549" y="136287"/>
                    <a:pt x="1345345" y="80098"/>
                    <a:pt x="1387821" y="7522"/>
                  </a:cubicBezTo>
                  <a:cubicBezTo>
                    <a:pt x="1388291" y="6029"/>
                    <a:pt x="1388762" y="4536"/>
                    <a:pt x="1389233" y="3045"/>
                  </a:cubicBezTo>
                  <a:lnTo>
                    <a:pt x="1387831" y="7504"/>
                  </a:lnTo>
                  <a:cubicBezTo>
                    <a:pt x="1387828" y="7510"/>
                    <a:pt x="1387825" y="7516"/>
                    <a:pt x="1387821" y="7522"/>
                  </a:cubicBezTo>
                  <a:cubicBezTo>
                    <a:pt x="1322392" y="215190"/>
                    <a:pt x="1265535" y="436585"/>
                    <a:pt x="1216600" y="669596"/>
                  </a:cubicBezTo>
                  <a:close/>
                </a:path>
              </a:pathLst>
            </a:custGeom>
            <a:solidFill>
              <a:srgbClr val="92BD39"/>
            </a:solidFill>
            <a:ln>
              <a:noFill/>
            </a:ln>
          </p:spPr>
          <p:txBody>
            <a:bodyPr rtlCol="0" anchor="ctr"/>
            <a:lstStyle/>
            <a:p>
              <a:pPr algn="ctr"/>
            </a:p>
          </p:txBody>
        </p:sp>
        <p:sp>
          <p:nvSpPr>
            <p:cNvPr id="15" name="Rounded Rectangle 14"/>
            <p:cNvSpPr/>
            <p:nvPr/>
          </p:nvSpPr>
          <p:spPr>
            <a:xfrm>
              <a:off x="955903" y="2945662"/>
              <a:ext cx="1389233" cy="796416"/>
            </a:xfrm>
            <a:custGeom>
              <a:avLst/>
              <a:gdLst/>
              <a:ahLst/>
              <a:cxnLst/>
              <a:rect l="0" t="0" r="0" b="0"/>
              <a:pathLst>
                <a:path w="1389233" h="796416">
                  <a:moveTo>
                    <a:pt x="1215458" y="674859"/>
                  </a:moveTo>
                  <a:cubicBezTo>
                    <a:pt x="1185831" y="743267"/>
                    <a:pt x="964309" y="796416"/>
                    <a:pt x="695434" y="796416"/>
                  </a:cubicBezTo>
                  <a:cubicBezTo>
                    <a:pt x="420409" y="796416"/>
                    <a:pt x="194929" y="740808"/>
                    <a:pt x="173681" y="670141"/>
                  </a:cubicBezTo>
                  <a:lnTo>
                    <a:pt x="173478" y="669040"/>
                  </a:lnTo>
                  <a:cubicBezTo>
                    <a:pt x="123979" y="433417"/>
                    <a:pt x="66377" y="209676"/>
                    <a:pt x="0" y="0"/>
                  </a:cubicBezTo>
                  <a:lnTo>
                    <a:pt x="1448" y="4540"/>
                  </a:lnTo>
                  <a:cubicBezTo>
                    <a:pt x="37510" y="78552"/>
                    <a:pt x="334456" y="136287"/>
                    <a:pt x="695434" y="136287"/>
                  </a:cubicBezTo>
                  <a:cubicBezTo>
                    <a:pt x="1051578" y="136287"/>
                    <a:pt x="1345395" y="80089"/>
                    <a:pt x="1387831" y="7504"/>
                  </a:cubicBezTo>
                  <a:lnTo>
                    <a:pt x="1389233" y="3045"/>
                  </a:lnTo>
                  <a:cubicBezTo>
                    <a:pt x="1323210" y="212007"/>
                    <a:pt x="1265887" y="434911"/>
                    <a:pt x="1216600" y="669596"/>
                  </a:cubicBezTo>
                  <a:close/>
                </a:path>
              </a:pathLst>
            </a:custGeom>
            <a:noFill/>
            <a:ln w="13758">
              <a:solidFill>
                <a:srgbClr val="FFFFFF"/>
              </a:solidFill>
            </a:ln>
          </p:spPr>
          <p:txBody>
            <a:bodyPr rtlCol="0" anchor="ctr"/>
            <a:lstStyle/>
            <a:p>
              <a:pPr algn="ctr"/>
            </a:p>
          </p:txBody>
        </p:sp>
      </p:grpSp>
      <p:grpSp>
        <p:nvGrpSpPr>
          <p:cNvPr id="19" name="Group 18"/>
          <p:cNvGrpSpPr/>
          <p:nvPr/>
        </p:nvGrpSpPr>
        <p:grpSpPr>
          <a:xfrm>
            <a:off x="5306695" y="3656330"/>
            <a:ext cx="1223645" cy="119380"/>
            <a:chOff x="2260952" y="3242380"/>
            <a:chExt cx="1041047" cy="119238"/>
          </a:xfrm>
        </p:grpSpPr>
        <p:sp>
          <p:nvSpPr>
            <p:cNvPr id="17" name="Rounded Rectangle 16"/>
            <p:cNvSpPr/>
            <p:nvPr/>
          </p:nvSpPr>
          <p:spPr>
            <a:xfrm>
              <a:off x="2265538" y="3302000"/>
              <a:ext cx="1036461" cy="9172"/>
            </a:xfrm>
            <a:custGeom>
              <a:avLst/>
              <a:gdLst/>
              <a:ahLst/>
              <a:cxnLst/>
              <a:rect l="0" t="0" r="0" b="0"/>
              <a:pathLst>
                <a:path w="1036461" h="9172">
                  <a:moveTo>
                    <a:pt x="1036461" y="0"/>
                  </a:moveTo>
                  <a:lnTo>
                    <a:pt x="0" y="0"/>
                  </a:lnTo>
                </a:path>
              </a:pathLst>
            </a:custGeom>
            <a:noFill/>
            <a:ln w="13758">
              <a:solidFill>
                <a:srgbClr val="484848"/>
              </a:solidFill>
            </a:ln>
          </p:spPr>
          <p:txBody>
            <a:bodyPr rtlCol="0" anchor="ctr"/>
            <a:lstStyle/>
            <a:p>
              <a:pPr algn="ctr"/>
            </a:p>
          </p:txBody>
        </p:sp>
        <p:sp>
          <p:nvSpPr>
            <p:cNvPr id="18" name="Rounded Rectangle 17"/>
            <p:cNvSpPr/>
            <p:nvPr/>
          </p:nvSpPr>
          <p:spPr>
            <a:xfrm>
              <a:off x="2260952" y="3242380"/>
              <a:ext cx="59619" cy="119238"/>
            </a:xfrm>
            <a:custGeom>
              <a:avLst/>
              <a:gdLst/>
              <a:ahLst/>
              <a:cxnLst/>
              <a:rect l="0" t="0" r="0" b="0"/>
              <a:pathLst>
                <a:path w="59619" h="119238">
                  <a:moveTo>
                    <a:pt x="59619" y="119238"/>
                  </a:moveTo>
                  <a:lnTo>
                    <a:pt x="0" y="59619"/>
                  </a:lnTo>
                  <a:lnTo>
                    <a:pt x="59619" y="0"/>
                  </a:lnTo>
                </a:path>
              </a:pathLst>
            </a:custGeom>
            <a:noFill/>
            <a:ln w="13758">
              <a:solidFill>
                <a:srgbClr val="484848"/>
              </a:solidFill>
            </a:ln>
          </p:spPr>
          <p:txBody>
            <a:bodyPr rtlCol="0" anchor="ctr"/>
            <a:lstStyle/>
            <a:p>
              <a:pPr algn="ctr"/>
            </a:p>
          </p:txBody>
        </p:sp>
      </p:grpSp>
      <p:grpSp>
        <p:nvGrpSpPr>
          <p:cNvPr id="22" name="Group 21"/>
          <p:cNvGrpSpPr/>
          <p:nvPr/>
        </p:nvGrpSpPr>
        <p:grpSpPr>
          <a:xfrm>
            <a:off x="3736161" y="2694149"/>
            <a:ext cx="1920204" cy="801893"/>
            <a:chOff x="690438" y="2280058"/>
            <a:chExt cx="1920204" cy="801893"/>
          </a:xfrm>
        </p:grpSpPr>
        <p:sp>
          <p:nvSpPr>
            <p:cNvPr id="20" name="Rounded Rectangle 19"/>
            <p:cNvSpPr/>
            <p:nvPr/>
          </p:nvSpPr>
          <p:spPr>
            <a:xfrm>
              <a:off x="690438" y="2280058"/>
              <a:ext cx="1920204" cy="801893"/>
            </a:xfrm>
            <a:custGeom>
              <a:avLst/>
              <a:gdLst/>
              <a:ahLst/>
              <a:cxnLst/>
              <a:rect l="0" t="0" r="0" b="0"/>
              <a:pathLst>
                <a:path w="1920204" h="801893">
                  <a:moveTo>
                    <a:pt x="265462" y="665611"/>
                  </a:moveTo>
                  <a:cubicBezTo>
                    <a:pt x="189388" y="425287"/>
                    <a:pt x="101775" y="203440"/>
                    <a:pt x="1632" y="3359"/>
                  </a:cubicBezTo>
                  <a:lnTo>
                    <a:pt x="0" y="0"/>
                  </a:lnTo>
                  <a:cubicBezTo>
                    <a:pt x="45439" y="79335"/>
                    <a:pt x="458170" y="141447"/>
                    <a:pt x="960616" y="141447"/>
                  </a:cubicBezTo>
                  <a:cubicBezTo>
                    <a:pt x="1458656" y="141447"/>
                    <a:pt x="1868552" y="80420"/>
                    <a:pt x="1919957" y="2084"/>
                  </a:cubicBezTo>
                  <a:lnTo>
                    <a:pt x="1920204" y="1946"/>
                  </a:lnTo>
                  <a:cubicBezTo>
                    <a:pt x="1819337" y="203240"/>
                    <a:pt x="1731179" y="426594"/>
                    <a:pt x="1654698" y="668656"/>
                  </a:cubicBezTo>
                  <a:lnTo>
                    <a:pt x="1653296" y="673110"/>
                  </a:lnTo>
                  <a:cubicBezTo>
                    <a:pt x="1610859" y="745695"/>
                    <a:pt x="1317043" y="801893"/>
                    <a:pt x="960900" y="801893"/>
                  </a:cubicBezTo>
                  <a:cubicBezTo>
                    <a:pt x="599918" y="801893"/>
                    <a:pt x="302976" y="744159"/>
                    <a:pt x="266911" y="670147"/>
                  </a:cubicBezTo>
                  <a:close/>
                </a:path>
              </a:pathLst>
            </a:custGeom>
            <a:solidFill>
              <a:srgbClr val="3CC583"/>
            </a:solidFill>
            <a:ln>
              <a:noFill/>
            </a:ln>
          </p:spPr>
          <p:txBody>
            <a:bodyPr rtlCol="0" anchor="ctr"/>
            <a:lstStyle/>
            <a:p>
              <a:pPr algn="ctr"/>
            </a:p>
          </p:txBody>
        </p:sp>
        <p:sp>
          <p:nvSpPr>
            <p:cNvPr id="21" name="Rounded Rectangle 20"/>
            <p:cNvSpPr/>
            <p:nvPr/>
          </p:nvSpPr>
          <p:spPr>
            <a:xfrm>
              <a:off x="690441" y="2280058"/>
              <a:ext cx="1920201" cy="801893"/>
            </a:xfrm>
            <a:custGeom>
              <a:avLst/>
              <a:gdLst/>
              <a:ahLst/>
              <a:cxnLst/>
              <a:rect l="0" t="0" r="0" b="0"/>
              <a:pathLst>
                <a:path w="1920201" h="801893">
                  <a:moveTo>
                    <a:pt x="0" y="0"/>
                  </a:moveTo>
                  <a:cubicBezTo>
                    <a:pt x="45435" y="79335"/>
                    <a:pt x="458171" y="141447"/>
                    <a:pt x="960617" y="141447"/>
                  </a:cubicBezTo>
                  <a:cubicBezTo>
                    <a:pt x="1458653" y="141447"/>
                    <a:pt x="1868549" y="80420"/>
                    <a:pt x="1919954" y="2084"/>
                  </a:cubicBezTo>
                  <a:lnTo>
                    <a:pt x="1920201" y="1946"/>
                  </a:lnTo>
                  <a:cubicBezTo>
                    <a:pt x="1819334" y="203240"/>
                    <a:pt x="1731177" y="426594"/>
                    <a:pt x="1654695" y="668656"/>
                  </a:cubicBezTo>
                  <a:lnTo>
                    <a:pt x="1653293" y="673110"/>
                  </a:lnTo>
                  <a:cubicBezTo>
                    <a:pt x="1610856" y="745695"/>
                    <a:pt x="1317040" y="801893"/>
                    <a:pt x="960895" y="801893"/>
                  </a:cubicBezTo>
                  <a:cubicBezTo>
                    <a:pt x="599918" y="801893"/>
                    <a:pt x="302972" y="744159"/>
                    <a:pt x="266909" y="670147"/>
                  </a:cubicBezTo>
                  <a:lnTo>
                    <a:pt x="265461" y="665611"/>
                  </a:lnTo>
                  <a:cubicBezTo>
                    <a:pt x="189381" y="425287"/>
                    <a:pt x="101774" y="203440"/>
                    <a:pt x="1626" y="3359"/>
                  </a:cubicBezTo>
                  <a:close/>
                </a:path>
              </a:pathLst>
            </a:custGeom>
            <a:noFill/>
            <a:ln w="13758">
              <a:solidFill>
                <a:srgbClr val="FFFFFF"/>
              </a:solidFill>
            </a:ln>
          </p:spPr>
          <p:txBody>
            <a:bodyPr rtlCol="0" anchor="ctr"/>
            <a:lstStyle/>
            <a:p>
              <a:pPr algn="ctr"/>
            </a:p>
          </p:txBody>
        </p:sp>
      </p:grpSp>
      <p:grpSp>
        <p:nvGrpSpPr>
          <p:cNvPr id="25" name="Group 24"/>
          <p:cNvGrpSpPr/>
          <p:nvPr/>
        </p:nvGrpSpPr>
        <p:grpSpPr>
          <a:xfrm>
            <a:off x="5517515" y="2995930"/>
            <a:ext cx="1012190" cy="119380"/>
            <a:chOff x="2471913" y="2581980"/>
            <a:chExt cx="830087" cy="119238"/>
          </a:xfrm>
        </p:grpSpPr>
        <p:sp>
          <p:nvSpPr>
            <p:cNvPr id="23" name="Rounded Rectangle 22"/>
            <p:cNvSpPr/>
            <p:nvPr/>
          </p:nvSpPr>
          <p:spPr>
            <a:xfrm>
              <a:off x="2476500" y="2641600"/>
              <a:ext cx="825500" cy="9172"/>
            </a:xfrm>
            <a:custGeom>
              <a:avLst/>
              <a:gdLst/>
              <a:ahLst/>
              <a:cxnLst/>
              <a:rect l="0" t="0" r="0" b="0"/>
              <a:pathLst>
                <a:path w="825500" h="9172">
                  <a:moveTo>
                    <a:pt x="825500" y="0"/>
                  </a:moveTo>
                  <a:lnTo>
                    <a:pt x="0" y="0"/>
                  </a:lnTo>
                </a:path>
              </a:pathLst>
            </a:custGeom>
            <a:noFill/>
            <a:ln w="13758">
              <a:solidFill>
                <a:srgbClr val="484848"/>
              </a:solidFill>
            </a:ln>
          </p:spPr>
          <p:txBody>
            <a:bodyPr rtlCol="0" anchor="ctr"/>
            <a:lstStyle/>
            <a:p>
              <a:pPr algn="ctr"/>
            </a:p>
          </p:txBody>
        </p:sp>
        <p:sp>
          <p:nvSpPr>
            <p:cNvPr id="24" name="Rounded Rectangle 23"/>
            <p:cNvSpPr/>
            <p:nvPr/>
          </p:nvSpPr>
          <p:spPr>
            <a:xfrm>
              <a:off x="2471913" y="2581980"/>
              <a:ext cx="59619" cy="119238"/>
            </a:xfrm>
            <a:custGeom>
              <a:avLst/>
              <a:gdLst/>
              <a:ahLst/>
              <a:cxnLst/>
              <a:rect l="0" t="0" r="0" b="0"/>
              <a:pathLst>
                <a:path w="59619" h="119238">
                  <a:moveTo>
                    <a:pt x="59619" y="119238"/>
                  </a:moveTo>
                  <a:lnTo>
                    <a:pt x="0" y="59619"/>
                  </a:lnTo>
                  <a:lnTo>
                    <a:pt x="59619" y="0"/>
                  </a:lnTo>
                </a:path>
              </a:pathLst>
            </a:custGeom>
            <a:noFill/>
            <a:ln w="13758">
              <a:solidFill>
                <a:srgbClr val="484848"/>
              </a:solidFill>
            </a:ln>
          </p:spPr>
          <p:txBody>
            <a:bodyPr rtlCol="0" anchor="ctr"/>
            <a:lstStyle/>
            <a:p>
              <a:pPr algn="ctr"/>
            </a:p>
          </p:txBody>
        </p:sp>
      </p:grpSp>
      <p:grpSp>
        <p:nvGrpSpPr>
          <p:cNvPr id="28" name="Group 27"/>
          <p:cNvGrpSpPr/>
          <p:nvPr/>
        </p:nvGrpSpPr>
        <p:grpSpPr>
          <a:xfrm>
            <a:off x="3265856" y="1844957"/>
            <a:ext cx="2863789" cy="990636"/>
            <a:chOff x="220133" y="1430866"/>
            <a:chExt cx="2863789" cy="990636"/>
          </a:xfrm>
        </p:grpSpPr>
        <p:sp>
          <p:nvSpPr>
            <p:cNvPr id="26" name="Rounded Rectangle 25"/>
            <p:cNvSpPr/>
            <p:nvPr/>
          </p:nvSpPr>
          <p:spPr>
            <a:xfrm>
              <a:off x="220133" y="1430866"/>
              <a:ext cx="2861733" cy="990636"/>
            </a:xfrm>
            <a:custGeom>
              <a:avLst/>
              <a:gdLst/>
              <a:ahLst/>
              <a:cxnLst/>
              <a:rect l="0" t="0" r="0" b="0"/>
              <a:pathLst>
                <a:path w="2861733" h="990636">
                  <a:moveTo>
                    <a:pt x="2850858" y="185555"/>
                  </a:moveTo>
                  <a:cubicBezTo>
                    <a:pt x="2677742" y="362827"/>
                    <a:pt x="2524090" y="586245"/>
                    <a:pt x="2394708" y="842764"/>
                  </a:cubicBezTo>
                  <a:lnTo>
                    <a:pt x="2390262" y="851273"/>
                  </a:lnTo>
                  <a:cubicBezTo>
                    <a:pt x="2338857" y="929613"/>
                    <a:pt x="1928964" y="990636"/>
                    <a:pt x="1430921" y="990636"/>
                  </a:cubicBezTo>
                  <a:cubicBezTo>
                    <a:pt x="928476" y="990636"/>
                    <a:pt x="515744" y="928522"/>
                    <a:pt x="470305" y="849190"/>
                  </a:cubicBezTo>
                  <a:lnTo>
                    <a:pt x="468572" y="845832"/>
                  </a:lnTo>
                  <a:cubicBezTo>
                    <a:pt x="338831" y="587999"/>
                    <a:pt x="184068" y="362946"/>
                    <a:pt x="10254" y="184967"/>
                  </a:cubicBezTo>
                  <a:cubicBezTo>
                    <a:pt x="11501" y="186171"/>
                    <a:pt x="8777" y="183770"/>
                    <a:pt x="10254" y="184967"/>
                  </a:cubicBezTo>
                  <a:cubicBezTo>
                    <a:pt x="3485" y="178452"/>
                    <a:pt x="0" y="171825"/>
                    <a:pt x="0" y="165100"/>
                  </a:cubicBezTo>
                  <a:cubicBezTo>
                    <a:pt x="0" y="73918"/>
                    <a:pt x="640624" y="0"/>
                    <a:pt x="1430866" y="0"/>
                  </a:cubicBezTo>
                  <a:cubicBezTo>
                    <a:pt x="2221112" y="0"/>
                    <a:pt x="2861733" y="73918"/>
                    <a:pt x="2861733" y="165100"/>
                  </a:cubicBezTo>
                  <a:cubicBezTo>
                    <a:pt x="2861733" y="172026"/>
                    <a:pt x="2858036" y="178853"/>
                    <a:pt x="2850858" y="185555"/>
                  </a:cubicBezTo>
                  <a:cubicBezTo>
                    <a:pt x="2852098" y="184550"/>
                    <a:pt x="2849776" y="186566"/>
                    <a:pt x="2850858" y="185555"/>
                  </a:cubicBezTo>
                  <a:close/>
                </a:path>
              </a:pathLst>
            </a:custGeom>
            <a:solidFill>
              <a:srgbClr val="1EABDA"/>
            </a:solidFill>
            <a:ln>
              <a:noFill/>
            </a:ln>
          </p:spPr>
          <p:txBody>
            <a:bodyPr rtlCol="0" anchor="ctr"/>
            <a:lstStyle/>
            <a:p>
              <a:pPr algn="ctr"/>
            </a:p>
          </p:txBody>
        </p:sp>
        <p:sp>
          <p:nvSpPr>
            <p:cNvPr id="27" name="Rounded Rectangle 26"/>
            <p:cNvSpPr/>
            <p:nvPr/>
          </p:nvSpPr>
          <p:spPr>
            <a:xfrm>
              <a:off x="222189" y="1430866"/>
              <a:ext cx="2861733" cy="990604"/>
            </a:xfrm>
            <a:custGeom>
              <a:avLst/>
              <a:gdLst/>
              <a:ahLst/>
              <a:cxnLst/>
              <a:rect l="0" t="0" r="0" b="0"/>
              <a:pathLst>
                <a:path w="2861733" h="990604">
                  <a:moveTo>
                    <a:pt x="1430866" y="0"/>
                  </a:moveTo>
                  <a:cubicBezTo>
                    <a:pt x="2221112" y="0"/>
                    <a:pt x="2861733" y="73917"/>
                    <a:pt x="2861733" y="165100"/>
                  </a:cubicBezTo>
                  <a:cubicBezTo>
                    <a:pt x="2861733" y="256282"/>
                    <a:pt x="2221112" y="330200"/>
                    <a:pt x="1430866" y="330200"/>
                  </a:cubicBezTo>
                  <a:cubicBezTo>
                    <a:pt x="640620" y="330200"/>
                    <a:pt x="0" y="256282"/>
                    <a:pt x="0" y="165100"/>
                  </a:cubicBezTo>
                  <a:cubicBezTo>
                    <a:pt x="0" y="73917"/>
                    <a:pt x="640620" y="0"/>
                    <a:pt x="1430866" y="0"/>
                  </a:cubicBezTo>
                  <a:moveTo>
                    <a:pt x="2850088" y="184328"/>
                  </a:moveTo>
                  <a:cubicBezTo>
                    <a:pt x="2686866" y="357799"/>
                    <a:pt x="2508451" y="597122"/>
                    <a:pt x="2391096" y="852735"/>
                  </a:cubicBezTo>
                  <a:cubicBezTo>
                    <a:pt x="2332854" y="930421"/>
                    <a:pt x="1953911" y="990604"/>
                    <a:pt x="1428717" y="990604"/>
                  </a:cubicBezTo>
                  <a:cubicBezTo>
                    <a:pt x="905349" y="990604"/>
                    <a:pt x="529223" y="930819"/>
                    <a:pt x="468591" y="853523"/>
                  </a:cubicBezTo>
                  <a:cubicBezTo>
                    <a:pt x="351240" y="597992"/>
                    <a:pt x="174670" y="357799"/>
                    <a:pt x="7367" y="184125"/>
                  </a:cubicBezTo>
                </a:path>
              </a:pathLst>
            </a:custGeom>
            <a:noFill/>
            <a:ln w="13758">
              <a:solidFill>
                <a:srgbClr val="FFFFFF"/>
              </a:solidFill>
            </a:ln>
          </p:spPr>
          <p:txBody>
            <a:bodyPr rtlCol="0" anchor="ctr"/>
            <a:lstStyle/>
            <a:p>
              <a:pPr algn="ctr"/>
            </a:p>
          </p:txBody>
        </p:sp>
      </p:grpSp>
      <p:grpSp>
        <p:nvGrpSpPr>
          <p:cNvPr id="31" name="Group 30"/>
          <p:cNvGrpSpPr/>
          <p:nvPr/>
        </p:nvGrpSpPr>
        <p:grpSpPr>
          <a:xfrm>
            <a:off x="5847715" y="2335530"/>
            <a:ext cx="681990" cy="119380"/>
            <a:chOff x="2802113" y="1921580"/>
            <a:chExt cx="499887" cy="119238"/>
          </a:xfrm>
        </p:grpSpPr>
        <p:sp>
          <p:nvSpPr>
            <p:cNvPr id="29" name="Rounded Rectangle 28"/>
            <p:cNvSpPr/>
            <p:nvPr/>
          </p:nvSpPr>
          <p:spPr>
            <a:xfrm>
              <a:off x="2806700" y="1981200"/>
              <a:ext cx="495300" cy="9172"/>
            </a:xfrm>
            <a:custGeom>
              <a:avLst/>
              <a:gdLst/>
              <a:ahLst/>
              <a:cxnLst/>
              <a:rect l="0" t="0" r="0" b="0"/>
              <a:pathLst>
                <a:path w="495300" h="9172">
                  <a:moveTo>
                    <a:pt x="495300" y="0"/>
                  </a:moveTo>
                  <a:lnTo>
                    <a:pt x="0" y="0"/>
                  </a:lnTo>
                </a:path>
              </a:pathLst>
            </a:custGeom>
            <a:noFill/>
            <a:ln w="13758">
              <a:solidFill>
                <a:srgbClr val="484848"/>
              </a:solidFill>
            </a:ln>
          </p:spPr>
          <p:txBody>
            <a:bodyPr rtlCol="0" anchor="ctr"/>
            <a:lstStyle/>
            <a:p>
              <a:pPr algn="ctr"/>
            </a:p>
          </p:txBody>
        </p:sp>
        <p:sp>
          <p:nvSpPr>
            <p:cNvPr id="30" name="Rounded Rectangle 29"/>
            <p:cNvSpPr/>
            <p:nvPr/>
          </p:nvSpPr>
          <p:spPr>
            <a:xfrm>
              <a:off x="2802113" y="1921580"/>
              <a:ext cx="59619" cy="119238"/>
            </a:xfrm>
            <a:custGeom>
              <a:avLst/>
              <a:gdLst/>
              <a:ahLst/>
              <a:cxnLst/>
              <a:rect l="0" t="0" r="0" b="0"/>
              <a:pathLst>
                <a:path w="59619" h="119238">
                  <a:moveTo>
                    <a:pt x="59619" y="119238"/>
                  </a:moveTo>
                  <a:lnTo>
                    <a:pt x="0" y="59619"/>
                  </a:lnTo>
                  <a:lnTo>
                    <a:pt x="59619" y="0"/>
                  </a:lnTo>
                </a:path>
              </a:pathLst>
            </a:custGeom>
            <a:noFill/>
            <a:ln w="13758">
              <a:solidFill>
                <a:srgbClr val="484848"/>
              </a:solidFill>
            </a:ln>
          </p:spPr>
          <p:txBody>
            <a:bodyPr rtlCol="0" anchor="ctr"/>
            <a:lstStyle/>
            <a:p>
              <a:pPr algn="ctr"/>
            </a:p>
          </p:txBody>
        </p:sp>
      </p:grpSp>
      <p:sp>
        <p:nvSpPr>
          <p:cNvPr id="32" name="TextBox 31"/>
          <p:cNvSpPr txBox="1"/>
          <p:nvPr/>
        </p:nvSpPr>
        <p:spPr>
          <a:xfrm>
            <a:off x="6587490" y="2187575"/>
            <a:ext cx="2908300" cy="408305"/>
          </a:xfrm>
          <a:prstGeom prst="rect">
            <a:avLst/>
          </a:prstGeom>
          <a:noFill/>
          <a:ln>
            <a:noFill/>
          </a:ln>
        </p:spPr>
        <p:txBody>
          <a:bodyPr wrap="none" lIns="0" tIns="0" rIns="0" bIns="0" anchor="t">
            <a:noAutofit/>
          </a:bodyPr>
          <a:lstStyle/>
          <a:p>
            <a:pPr algn="l"/>
            <a:r>
              <a:rPr sz="2400" b="0">
                <a:solidFill>
                  <a:schemeClr val="tx1"/>
                </a:solidFill>
                <a:latin typeface="Roboto" panose="02000000000000000000"/>
              </a:rPr>
              <a:t>Data Preprocessing</a:t>
            </a:r>
            <a:endParaRPr sz="2400" b="0">
              <a:solidFill>
                <a:schemeClr val="tx1"/>
              </a:solidFill>
              <a:latin typeface="Roboto" panose="02000000000000000000"/>
            </a:endParaRPr>
          </a:p>
        </p:txBody>
      </p:sp>
      <p:sp>
        <p:nvSpPr>
          <p:cNvPr id="33" name="TextBox 32"/>
          <p:cNvSpPr txBox="1"/>
          <p:nvPr/>
        </p:nvSpPr>
        <p:spPr>
          <a:xfrm>
            <a:off x="6587490" y="2890520"/>
            <a:ext cx="2908300" cy="414020"/>
          </a:xfrm>
          <a:prstGeom prst="rect">
            <a:avLst/>
          </a:prstGeom>
          <a:noFill/>
          <a:ln>
            <a:noFill/>
          </a:ln>
        </p:spPr>
        <p:txBody>
          <a:bodyPr wrap="none" lIns="0" tIns="0" rIns="0" bIns="0" anchor="t">
            <a:noAutofit/>
          </a:bodyPr>
          <a:lstStyle/>
          <a:p>
            <a:pPr algn="l"/>
            <a:r>
              <a:rPr sz="2400" b="0">
                <a:solidFill>
                  <a:schemeClr val="tx1"/>
                </a:solidFill>
                <a:latin typeface="Roboto" panose="02000000000000000000"/>
              </a:rPr>
              <a:t>Model Training</a:t>
            </a:r>
            <a:endParaRPr sz="2400" b="0">
              <a:solidFill>
                <a:schemeClr val="tx1"/>
              </a:solidFill>
              <a:latin typeface="Roboto" panose="02000000000000000000"/>
            </a:endParaRPr>
          </a:p>
        </p:txBody>
      </p:sp>
      <p:sp>
        <p:nvSpPr>
          <p:cNvPr id="34" name="TextBox 33"/>
          <p:cNvSpPr txBox="1"/>
          <p:nvPr/>
        </p:nvSpPr>
        <p:spPr>
          <a:xfrm>
            <a:off x="6587490" y="3541395"/>
            <a:ext cx="2778125" cy="506730"/>
          </a:xfrm>
          <a:prstGeom prst="rect">
            <a:avLst/>
          </a:prstGeom>
          <a:noFill/>
          <a:ln>
            <a:noFill/>
          </a:ln>
        </p:spPr>
        <p:txBody>
          <a:bodyPr wrap="none" lIns="0" tIns="0" rIns="0" bIns="0" anchor="t">
            <a:noAutofit/>
          </a:bodyPr>
          <a:lstStyle/>
          <a:p>
            <a:pPr algn="l"/>
            <a:r>
              <a:rPr sz="2400" b="0">
                <a:solidFill>
                  <a:schemeClr val="tx1"/>
                </a:solidFill>
                <a:latin typeface="Roboto" panose="02000000000000000000"/>
              </a:rPr>
              <a:t>Model Testing</a:t>
            </a:r>
            <a:endParaRPr sz="2400" b="0">
              <a:solidFill>
                <a:schemeClr val="tx1"/>
              </a:solidFill>
              <a:latin typeface="Roboto" panose="02000000000000000000"/>
            </a:endParaRPr>
          </a:p>
        </p:txBody>
      </p:sp>
      <p:sp>
        <p:nvSpPr>
          <p:cNvPr id="35" name="TextBox 34"/>
          <p:cNvSpPr txBox="1"/>
          <p:nvPr/>
        </p:nvSpPr>
        <p:spPr>
          <a:xfrm>
            <a:off x="6587490" y="4284980"/>
            <a:ext cx="2837180" cy="476250"/>
          </a:xfrm>
          <a:prstGeom prst="rect">
            <a:avLst/>
          </a:prstGeom>
          <a:noFill/>
          <a:ln>
            <a:noFill/>
          </a:ln>
        </p:spPr>
        <p:txBody>
          <a:bodyPr wrap="none" lIns="0" tIns="0" rIns="0" bIns="0" anchor="t">
            <a:noAutofit/>
          </a:bodyPr>
          <a:lstStyle/>
          <a:p>
            <a:pPr algn="l"/>
            <a:r>
              <a:rPr sz="2400" b="0">
                <a:solidFill>
                  <a:schemeClr val="tx1"/>
                </a:solidFill>
                <a:latin typeface="Roboto" panose="02000000000000000000"/>
              </a:rPr>
              <a:t>Performance Comparison</a:t>
            </a:r>
            <a:endParaRPr sz="2400" b="0">
              <a:solidFill>
                <a:schemeClr val="tx1"/>
              </a:solidFill>
              <a:latin typeface="Roboto" panose="02000000000000000000"/>
            </a:endParaRPr>
          </a:p>
        </p:txBody>
      </p:sp>
      <p:sp>
        <p:nvSpPr>
          <p:cNvPr id="36" name="TextBox 35"/>
          <p:cNvSpPr txBox="1"/>
          <p:nvPr/>
        </p:nvSpPr>
        <p:spPr>
          <a:xfrm>
            <a:off x="3329940" y="1373505"/>
            <a:ext cx="2953385" cy="467360"/>
          </a:xfrm>
          <a:prstGeom prst="rect">
            <a:avLst/>
          </a:prstGeom>
          <a:noFill/>
          <a:ln>
            <a:noFill/>
          </a:ln>
        </p:spPr>
        <p:txBody>
          <a:bodyPr wrap="none" lIns="0" tIns="0" rIns="0" bIns="0" anchor="t">
            <a:noAutofit/>
          </a:bodyPr>
          <a:lstStyle/>
          <a:p>
            <a:pPr algn="ctr"/>
            <a:r>
              <a:rPr sz="2800">
                <a:solidFill>
                  <a:schemeClr val="tx1"/>
                </a:solidFill>
                <a:latin typeface="Calibri" panose="020F0502020204030204" charset="0"/>
                <a:cs typeface="Calibri" panose="020F0502020204030204" charset="0"/>
              </a:rPr>
              <a:t>Raw Patient Data</a:t>
            </a:r>
            <a:endParaRPr sz="2800">
              <a:solidFill>
                <a:schemeClr val="tx1"/>
              </a:solidFill>
              <a:latin typeface="Calibri" panose="020F0502020204030204" charset="0"/>
              <a:cs typeface="Calibri" panose="020F0502020204030204" charset="0"/>
            </a:endParaRPr>
          </a:p>
        </p:txBody>
      </p:sp>
      <p:sp>
        <p:nvSpPr>
          <p:cNvPr id="38" name="TextBox 37"/>
          <p:cNvSpPr txBox="1"/>
          <p:nvPr/>
        </p:nvSpPr>
        <p:spPr>
          <a:xfrm>
            <a:off x="6587490" y="4871085"/>
            <a:ext cx="3467735" cy="480695"/>
          </a:xfrm>
          <a:prstGeom prst="rect">
            <a:avLst/>
          </a:prstGeom>
          <a:noFill/>
          <a:ln>
            <a:noFill/>
          </a:ln>
        </p:spPr>
        <p:txBody>
          <a:bodyPr wrap="none" lIns="0" tIns="0" rIns="0" bIns="0" anchor="t">
            <a:noAutofit/>
          </a:bodyPr>
          <a:lstStyle/>
          <a:p>
            <a:pPr algn="l"/>
            <a:r>
              <a:rPr sz="2400" b="0">
                <a:solidFill>
                  <a:schemeClr val="tx1"/>
                </a:solidFill>
                <a:latin typeface="Roboto" panose="02000000000000000000"/>
              </a:rPr>
              <a:t>Interpretability Analysis</a:t>
            </a:r>
            <a:endParaRPr sz="2400" b="0">
              <a:solidFill>
                <a:schemeClr val="tx1"/>
              </a:solidFill>
              <a:latin typeface="Roboto" panose="02000000000000000000"/>
            </a:endParaRPr>
          </a:p>
        </p:txBody>
      </p:sp>
      <p:sp>
        <p:nvSpPr>
          <p:cNvPr id="40" name="Rounded Rectangle 39"/>
          <p:cNvSpPr/>
          <p:nvPr/>
        </p:nvSpPr>
        <p:spPr>
          <a:xfrm>
            <a:off x="4498658" y="2300003"/>
            <a:ext cx="400246" cy="412750"/>
          </a:xfrm>
          <a:custGeom>
            <a:avLst/>
            <a:gdLst/>
            <a:ahLst/>
            <a:cxnLst/>
            <a:rect l="0" t="0" r="0" b="0"/>
            <a:pathLst>
              <a:path w="400246" h="412750">
                <a:moveTo>
                  <a:pt x="0" y="321675"/>
                </a:moveTo>
                <a:cubicBezTo>
                  <a:pt x="44572" y="312715"/>
                  <a:pt x="80459" y="276392"/>
                  <a:pt x="89433" y="230666"/>
                </a:cubicBezTo>
                <a:cubicBezTo>
                  <a:pt x="98407" y="276392"/>
                  <a:pt x="134285" y="312715"/>
                  <a:pt x="178857" y="321675"/>
                </a:cubicBezTo>
                <a:moveTo>
                  <a:pt x="178857" y="321728"/>
                </a:moveTo>
                <a:cubicBezTo>
                  <a:pt x="134285" y="330687"/>
                  <a:pt x="98399" y="367011"/>
                  <a:pt x="89424" y="412737"/>
                </a:cubicBezTo>
                <a:cubicBezTo>
                  <a:pt x="80450" y="367011"/>
                  <a:pt x="44572" y="330687"/>
                  <a:pt x="0" y="321728"/>
                </a:cubicBezTo>
                <a:moveTo>
                  <a:pt x="42529" y="181929"/>
                </a:moveTo>
                <a:lnTo>
                  <a:pt x="42529" y="27516"/>
                </a:lnTo>
                <a:cubicBezTo>
                  <a:pt x="42529" y="12529"/>
                  <a:pt x="55058" y="0"/>
                  <a:pt x="70045" y="0"/>
                </a:cubicBezTo>
                <a:lnTo>
                  <a:pt x="265029" y="0"/>
                </a:lnTo>
                <a:cubicBezTo>
                  <a:pt x="272321" y="1"/>
                  <a:pt x="279315" y="2898"/>
                  <a:pt x="284474" y="8053"/>
                </a:cubicBezTo>
                <a:lnTo>
                  <a:pt x="392192" y="115771"/>
                </a:lnTo>
                <a:cubicBezTo>
                  <a:pt x="397347" y="120930"/>
                  <a:pt x="400244" y="127924"/>
                  <a:pt x="400246" y="135216"/>
                </a:cubicBezTo>
                <a:lnTo>
                  <a:pt x="400246" y="376061"/>
                </a:lnTo>
                <a:cubicBezTo>
                  <a:pt x="400246" y="396324"/>
                  <a:pt x="383818" y="412750"/>
                  <a:pt x="363557" y="412750"/>
                </a:cubicBezTo>
                <a:lnTo>
                  <a:pt x="169579" y="412750"/>
                </a:lnTo>
                <a:moveTo>
                  <a:pt x="262662" y="0"/>
                </a:moveTo>
                <a:lnTo>
                  <a:pt x="262662" y="110066"/>
                </a:lnTo>
                <a:cubicBezTo>
                  <a:pt x="262662" y="117364"/>
                  <a:pt x="265561" y="124363"/>
                  <a:pt x="270721" y="129523"/>
                </a:cubicBezTo>
                <a:cubicBezTo>
                  <a:pt x="275881" y="134684"/>
                  <a:pt x="282881" y="137583"/>
                  <a:pt x="290179" y="137583"/>
                </a:cubicBezTo>
                <a:lnTo>
                  <a:pt x="400246" y="137583"/>
                </a:lnTo>
              </a:path>
            </a:pathLst>
          </a:custGeom>
          <a:noFill/>
          <a:ln w="13758">
            <a:solidFill>
              <a:srgbClr val="FFFFFF"/>
            </a:solidFill>
          </a:ln>
        </p:spPr>
        <p:txBody>
          <a:bodyPr rtlCol="0" anchor="ctr"/>
          <a:lstStyle/>
          <a:p>
            <a:pPr algn="ctr"/>
          </a:p>
        </p:txBody>
      </p:sp>
      <p:sp>
        <p:nvSpPr>
          <p:cNvPr id="41" name="Rounded Rectangle 40"/>
          <p:cNvSpPr/>
          <p:nvPr/>
        </p:nvSpPr>
        <p:spPr>
          <a:xfrm>
            <a:off x="4493853" y="2955817"/>
            <a:ext cx="409945" cy="421922"/>
          </a:xfrm>
          <a:custGeom>
            <a:avLst/>
            <a:gdLst/>
            <a:ahLst/>
            <a:cxnLst/>
            <a:rect l="0" t="0" r="0" b="0"/>
            <a:pathLst>
              <a:path w="409945" h="421922">
                <a:moveTo>
                  <a:pt x="67343" y="307287"/>
                </a:moveTo>
                <a:cubicBezTo>
                  <a:pt x="67343" y="330083"/>
                  <a:pt x="85823" y="348562"/>
                  <a:pt x="108618" y="348562"/>
                </a:cubicBezTo>
                <a:cubicBezTo>
                  <a:pt x="131414" y="348562"/>
                  <a:pt x="149893" y="330083"/>
                  <a:pt x="149893" y="307287"/>
                </a:cubicBezTo>
                <a:cubicBezTo>
                  <a:pt x="149893" y="284492"/>
                  <a:pt x="131414" y="266012"/>
                  <a:pt x="108618" y="266012"/>
                </a:cubicBezTo>
                <a:cubicBezTo>
                  <a:pt x="85823" y="266012"/>
                  <a:pt x="67343" y="284492"/>
                  <a:pt x="67343" y="307287"/>
                </a:cubicBezTo>
                <a:close/>
                <a:moveTo>
                  <a:pt x="214796" y="352671"/>
                </a:moveTo>
                <a:lnTo>
                  <a:pt x="201037" y="376519"/>
                </a:lnTo>
                <a:cubicBezTo>
                  <a:pt x="198505" y="380906"/>
                  <a:pt x="192895" y="382409"/>
                  <a:pt x="188508" y="379876"/>
                </a:cubicBezTo>
                <a:lnTo>
                  <a:pt x="169962" y="369181"/>
                </a:lnTo>
                <a:cubicBezTo>
                  <a:pt x="159285" y="379764"/>
                  <a:pt x="146052" y="387404"/>
                  <a:pt x="131549" y="391360"/>
                </a:cubicBezTo>
                <a:lnTo>
                  <a:pt x="131549" y="412750"/>
                </a:lnTo>
                <a:cubicBezTo>
                  <a:pt x="131549" y="417815"/>
                  <a:pt x="127442" y="421922"/>
                  <a:pt x="122376" y="421922"/>
                </a:cubicBezTo>
                <a:lnTo>
                  <a:pt x="94860" y="421922"/>
                </a:lnTo>
                <a:cubicBezTo>
                  <a:pt x="89794" y="421922"/>
                  <a:pt x="85688" y="417815"/>
                  <a:pt x="85688" y="412750"/>
                </a:cubicBezTo>
                <a:lnTo>
                  <a:pt x="85688" y="391360"/>
                </a:lnTo>
                <a:cubicBezTo>
                  <a:pt x="71225" y="387411"/>
                  <a:pt x="58026" y="379797"/>
                  <a:pt x="47366" y="369255"/>
                </a:cubicBezTo>
                <a:lnTo>
                  <a:pt x="28820" y="379950"/>
                </a:lnTo>
                <a:cubicBezTo>
                  <a:pt x="24433" y="382482"/>
                  <a:pt x="18823" y="380979"/>
                  <a:pt x="16291" y="376593"/>
                </a:cubicBezTo>
                <a:lnTo>
                  <a:pt x="2532" y="352745"/>
                </a:lnTo>
                <a:cubicBezTo>
                  <a:pt x="0" y="348358"/>
                  <a:pt x="1502" y="342748"/>
                  <a:pt x="5889" y="340216"/>
                </a:cubicBezTo>
                <a:lnTo>
                  <a:pt x="24435" y="329502"/>
                </a:lnTo>
                <a:cubicBezTo>
                  <a:pt x="20620" y="314963"/>
                  <a:pt x="20620" y="299685"/>
                  <a:pt x="24435" y="285146"/>
                </a:cubicBezTo>
                <a:lnTo>
                  <a:pt x="5889" y="274432"/>
                </a:lnTo>
                <a:cubicBezTo>
                  <a:pt x="1502" y="271899"/>
                  <a:pt x="0" y="266290"/>
                  <a:pt x="2532" y="261903"/>
                </a:cubicBezTo>
                <a:lnTo>
                  <a:pt x="16291" y="238055"/>
                </a:lnTo>
                <a:cubicBezTo>
                  <a:pt x="18823" y="233669"/>
                  <a:pt x="24433" y="232166"/>
                  <a:pt x="28820" y="234698"/>
                </a:cubicBezTo>
                <a:lnTo>
                  <a:pt x="47274" y="245375"/>
                </a:lnTo>
                <a:cubicBezTo>
                  <a:pt x="57951" y="234792"/>
                  <a:pt x="71184" y="227152"/>
                  <a:pt x="85688" y="223196"/>
                </a:cubicBezTo>
                <a:lnTo>
                  <a:pt x="85688" y="201788"/>
                </a:lnTo>
                <a:cubicBezTo>
                  <a:pt x="85688" y="196723"/>
                  <a:pt x="89794" y="192616"/>
                  <a:pt x="94860" y="192616"/>
                </a:cubicBezTo>
                <a:lnTo>
                  <a:pt x="122376" y="192616"/>
                </a:lnTo>
                <a:cubicBezTo>
                  <a:pt x="127442" y="192616"/>
                  <a:pt x="131549" y="196723"/>
                  <a:pt x="131549" y="201788"/>
                </a:cubicBezTo>
                <a:lnTo>
                  <a:pt x="131549" y="223215"/>
                </a:lnTo>
                <a:cubicBezTo>
                  <a:pt x="146048" y="227160"/>
                  <a:pt x="159281" y="234787"/>
                  <a:pt x="169962" y="245356"/>
                </a:cubicBezTo>
                <a:lnTo>
                  <a:pt x="188508" y="234662"/>
                </a:lnTo>
                <a:cubicBezTo>
                  <a:pt x="192895" y="232129"/>
                  <a:pt x="198505" y="233632"/>
                  <a:pt x="201037" y="238019"/>
                </a:cubicBezTo>
                <a:lnTo>
                  <a:pt x="214796" y="261866"/>
                </a:lnTo>
                <a:cubicBezTo>
                  <a:pt x="217329" y="266253"/>
                  <a:pt x="215826" y="271863"/>
                  <a:pt x="211439" y="274396"/>
                </a:cubicBezTo>
                <a:lnTo>
                  <a:pt x="192893" y="285109"/>
                </a:lnTo>
                <a:cubicBezTo>
                  <a:pt x="196708" y="299648"/>
                  <a:pt x="196708" y="314926"/>
                  <a:pt x="192893" y="329466"/>
                </a:cubicBezTo>
                <a:lnTo>
                  <a:pt x="211439" y="340179"/>
                </a:lnTo>
                <a:cubicBezTo>
                  <a:pt x="215804" y="342711"/>
                  <a:pt x="217304" y="348293"/>
                  <a:pt x="214796" y="352671"/>
                </a:cubicBezTo>
                <a:close/>
                <a:moveTo>
                  <a:pt x="259960" y="114671"/>
                </a:moveTo>
                <a:cubicBezTo>
                  <a:pt x="259960" y="137466"/>
                  <a:pt x="278439" y="155946"/>
                  <a:pt x="301235" y="155946"/>
                </a:cubicBezTo>
                <a:cubicBezTo>
                  <a:pt x="324030" y="155946"/>
                  <a:pt x="342510" y="137466"/>
                  <a:pt x="342510" y="114671"/>
                </a:cubicBezTo>
                <a:cubicBezTo>
                  <a:pt x="342510" y="91875"/>
                  <a:pt x="324030" y="73396"/>
                  <a:pt x="301235" y="73396"/>
                </a:cubicBezTo>
                <a:cubicBezTo>
                  <a:pt x="278439" y="73396"/>
                  <a:pt x="259960" y="91875"/>
                  <a:pt x="259960" y="114671"/>
                </a:cubicBezTo>
                <a:close/>
                <a:moveTo>
                  <a:pt x="195149" y="69286"/>
                </a:moveTo>
                <a:lnTo>
                  <a:pt x="208907" y="45439"/>
                </a:lnTo>
                <a:cubicBezTo>
                  <a:pt x="211440" y="41052"/>
                  <a:pt x="217050" y="39549"/>
                  <a:pt x="221436" y="42082"/>
                </a:cubicBezTo>
                <a:lnTo>
                  <a:pt x="239891" y="52776"/>
                </a:lnTo>
                <a:cubicBezTo>
                  <a:pt x="250568" y="42194"/>
                  <a:pt x="263801" y="34553"/>
                  <a:pt x="278304" y="30598"/>
                </a:cubicBezTo>
                <a:lnTo>
                  <a:pt x="278304" y="9172"/>
                </a:lnTo>
                <a:cubicBezTo>
                  <a:pt x="278304" y="4106"/>
                  <a:pt x="282411" y="0"/>
                  <a:pt x="287476" y="0"/>
                </a:cubicBezTo>
                <a:lnTo>
                  <a:pt x="314993" y="0"/>
                </a:lnTo>
                <a:cubicBezTo>
                  <a:pt x="320059" y="0"/>
                  <a:pt x="324165" y="4106"/>
                  <a:pt x="324165" y="9172"/>
                </a:cubicBezTo>
                <a:lnTo>
                  <a:pt x="324165" y="30598"/>
                </a:lnTo>
                <a:cubicBezTo>
                  <a:pt x="338665" y="34543"/>
                  <a:pt x="351898" y="42171"/>
                  <a:pt x="362579" y="52740"/>
                </a:cubicBezTo>
                <a:lnTo>
                  <a:pt x="381125" y="42045"/>
                </a:lnTo>
                <a:cubicBezTo>
                  <a:pt x="385512" y="39512"/>
                  <a:pt x="391121" y="41015"/>
                  <a:pt x="393654" y="45402"/>
                </a:cubicBezTo>
                <a:lnTo>
                  <a:pt x="407412" y="69250"/>
                </a:lnTo>
                <a:cubicBezTo>
                  <a:pt x="409945" y="73637"/>
                  <a:pt x="408442" y="79246"/>
                  <a:pt x="404055" y="81779"/>
                </a:cubicBezTo>
                <a:lnTo>
                  <a:pt x="385509" y="92492"/>
                </a:lnTo>
                <a:cubicBezTo>
                  <a:pt x="389325" y="107032"/>
                  <a:pt x="389325" y="122310"/>
                  <a:pt x="385509" y="136849"/>
                </a:cubicBezTo>
                <a:lnTo>
                  <a:pt x="404055" y="147526"/>
                </a:lnTo>
                <a:cubicBezTo>
                  <a:pt x="408442" y="150058"/>
                  <a:pt x="409945" y="155668"/>
                  <a:pt x="407412" y="160055"/>
                </a:cubicBezTo>
                <a:lnTo>
                  <a:pt x="393654" y="183903"/>
                </a:lnTo>
                <a:cubicBezTo>
                  <a:pt x="391121" y="188289"/>
                  <a:pt x="385512" y="189792"/>
                  <a:pt x="381125" y="187260"/>
                </a:cubicBezTo>
                <a:lnTo>
                  <a:pt x="362579" y="176565"/>
                </a:lnTo>
                <a:cubicBezTo>
                  <a:pt x="351902" y="187147"/>
                  <a:pt x="338669" y="194788"/>
                  <a:pt x="324165" y="198743"/>
                </a:cubicBezTo>
                <a:lnTo>
                  <a:pt x="324165" y="220133"/>
                </a:lnTo>
                <a:cubicBezTo>
                  <a:pt x="324165" y="225198"/>
                  <a:pt x="320059" y="229305"/>
                  <a:pt x="314993" y="229305"/>
                </a:cubicBezTo>
                <a:lnTo>
                  <a:pt x="287476" y="229305"/>
                </a:lnTo>
                <a:cubicBezTo>
                  <a:pt x="282411" y="229305"/>
                  <a:pt x="278304" y="225198"/>
                  <a:pt x="278304" y="220133"/>
                </a:cubicBezTo>
                <a:lnTo>
                  <a:pt x="278304" y="198743"/>
                </a:lnTo>
                <a:cubicBezTo>
                  <a:pt x="263805" y="194798"/>
                  <a:pt x="250572" y="187171"/>
                  <a:pt x="239891" y="176601"/>
                </a:cubicBezTo>
                <a:lnTo>
                  <a:pt x="221345" y="187296"/>
                </a:lnTo>
                <a:cubicBezTo>
                  <a:pt x="216958" y="189829"/>
                  <a:pt x="211348" y="188326"/>
                  <a:pt x="208816" y="183939"/>
                </a:cubicBezTo>
                <a:lnTo>
                  <a:pt x="195057" y="160091"/>
                </a:lnTo>
                <a:cubicBezTo>
                  <a:pt x="192524" y="155705"/>
                  <a:pt x="194027" y="150095"/>
                  <a:pt x="198414" y="147562"/>
                </a:cubicBezTo>
                <a:lnTo>
                  <a:pt x="216960" y="136849"/>
                </a:lnTo>
                <a:cubicBezTo>
                  <a:pt x="213145" y="122310"/>
                  <a:pt x="213145" y="107032"/>
                  <a:pt x="216960" y="92492"/>
                </a:cubicBezTo>
                <a:lnTo>
                  <a:pt x="198414" y="81779"/>
                </a:lnTo>
                <a:cubicBezTo>
                  <a:pt x="194083" y="79216"/>
                  <a:pt x="192625" y="73641"/>
                  <a:pt x="195149" y="69286"/>
                </a:cubicBezTo>
                <a:close/>
              </a:path>
            </a:pathLst>
          </a:custGeom>
          <a:noFill/>
          <a:ln w="13758">
            <a:solidFill>
              <a:srgbClr val="FFFFFF"/>
            </a:solidFill>
          </a:ln>
        </p:spPr>
        <p:txBody>
          <a:bodyPr rtlCol="0" anchor="ctr"/>
          <a:lstStyle/>
          <a:p>
            <a:pPr algn="ctr"/>
          </a:p>
        </p:txBody>
      </p:sp>
      <p:sp>
        <p:nvSpPr>
          <p:cNvPr id="42" name="Rounded Rectangle 41"/>
          <p:cNvSpPr/>
          <p:nvPr/>
        </p:nvSpPr>
        <p:spPr>
          <a:xfrm>
            <a:off x="4517262" y="3616215"/>
            <a:ext cx="362963" cy="423505"/>
          </a:xfrm>
          <a:custGeom>
            <a:avLst/>
            <a:gdLst/>
            <a:ahLst/>
            <a:cxnLst/>
            <a:rect l="0" t="0" r="0" b="0"/>
            <a:pathLst>
              <a:path w="362963" h="423505">
                <a:moveTo>
                  <a:pt x="252896" y="421924"/>
                </a:moveTo>
                <a:cubicBezTo>
                  <a:pt x="192108" y="421924"/>
                  <a:pt x="142829" y="372645"/>
                  <a:pt x="142829" y="311857"/>
                </a:cubicBezTo>
                <a:cubicBezTo>
                  <a:pt x="142829" y="251069"/>
                  <a:pt x="192108" y="201790"/>
                  <a:pt x="252896" y="201790"/>
                </a:cubicBezTo>
                <a:cubicBezTo>
                  <a:pt x="313684" y="201790"/>
                  <a:pt x="362963" y="251069"/>
                  <a:pt x="362963" y="311857"/>
                </a:cubicBezTo>
                <a:cubicBezTo>
                  <a:pt x="362963" y="372645"/>
                  <a:pt x="313684" y="421924"/>
                  <a:pt x="252896" y="421924"/>
                </a:cubicBezTo>
                <a:close/>
                <a:moveTo>
                  <a:pt x="200413" y="324955"/>
                </a:moveTo>
                <a:lnTo>
                  <a:pt x="227929" y="352472"/>
                </a:lnTo>
                <a:cubicBezTo>
                  <a:pt x="230751" y="355285"/>
                  <a:pt x="234653" y="356738"/>
                  <a:pt x="238628" y="356457"/>
                </a:cubicBezTo>
                <a:cubicBezTo>
                  <a:pt x="242603" y="356175"/>
                  <a:pt x="246261" y="354187"/>
                  <a:pt x="248658" y="351004"/>
                </a:cubicBezTo>
                <a:lnTo>
                  <a:pt x="301949" y="279938"/>
                </a:lnTo>
                <a:moveTo>
                  <a:pt x="51107" y="238479"/>
                </a:moveTo>
                <a:cubicBezTo>
                  <a:pt x="51107" y="248611"/>
                  <a:pt x="59320" y="256824"/>
                  <a:pt x="69452" y="256824"/>
                </a:cubicBezTo>
                <a:cubicBezTo>
                  <a:pt x="79583" y="256824"/>
                  <a:pt x="87796" y="248611"/>
                  <a:pt x="87796" y="238479"/>
                </a:cubicBezTo>
                <a:cubicBezTo>
                  <a:pt x="87796" y="228348"/>
                  <a:pt x="79583" y="220135"/>
                  <a:pt x="69452" y="220135"/>
                </a:cubicBezTo>
                <a:cubicBezTo>
                  <a:pt x="59320" y="220135"/>
                  <a:pt x="51107" y="228348"/>
                  <a:pt x="51107" y="238479"/>
                </a:cubicBezTo>
                <a:moveTo>
                  <a:pt x="87796" y="165102"/>
                </a:moveTo>
                <a:cubicBezTo>
                  <a:pt x="87796" y="175233"/>
                  <a:pt x="96009" y="183446"/>
                  <a:pt x="106140" y="183446"/>
                </a:cubicBezTo>
                <a:cubicBezTo>
                  <a:pt x="116272" y="183446"/>
                  <a:pt x="124485" y="175233"/>
                  <a:pt x="124485" y="165102"/>
                </a:cubicBezTo>
                <a:cubicBezTo>
                  <a:pt x="124485" y="154970"/>
                  <a:pt x="116272" y="146757"/>
                  <a:pt x="106140" y="146757"/>
                </a:cubicBezTo>
                <a:cubicBezTo>
                  <a:pt x="96009" y="146757"/>
                  <a:pt x="87796" y="154970"/>
                  <a:pt x="87796" y="165102"/>
                </a:cubicBezTo>
                <a:moveTo>
                  <a:pt x="69452" y="339374"/>
                </a:moveTo>
                <a:cubicBezTo>
                  <a:pt x="69452" y="349505"/>
                  <a:pt x="77665" y="357718"/>
                  <a:pt x="87796" y="357718"/>
                </a:cubicBezTo>
                <a:cubicBezTo>
                  <a:pt x="97927" y="357718"/>
                  <a:pt x="106140" y="349505"/>
                  <a:pt x="106140" y="339374"/>
                </a:cubicBezTo>
                <a:cubicBezTo>
                  <a:pt x="106140" y="329242"/>
                  <a:pt x="97927" y="321029"/>
                  <a:pt x="87796" y="321029"/>
                </a:cubicBezTo>
                <a:cubicBezTo>
                  <a:pt x="77665" y="321029"/>
                  <a:pt x="69452" y="329242"/>
                  <a:pt x="69452" y="339374"/>
                </a:cubicBezTo>
                <a:moveTo>
                  <a:pt x="134373" y="405285"/>
                </a:moveTo>
                <a:cubicBezTo>
                  <a:pt x="119333" y="417643"/>
                  <a:pt x="99993" y="423505"/>
                  <a:pt x="80623" y="421575"/>
                </a:cubicBezTo>
                <a:cubicBezTo>
                  <a:pt x="42301" y="416862"/>
                  <a:pt x="13709" y="383997"/>
                  <a:pt x="14345" y="345391"/>
                </a:cubicBezTo>
                <a:lnTo>
                  <a:pt x="14345" y="95173"/>
                </a:lnTo>
                <a:cubicBezTo>
                  <a:pt x="14328" y="66946"/>
                  <a:pt x="9667" y="38914"/>
                  <a:pt x="550" y="12201"/>
                </a:cubicBezTo>
                <a:cubicBezTo>
                  <a:pt x="203" y="11228"/>
                  <a:pt x="17" y="10206"/>
                  <a:pt x="0" y="9174"/>
                </a:cubicBezTo>
                <a:cubicBezTo>
                  <a:pt x="0" y="4108"/>
                  <a:pt x="4106" y="2"/>
                  <a:pt x="9172" y="2"/>
                </a:cubicBezTo>
                <a:lnTo>
                  <a:pt x="166420" y="2"/>
                </a:lnTo>
                <a:cubicBezTo>
                  <a:pt x="167459" y="0"/>
                  <a:pt x="168489" y="180"/>
                  <a:pt x="169465" y="534"/>
                </a:cubicBezTo>
                <a:cubicBezTo>
                  <a:pt x="174226" y="2258"/>
                  <a:pt x="176689" y="7512"/>
                  <a:pt x="174969" y="12274"/>
                </a:cubicBezTo>
                <a:cubicBezTo>
                  <a:pt x="165834" y="38983"/>
                  <a:pt x="161173" y="67018"/>
                  <a:pt x="161174" y="95246"/>
                </a:cubicBezTo>
                <a:lnTo>
                  <a:pt x="161174" y="193169"/>
                </a:lnTo>
                <a:moveTo>
                  <a:pt x="161174" y="110068"/>
                </a:moveTo>
                <a:lnTo>
                  <a:pt x="14418" y="110068"/>
                </a:lnTo>
              </a:path>
            </a:pathLst>
          </a:custGeom>
          <a:noFill/>
          <a:ln w="13758">
            <a:solidFill>
              <a:srgbClr val="FFFFFF"/>
            </a:solidFill>
          </a:ln>
        </p:spPr>
        <p:txBody>
          <a:bodyPr rtlCol="0" anchor="ctr"/>
          <a:lstStyle/>
          <a:p>
            <a:pPr algn="ctr"/>
          </a:p>
        </p:txBody>
      </p:sp>
      <p:sp>
        <p:nvSpPr>
          <p:cNvPr id="43" name="Rounded Rectangle 42"/>
          <p:cNvSpPr/>
          <p:nvPr/>
        </p:nvSpPr>
        <p:spPr>
          <a:xfrm>
            <a:off x="4515336" y="4294962"/>
            <a:ext cx="366962" cy="385233"/>
          </a:xfrm>
          <a:custGeom>
            <a:avLst/>
            <a:gdLst/>
            <a:ahLst/>
            <a:cxnLst/>
            <a:rect l="0" t="0" r="0" b="0"/>
            <a:pathLst>
              <a:path w="366962" h="385233">
                <a:moveTo>
                  <a:pt x="36762" y="0"/>
                </a:moveTo>
                <a:lnTo>
                  <a:pt x="330273" y="0"/>
                </a:lnTo>
                <a:cubicBezTo>
                  <a:pt x="330273" y="0"/>
                  <a:pt x="366962" y="0"/>
                  <a:pt x="366962" y="36688"/>
                </a:cubicBezTo>
                <a:lnTo>
                  <a:pt x="366962" y="348544"/>
                </a:lnTo>
                <a:cubicBezTo>
                  <a:pt x="366962" y="348544"/>
                  <a:pt x="366962" y="385233"/>
                  <a:pt x="330273" y="385233"/>
                </a:cubicBezTo>
                <a:lnTo>
                  <a:pt x="36762" y="385233"/>
                </a:lnTo>
                <a:cubicBezTo>
                  <a:pt x="36762" y="385233"/>
                  <a:pt x="73" y="385233"/>
                  <a:pt x="73" y="348544"/>
                </a:cubicBezTo>
                <a:lnTo>
                  <a:pt x="73" y="36688"/>
                </a:lnTo>
                <a:cubicBezTo>
                  <a:pt x="73" y="36688"/>
                  <a:pt x="73" y="0"/>
                  <a:pt x="36762" y="0"/>
                </a:cubicBezTo>
                <a:moveTo>
                  <a:pt x="366888" y="82550"/>
                </a:moveTo>
                <a:lnTo>
                  <a:pt x="310571" y="98326"/>
                </a:lnTo>
                <a:cubicBezTo>
                  <a:pt x="287532" y="105578"/>
                  <a:pt x="265877" y="116654"/>
                  <a:pt x="246512" y="131089"/>
                </a:cubicBezTo>
                <a:lnTo>
                  <a:pt x="212098" y="158606"/>
                </a:lnTo>
                <a:cubicBezTo>
                  <a:pt x="194114" y="171459"/>
                  <a:pt x="170773" y="174129"/>
                  <a:pt x="150351" y="165668"/>
                </a:cubicBezTo>
                <a:lnTo>
                  <a:pt x="124815" y="153432"/>
                </a:lnTo>
                <a:cubicBezTo>
                  <a:pt x="105062" y="145020"/>
                  <a:pt x="82176" y="149497"/>
                  <a:pt x="67048" y="164733"/>
                </a:cubicBezTo>
                <a:lnTo>
                  <a:pt x="0" y="238477"/>
                </a:lnTo>
                <a:moveTo>
                  <a:pt x="91795" y="385233"/>
                </a:moveTo>
                <a:lnTo>
                  <a:pt x="91795" y="150754"/>
                </a:lnTo>
                <a:moveTo>
                  <a:pt x="183517" y="385233"/>
                </a:moveTo>
                <a:lnTo>
                  <a:pt x="183517" y="169979"/>
                </a:lnTo>
                <a:moveTo>
                  <a:pt x="275240" y="385233"/>
                </a:moveTo>
                <a:lnTo>
                  <a:pt x="275240" y="113056"/>
                </a:lnTo>
                <a:moveTo>
                  <a:pt x="366962" y="238477"/>
                </a:moveTo>
                <a:lnTo>
                  <a:pt x="73" y="238477"/>
                </a:lnTo>
                <a:moveTo>
                  <a:pt x="366962" y="165100"/>
                </a:moveTo>
                <a:lnTo>
                  <a:pt x="201275" y="165100"/>
                </a:lnTo>
                <a:moveTo>
                  <a:pt x="366962" y="311855"/>
                </a:moveTo>
                <a:lnTo>
                  <a:pt x="73" y="311855"/>
                </a:lnTo>
              </a:path>
            </a:pathLst>
          </a:custGeom>
          <a:noFill/>
          <a:ln w="13758">
            <a:solidFill>
              <a:srgbClr val="FFFFFF"/>
            </a:solidFill>
          </a:ln>
        </p:spPr>
        <p:txBody>
          <a:bodyPr rtlCol="0" anchor="ctr"/>
          <a:lstStyle/>
          <a:p>
            <a:pPr algn="ctr"/>
          </a:p>
        </p:txBody>
      </p:sp>
      <p:sp>
        <p:nvSpPr>
          <p:cNvPr id="44" name="Rounded Rectangle 43"/>
          <p:cNvSpPr/>
          <p:nvPr/>
        </p:nvSpPr>
        <p:spPr>
          <a:xfrm>
            <a:off x="4500890" y="4943569"/>
            <a:ext cx="386576" cy="408819"/>
          </a:xfrm>
          <a:custGeom>
            <a:avLst/>
            <a:gdLst/>
            <a:ahLst/>
            <a:cxnLst/>
            <a:rect l="0" t="0" r="0" b="0"/>
            <a:pathLst>
              <a:path w="386576" h="408819">
                <a:moveTo>
                  <a:pt x="87824" y="408819"/>
                </a:moveTo>
                <a:lnTo>
                  <a:pt x="213614" y="408819"/>
                </a:lnTo>
                <a:moveTo>
                  <a:pt x="276509" y="204409"/>
                </a:moveTo>
                <a:cubicBezTo>
                  <a:pt x="262923" y="231643"/>
                  <a:pt x="240848" y="253718"/>
                  <a:pt x="213614" y="267304"/>
                </a:cubicBezTo>
                <a:lnTo>
                  <a:pt x="213614" y="314476"/>
                </a:lnTo>
                <a:cubicBezTo>
                  <a:pt x="213614" y="323160"/>
                  <a:pt x="206574" y="330200"/>
                  <a:pt x="197890" y="330200"/>
                </a:cubicBezTo>
                <a:lnTo>
                  <a:pt x="103548" y="330200"/>
                </a:lnTo>
                <a:cubicBezTo>
                  <a:pt x="94863" y="330200"/>
                  <a:pt x="87824" y="323160"/>
                  <a:pt x="87824" y="314476"/>
                </a:cubicBezTo>
                <a:lnTo>
                  <a:pt x="87824" y="267304"/>
                </a:lnTo>
                <a:cubicBezTo>
                  <a:pt x="30079" y="237558"/>
                  <a:pt x="0" y="172318"/>
                  <a:pt x="14877" y="109089"/>
                </a:cubicBezTo>
                <a:cubicBezTo>
                  <a:pt x="29755" y="45859"/>
                  <a:pt x="85768" y="877"/>
                  <a:pt x="150719" y="0"/>
                </a:cubicBezTo>
                <a:lnTo>
                  <a:pt x="150719" y="204409"/>
                </a:lnTo>
                <a:moveTo>
                  <a:pt x="260786" y="125790"/>
                </a:moveTo>
                <a:lnTo>
                  <a:pt x="260786" y="0"/>
                </a:lnTo>
                <a:cubicBezTo>
                  <a:pt x="330258" y="0"/>
                  <a:pt x="386576" y="56318"/>
                  <a:pt x="386576" y="125790"/>
                </a:cubicBezTo>
                <a:close/>
                <a:moveTo>
                  <a:pt x="182167" y="141514"/>
                </a:moveTo>
                <a:lnTo>
                  <a:pt x="9205" y="141514"/>
                </a:lnTo>
              </a:path>
            </a:pathLst>
          </a:custGeom>
          <a:noFill/>
          <a:ln w="13758">
            <a:solidFill>
              <a:srgbClr val="FFFFFF"/>
            </a:solidFill>
          </a:ln>
        </p:spPr>
        <p:txBody>
          <a:bodyPr rtlCol="0" anchor="ctr"/>
          <a:lstStyle/>
          <a:p>
            <a:pPr algn="ctr"/>
          </a:p>
        </p:txBody>
      </p:sp>
      <p:sp>
        <p:nvSpPr>
          <p:cNvPr id="45" name="TextBox 11"/>
          <p:cNvSpPr txBox="1"/>
          <p:nvPr/>
        </p:nvSpPr>
        <p:spPr>
          <a:xfrm>
            <a:off x="2907665" y="323850"/>
            <a:ext cx="6243320" cy="829945"/>
          </a:xfrm>
          <a:prstGeom prst="rect">
            <a:avLst/>
          </a:prstGeom>
          <a:noFill/>
        </p:spPr>
        <p:txBody>
          <a:bodyPr wrap="square" rtlCol="0">
            <a:spAutoFit/>
          </a:bodyPr>
          <a:p>
            <a:pPr algn="ctr"/>
            <a:r>
              <a:rPr lang="en-US" sz="4800" b="1" dirty="0">
                <a:latin typeface="Book Antiqua" panose="02040602050305030304" pitchFamily="18" charset="0"/>
              </a:rPr>
              <a:t> OBJECTIVES</a:t>
            </a:r>
            <a:endParaRPr lang="en-US" sz="4800" b="1" dirty="0">
              <a:latin typeface="Book Antiqua" panose="02040602050305030304" pitchFamily="18" charset="0"/>
            </a:endParaRPr>
          </a:p>
        </p:txBody>
      </p:sp>
      <p:sp>
        <p:nvSpPr>
          <p:cNvPr id="4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47" name="Text Box 46"/>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48" name="Text Box 47"/>
          <p:cNvSpPr txBox="1"/>
          <p:nvPr/>
        </p:nvSpPr>
        <p:spPr>
          <a:xfrm>
            <a:off x="2774950" y="5626100"/>
            <a:ext cx="4064000" cy="603885"/>
          </a:xfrm>
          <a:prstGeom prst="rect">
            <a:avLst/>
          </a:prstGeom>
          <a:noFill/>
        </p:spPr>
        <p:txBody>
          <a:bodyPr wrap="square" rtlCol="0">
            <a:noAutofit/>
          </a:bodyPr>
          <a:p>
            <a:pPr algn="ctr"/>
            <a:r>
              <a:rPr sz="2800">
                <a:solidFill>
                  <a:schemeClr val="tx1"/>
                </a:solidFill>
                <a:latin typeface="Calibri" panose="020F0502020204030204" charset="0"/>
                <a:cs typeface="Calibri" panose="020F0502020204030204" charset="0"/>
                <a:sym typeface="+mn-ea"/>
              </a:rPr>
              <a:t>Informed Clinical Decisions</a:t>
            </a:r>
            <a:endParaRPr lang="en-US" sz="2800">
              <a:solidFill>
                <a:schemeClr val="tx1"/>
              </a:solidFill>
              <a:latin typeface="Calibri" panose="020F0502020204030204" charset="0"/>
              <a:cs typeface="Calibri" panose="020F0502020204030204" charset="0"/>
              <a:sym typeface="+mn-ea"/>
            </a:endParaRPr>
          </a:p>
        </p:txBody>
      </p:sp>
      <p:sp>
        <p:nvSpPr>
          <p:cNvPr id="49"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45" name="TextBox 11"/>
          <p:cNvSpPr txBox="1"/>
          <p:nvPr/>
        </p:nvSpPr>
        <p:spPr>
          <a:xfrm>
            <a:off x="955040" y="150495"/>
            <a:ext cx="9672320" cy="829945"/>
          </a:xfrm>
          <a:prstGeom prst="rect">
            <a:avLst/>
          </a:prstGeom>
          <a:noFill/>
        </p:spPr>
        <p:txBody>
          <a:bodyPr wrap="square" rtlCol="0">
            <a:spAutoFit/>
          </a:bodyPr>
          <a:p>
            <a:pPr algn="ctr"/>
            <a:r>
              <a:rPr lang="en-US" sz="4800" b="1" dirty="0">
                <a:latin typeface="Book Antiqua" panose="02040602050305030304" pitchFamily="18" charset="0"/>
              </a:rPr>
              <a:t>PROPOSED METHODOLOGY</a:t>
            </a:r>
            <a:endParaRPr lang="en-US" sz="4800" b="1" dirty="0">
              <a:latin typeface="Book Antiqua" panose="02040602050305030304" pitchFamily="18" charset="0"/>
            </a:endParaRPr>
          </a:p>
        </p:txBody>
      </p:sp>
      <p:sp>
        <p:nvSpPr>
          <p:cNvPr id="3" name="Flowchart: Connector 2"/>
          <p:cNvSpPr/>
          <p:nvPr/>
        </p:nvSpPr>
        <p:spPr>
          <a:xfrm>
            <a:off x="673735" y="2998470"/>
            <a:ext cx="2654935" cy="1325880"/>
          </a:xfrm>
          <a:prstGeom prst="flowChartConnector">
            <a:avLst/>
          </a:prstGeom>
          <a:solidFill>
            <a:schemeClr val="accent1">
              <a:lumMod val="40000"/>
              <a:lumOff val="60000"/>
            </a:schemeClr>
          </a:solidFill>
        </p:spPr>
        <p:style>
          <a:lnRef idx="3">
            <a:schemeClr val="accent1"/>
          </a:lnRef>
          <a:fillRef idx="0">
            <a:srgbClr val="FFFFFF"/>
          </a:fillRef>
          <a:effectRef idx="0">
            <a:srgbClr val="FFFFFF"/>
          </a:effectRef>
          <a:fontRef idx="minor">
            <a:schemeClr val="dk1"/>
          </a:fontRef>
        </p:style>
        <p:txBody>
          <a:bodyPr rtlCol="0" anchor="ctr"/>
          <a:p>
            <a:pPr algn="ctr"/>
            <a:r>
              <a:rPr lang="en-US" sz="2400" b="1"/>
              <a:t>Identification of Problem Statement</a:t>
            </a:r>
            <a:endParaRPr lang="en-US" sz="2400" b="1"/>
          </a:p>
        </p:txBody>
      </p:sp>
      <p:sp>
        <p:nvSpPr>
          <p:cNvPr id="7" name="Flowchart: Connector 6"/>
          <p:cNvSpPr/>
          <p:nvPr/>
        </p:nvSpPr>
        <p:spPr>
          <a:xfrm>
            <a:off x="147955" y="1257300"/>
            <a:ext cx="3444240" cy="1403985"/>
          </a:xfrm>
          <a:prstGeom prst="flowChartConnector">
            <a:avLst/>
          </a:prstGeom>
          <a:solidFill>
            <a:schemeClr val="accent1">
              <a:lumMod val="40000"/>
              <a:lumOff val="60000"/>
            </a:schemeClr>
          </a:solidFill>
        </p:spPr>
        <p:style>
          <a:lnRef idx="3">
            <a:schemeClr val="accent1"/>
          </a:lnRef>
          <a:fillRef idx="0">
            <a:srgbClr val="FFFFFF"/>
          </a:fillRef>
          <a:effectRef idx="0">
            <a:srgbClr val="FFFFFF"/>
          </a:effectRef>
          <a:fontRef idx="minor">
            <a:schemeClr val="dk1"/>
          </a:fontRef>
        </p:style>
        <p:txBody>
          <a:bodyPr rtlCol="0" anchor="ctr"/>
          <a:p>
            <a:pPr algn="ctr"/>
            <a:r>
              <a:rPr lang="en-US" sz="2000" b="1"/>
              <a:t>Dataset identification to describle the problem statement</a:t>
            </a:r>
            <a:endParaRPr lang="en-US" sz="2000" b="1"/>
          </a:p>
        </p:txBody>
      </p:sp>
      <p:sp>
        <p:nvSpPr>
          <p:cNvPr id="8" name="Flowchart: Connector 7"/>
          <p:cNvSpPr/>
          <p:nvPr/>
        </p:nvSpPr>
        <p:spPr>
          <a:xfrm>
            <a:off x="7682230" y="4591685"/>
            <a:ext cx="2663190" cy="739140"/>
          </a:xfrm>
          <a:prstGeom prst="flowChartConnector">
            <a:avLst/>
          </a:prstGeom>
          <a:solidFill>
            <a:schemeClr val="accent1">
              <a:lumMod val="40000"/>
              <a:lumOff val="60000"/>
            </a:schemeClr>
          </a:solidFill>
        </p:spPr>
        <p:style>
          <a:lnRef idx="3">
            <a:schemeClr val="accent1"/>
          </a:lnRef>
          <a:fillRef idx="0">
            <a:srgbClr val="FFFFFF"/>
          </a:fillRef>
          <a:effectRef idx="0">
            <a:srgbClr val="FFFFFF"/>
          </a:effectRef>
          <a:fontRef idx="minor">
            <a:schemeClr val="dk1"/>
          </a:fontRef>
        </p:style>
        <p:txBody>
          <a:bodyPr rtlCol="0" anchor="ctr"/>
          <a:p>
            <a:pPr algn="ctr"/>
            <a:r>
              <a:rPr lang="en-US" sz="2400" b="1"/>
              <a:t>Feedback and Analysis</a:t>
            </a:r>
            <a:endParaRPr lang="en-US" sz="2400" b="1"/>
          </a:p>
        </p:txBody>
      </p:sp>
      <p:sp>
        <p:nvSpPr>
          <p:cNvPr id="11" name="Flowchart: Connector 10"/>
          <p:cNvSpPr/>
          <p:nvPr/>
        </p:nvSpPr>
        <p:spPr>
          <a:xfrm>
            <a:off x="1052195" y="4752975"/>
            <a:ext cx="1898650" cy="867410"/>
          </a:xfrm>
          <a:prstGeom prst="flowChartConnector">
            <a:avLst/>
          </a:prstGeom>
          <a:solidFill>
            <a:schemeClr val="accent1">
              <a:lumMod val="40000"/>
              <a:lumOff val="60000"/>
            </a:schemeClr>
          </a:solidFill>
        </p:spPr>
        <p:style>
          <a:lnRef idx="3">
            <a:schemeClr val="accent1"/>
          </a:lnRef>
          <a:fillRef idx="0">
            <a:srgbClr val="FFFFFF"/>
          </a:fillRef>
          <a:effectRef idx="0">
            <a:srgbClr val="FFFFFF"/>
          </a:effectRef>
          <a:fontRef idx="minor">
            <a:schemeClr val="dk1"/>
          </a:fontRef>
        </p:style>
        <p:txBody>
          <a:bodyPr rtlCol="0" anchor="ctr"/>
          <a:p>
            <a:pPr algn="ctr"/>
            <a:r>
              <a:rPr lang="en-US" sz="2800" b="1"/>
              <a:t>Kaggle</a:t>
            </a:r>
            <a:endParaRPr lang="en-US" sz="2800" b="1"/>
          </a:p>
        </p:txBody>
      </p:sp>
      <p:sp>
        <p:nvSpPr>
          <p:cNvPr id="12" name="Flowchart: Connector 11"/>
          <p:cNvSpPr/>
          <p:nvPr/>
        </p:nvSpPr>
        <p:spPr>
          <a:xfrm>
            <a:off x="7434580" y="989330"/>
            <a:ext cx="2911475" cy="807720"/>
          </a:xfrm>
          <a:prstGeom prst="flowChartConnector">
            <a:avLst/>
          </a:prstGeom>
          <a:solidFill>
            <a:schemeClr val="accent1">
              <a:lumMod val="40000"/>
              <a:lumOff val="60000"/>
            </a:schemeClr>
          </a:solidFill>
        </p:spPr>
        <p:style>
          <a:lnRef idx="3">
            <a:schemeClr val="accent1"/>
          </a:lnRef>
          <a:fillRef idx="0">
            <a:srgbClr val="FFFFFF"/>
          </a:fillRef>
          <a:effectRef idx="0">
            <a:srgbClr val="FFFFFF"/>
          </a:effectRef>
          <a:fontRef idx="minor">
            <a:schemeClr val="dk1"/>
          </a:fontRef>
        </p:style>
        <p:txBody>
          <a:bodyPr rtlCol="0" anchor="ctr"/>
          <a:p>
            <a:pPr algn="ctr"/>
            <a:r>
              <a:rPr lang="en-US" sz="2400" b="1"/>
              <a:t>Exploraory Data Analysis</a:t>
            </a:r>
            <a:endParaRPr lang="en-US" sz="2400" b="1"/>
          </a:p>
        </p:txBody>
      </p:sp>
      <p:sp>
        <p:nvSpPr>
          <p:cNvPr id="13" name="Flowchart: Connector 12"/>
          <p:cNvSpPr/>
          <p:nvPr/>
        </p:nvSpPr>
        <p:spPr>
          <a:xfrm>
            <a:off x="4058920" y="1257300"/>
            <a:ext cx="2774950" cy="979805"/>
          </a:xfrm>
          <a:prstGeom prst="flowChartConnector">
            <a:avLst/>
          </a:prstGeom>
          <a:solidFill>
            <a:schemeClr val="accent1">
              <a:lumMod val="40000"/>
              <a:lumOff val="60000"/>
            </a:schemeClr>
          </a:solidFill>
        </p:spPr>
        <p:style>
          <a:lnRef idx="3">
            <a:schemeClr val="accent1"/>
          </a:lnRef>
          <a:fillRef idx="0">
            <a:srgbClr val="FFFFFF"/>
          </a:fillRef>
          <a:effectRef idx="0">
            <a:srgbClr val="FFFFFF"/>
          </a:effectRef>
          <a:fontRef idx="minor">
            <a:schemeClr val="dk1"/>
          </a:fontRef>
        </p:style>
        <p:txBody>
          <a:bodyPr rtlCol="0" anchor="ctr"/>
          <a:p>
            <a:pPr algn="ctr"/>
            <a:r>
              <a:rPr lang="en-US" sz="2400" b="1"/>
              <a:t>Preprocessing</a:t>
            </a:r>
            <a:endParaRPr lang="en-US" sz="2400" b="1"/>
          </a:p>
        </p:txBody>
      </p:sp>
      <p:sp>
        <p:nvSpPr>
          <p:cNvPr id="14" name="Flowchart: Connector 13"/>
          <p:cNvSpPr/>
          <p:nvPr/>
        </p:nvSpPr>
        <p:spPr>
          <a:xfrm>
            <a:off x="7301230" y="1988820"/>
            <a:ext cx="3302000" cy="1246505"/>
          </a:xfrm>
          <a:prstGeom prst="flowChartConnector">
            <a:avLst/>
          </a:prstGeom>
          <a:solidFill>
            <a:schemeClr val="accent1">
              <a:lumMod val="40000"/>
              <a:lumOff val="60000"/>
            </a:schemeClr>
          </a:solidFill>
        </p:spPr>
        <p:style>
          <a:lnRef idx="3">
            <a:schemeClr val="accent1"/>
          </a:lnRef>
          <a:fillRef idx="0">
            <a:srgbClr val="FFFFFF"/>
          </a:fillRef>
          <a:effectRef idx="0">
            <a:srgbClr val="FFFFFF"/>
          </a:effectRef>
          <a:fontRef idx="minor">
            <a:schemeClr val="dk1"/>
          </a:fontRef>
        </p:style>
        <p:txBody>
          <a:bodyPr rtlCol="0" anchor="ctr"/>
          <a:p>
            <a:pPr algn="ctr"/>
            <a:r>
              <a:rPr lang="en-US" sz="2400" b="1"/>
              <a:t>Train attributes with traditional ML algorithm </a:t>
            </a:r>
            <a:endParaRPr lang="en-US" sz="2400" b="1"/>
          </a:p>
        </p:txBody>
      </p:sp>
      <p:sp>
        <p:nvSpPr>
          <p:cNvPr id="15" name="Flowchart: Connector 14"/>
          <p:cNvSpPr/>
          <p:nvPr/>
        </p:nvSpPr>
        <p:spPr>
          <a:xfrm>
            <a:off x="7257415" y="3445510"/>
            <a:ext cx="3281045" cy="972820"/>
          </a:xfrm>
          <a:prstGeom prst="flowChartConnector">
            <a:avLst/>
          </a:prstGeom>
          <a:solidFill>
            <a:schemeClr val="accent1">
              <a:lumMod val="40000"/>
              <a:lumOff val="60000"/>
            </a:schemeClr>
          </a:solidFill>
        </p:spPr>
        <p:style>
          <a:lnRef idx="3">
            <a:schemeClr val="accent1"/>
          </a:lnRef>
          <a:fillRef idx="0">
            <a:srgbClr val="FFFFFF"/>
          </a:fillRef>
          <a:effectRef idx="0">
            <a:srgbClr val="FFFFFF"/>
          </a:effectRef>
          <a:fontRef idx="minor">
            <a:schemeClr val="dk1"/>
          </a:fontRef>
        </p:style>
        <p:txBody>
          <a:bodyPr rtlCol="0" anchor="ctr"/>
          <a:p>
            <a:pPr algn="ctr"/>
            <a:r>
              <a:rPr lang="en-US" sz="2400" b="1"/>
              <a:t>Analysis the performance of ML model</a:t>
            </a:r>
            <a:endParaRPr lang="en-US" sz="2400" b="1"/>
          </a:p>
        </p:txBody>
      </p:sp>
      <p:sp>
        <p:nvSpPr>
          <p:cNvPr id="16" name="Flowchart: Connector 15"/>
          <p:cNvSpPr/>
          <p:nvPr/>
        </p:nvSpPr>
        <p:spPr>
          <a:xfrm>
            <a:off x="4545330" y="4875530"/>
            <a:ext cx="2376170" cy="1109345"/>
          </a:xfrm>
          <a:prstGeom prst="flowChartConnector">
            <a:avLst/>
          </a:prstGeom>
          <a:solidFill>
            <a:schemeClr val="accent1">
              <a:lumMod val="40000"/>
              <a:lumOff val="60000"/>
            </a:schemeClr>
          </a:solidFill>
        </p:spPr>
        <p:style>
          <a:lnRef idx="3">
            <a:schemeClr val="accent1"/>
          </a:lnRef>
          <a:fillRef idx="0">
            <a:srgbClr val="FFFFFF"/>
          </a:fillRef>
          <a:effectRef idx="0">
            <a:srgbClr val="FFFFFF"/>
          </a:effectRef>
          <a:fontRef idx="minor">
            <a:schemeClr val="dk1"/>
          </a:fontRef>
        </p:style>
        <p:txBody>
          <a:bodyPr rtlCol="0" anchor="ctr"/>
          <a:p>
            <a:pPr algn="ctr"/>
            <a:r>
              <a:rPr lang="en-US" sz="2200" b="1"/>
              <a:t>Update as per suggestion</a:t>
            </a:r>
            <a:endParaRPr lang="en-US" sz="2200" b="1"/>
          </a:p>
        </p:txBody>
      </p:sp>
      <p:sp>
        <p:nvSpPr>
          <p:cNvPr id="20" name="Flowchart: Process 19"/>
          <p:cNvSpPr/>
          <p:nvPr/>
        </p:nvSpPr>
        <p:spPr>
          <a:xfrm>
            <a:off x="4781550" y="3148330"/>
            <a:ext cx="1686560" cy="950595"/>
          </a:xfrm>
          <a:prstGeom prst="flowChartProcess">
            <a:avLst/>
          </a:prstGeom>
          <a:solidFill>
            <a:schemeClr val="accent1">
              <a:lumMod val="40000"/>
              <a:lumOff val="60000"/>
            </a:schemeClr>
          </a:solidFill>
        </p:spPr>
        <p:style>
          <a:lnRef idx="3">
            <a:schemeClr val="accent1"/>
          </a:lnRef>
          <a:fillRef idx="0">
            <a:srgbClr val="FFFFFF"/>
          </a:fillRef>
          <a:effectRef idx="0">
            <a:srgbClr val="FFFFFF"/>
          </a:effectRef>
          <a:fontRef idx="minor">
            <a:schemeClr val="dk1"/>
          </a:fontRef>
        </p:style>
        <p:txBody>
          <a:bodyPr rtlCol="0" anchor="ctr"/>
          <a:p>
            <a:pPr algn="ctr"/>
            <a:r>
              <a:rPr lang="en-US" sz="2800" b="1"/>
              <a:t>Import Dataset</a:t>
            </a:r>
            <a:endParaRPr lang="en-US" sz="2800" b="1"/>
          </a:p>
        </p:txBody>
      </p:sp>
      <p:sp>
        <p:nvSpPr>
          <p:cNvPr id="21" name="Flowchart: Decision 20"/>
          <p:cNvSpPr/>
          <p:nvPr/>
        </p:nvSpPr>
        <p:spPr>
          <a:xfrm>
            <a:off x="7500620" y="5514340"/>
            <a:ext cx="2526030" cy="749300"/>
          </a:xfrm>
          <a:prstGeom prst="flowChartDecision">
            <a:avLst/>
          </a:prstGeom>
          <a:solidFill>
            <a:schemeClr val="accent1">
              <a:lumMod val="40000"/>
              <a:lumOff val="60000"/>
            </a:schemeClr>
          </a:solidFill>
        </p:spPr>
        <p:style>
          <a:lnRef idx="3">
            <a:schemeClr val="accent1"/>
          </a:lnRef>
          <a:fillRef idx="0">
            <a:srgbClr val="FFFFFF"/>
          </a:fillRef>
          <a:effectRef idx="0">
            <a:srgbClr val="FFFFFF"/>
          </a:effectRef>
          <a:fontRef idx="minor">
            <a:schemeClr val="dk1"/>
          </a:fontRef>
        </p:style>
        <p:txBody>
          <a:bodyPr rtlCol="0" anchor="ctr"/>
          <a:p>
            <a:pPr algn="ctr"/>
            <a:r>
              <a:rPr lang="en-US" sz="2400" b="1"/>
              <a:t>Decision</a:t>
            </a:r>
            <a:endParaRPr lang="en-US" sz="2400" b="1"/>
          </a:p>
        </p:txBody>
      </p:sp>
      <p:cxnSp>
        <p:nvCxnSpPr>
          <p:cNvPr id="30" name="Straight Arrow Connector 29"/>
          <p:cNvCxnSpPr>
            <a:stCxn id="3" idx="4"/>
            <a:endCxn id="11" idx="0"/>
          </p:cNvCxnSpPr>
          <p:nvPr/>
        </p:nvCxnSpPr>
        <p:spPr>
          <a:xfrm>
            <a:off x="2001520" y="4324350"/>
            <a:ext cx="0" cy="428625"/>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26" name="Straight Arrow Connector 25"/>
          <p:cNvCxnSpPr>
            <a:stCxn id="3" idx="0"/>
          </p:cNvCxnSpPr>
          <p:nvPr/>
        </p:nvCxnSpPr>
        <p:spPr>
          <a:xfrm flipH="1" flipV="1">
            <a:off x="2000885" y="2644775"/>
            <a:ext cx="635" cy="353695"/>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27" name="Straight Arrow Connector 26"/>
          <p:cNvCxnSpPr>
            <a:stCxn id="3" idx="6"/>
          </p:cNvCxnSpPr>
          <p:nvPr/>
        </p:nvCxnSpPr>
        <p:spPr>
          <a:xfrm flipV="1">
            <a:off x="3328670" y="3649980"/>
            <a:ext cx="1443990" cy="11430"/>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28" name="Straight Arrow Connector 27"/>
          <p:cNvCxnSpPr/>
          <p:nvPr/>
        </p:nvCxnSpPr>
        <p:spPr>
          <a:xfrm flipV="1">
            <a:off x="5570220" y="2254885"/>
            <a:ext cx="8890" cy="861060"/>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29" name="Straight Arrow Connector 28"/>
          <p:cNvCxnSpPr/>
          <p:nvPr/>
        </p:nvCxnSpPr>
        <p:spPr>
          <a:xfrm flipV="1">
            <a:off x="6856730" y="1494155"/>
            <a:ext cx="643255" cy="135890"/>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31" name="Straight Arrow Connector 30"/>
          <p:cNvCxnSpPr/>
          <p:nvPr/>
        </p:nvCxnSpPr>
        <p:spPr>
          <a:xfrm flipH="1">
            <a:off x="8840470" y="1815465"/>
            <a:ext cx="5080" cy="194945"/>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32" name="Straight Arrow Connector 31"/>
          <p:cNvCxnSpPr/>
          <p:nvPr/>
        </p:nvCxnSpPr>
        <p:spPr>
          <a:xfrm flipH="1">
            <a:off x="8845550" y="3242945"/>
            <a:ext cx="5080" cy="194945"/>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33" name="Straight Arrow Connector 32"/>
          <p:cNvCxnSpPr/>
          <p:nvPr/>
        </p:nvCxnSpPr>
        <p:spPr>
          <a:xfrm flipH="1">
            <a:off x="8840470" y="4425950"/>
            <a:ext cx="5080" cy="194945"/>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34" name="Straight Arrow Connector 33"/>
          <p:cNvCxnSpPr/>
          <p:nvPr/>
        </p:nvCxnSpPr>
        <p:spPr>
          <a:xfrm flipH="1">
            <a:off x="8796020" y="5335270"/>
            <a:ext cx="17145" cy="190500"/>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35" name="Straight Arrow Connector 34"/>
          <p:cNvCxnSpPr>
            <a:stCxn id="21" idx="1"/>
          </p:cNvCxnSpPr>
          <p:nvPr/>
        </p:nvCxnSpPr>
        <p:spPr>
          <a:xfrm flipH="1" flipV="1">
            <a:off x="6869430" y="5535295"/>
            <a:ext cx="631190" cy="353695"/>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37" name="Curved Connector 36"/>
          <p:cNvCxnSpPr>
            <a:stCxn id="16" idx="0"/>
            <a:endCxn id="8" idx="2"/>
          </p:cNvCxnSpPr>
          <p:nvPr/>
        </p:nvCxnSpPr>
        <p:spPr>
          <a:xfrm rot="16200000" flipH="1">
            <a:off x="6664325" y="3943985"/>
            <a:ext cx="85725" cy="1948815"/>
          </a:xfrm>
          <a:prstGeom prst="curvedConnector4">
            <a:avLst>
              <a:gd name="adj1" fmla="val -608889"/>
              <a:gd name="adj2" fmla="val 80482"/>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sp>
        <p:nvSpPr>
          <p:cNvPr id="38" name="Flowchart: Process 37"/>
          <p:cNvSpPr/>
          <p:nvPr/>
        </p:nvSpPr>
        <p:spPr>
          <a:xfrm>
            <a:off x="10412095" y="5335270"/>
            <a:ext cx="1686560" cy="950595"/>
          </a:xfrm>
          <a:prstGeom prst="flowChartProcess">
            <a:avLst/>
          </a:prstGeom>
          <a:solidFill>
            <a:schemeClr val="accent1">
              <a:lumMod val="40000"/>
              <a:lumOff val="60000"/>
            </a:schemeClr>
          </a:solidFill>
        </p:spPr>
        <p:style>
          <a:lnRef idx="3">
            <a:schemeClr val="accent1"/>
          </a:lnRef>
          <a:fillRef idx="0">
            <a:srgbClr val="FFFFFF"/>
          </a:fillRef>
          <a:effectRef idx="0">
            <a:srgbClr val="FFFFFF"/>
          </a:effectRef>
          <a:fontRef idx="minor">
            <a:schemeClr val="dk1"/>
          </a:fontRef>
        </p:style>
        <p:txBody>
          <a:bodyPr rtlCol="0" anchor="ctr"/>
          <a:p>
            <a:pPr algn="ctr"/>
            <a:r>
              <a:rPr lang="en-US" sz="2800" b="1"/>
              <a:t>Deploy Model</a:t>
            </a:r>
            <a:endParaRPr lang="en-US" sz="2800" b="1"/>
          </a:p>
        </p:txBody>
      </p:sp>
      <p:cxnSp>
        <p:nvCxnSpPr>
          <p:cNvPr id="39" name="Straight Arrow Connector 38"/>
          <p:cNvCxnSpPr>
            <a:stCxn id="21" idx="3"/>
          </p:cNvCxnSpPr>
          <p:nvPr/>
        </p:nvCxnSpPr>
        <p:spPr>
          <a:xfrm>
            <a:off x="10026650" y="5888990"/>
            <a:ext cx="389890" cy="8255"/>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sp>
        <p:nvSpPr>
          <p:cNvPr id="40" name="Text Box 39"/>
          <p:cNvSpPr txBox="1"/>
          <p:nvPr/>
        </p:nvSpPr>
        <p:spPr>
          <a:xfrm>
            <a:off x="9925685" y="5437505"/>
            <a:ext cx="676910" cy="345440"/>
          </a:xfrm>
          <a:prstGeom prst="rect">
            <a:avLst/>
          </a:prstGeom>
          <a:noFill/>
        </p:spPr>
        <p:txBody>
          <a:bodyPr wrap="square" rtlCol="0">
            <a:noAutofit/>
          </a:bodyPr>
          <a:p>
            <a:r>
              <a:rPr lang="en-US" b="1"/>
              <a:t>Yes</a:t>
            </a:r>
            <a:endParaRPr lang="en-US" b="1"/>
          </a:p>
        </p:txBody>
      </p:sp>
      <p:sp>
        <p:nvSpPr>
          <p:cNvPr id="41" name="Text Box 40"/>
          <p:cNvSpPr txBox="1"/>
          <p:nvPr/>
        </p:nvSpPr>
        <p:spPr>
          <a:xfrm>
            <a:off x="7217410" y="5398135"/>
            <a:ext cx="654050" cy="368300"/>
          </a:xfrm>
          <a:prstGeom prst="rect">
            <a:avLst/>
          </a:prstGeom>
          <a:noFill/>
        </p:spPr>
        <p:txBody>
          <a:bodyPr wrap="square" rtlCol="0">
            <a:spAutoFit/>
          </a:bodyPr>
          <a:p>
            <a:r>
              <a:rPr lang="en-US" b="1"/>
              <a:t>No</a:t>
            </a:r>
            <a:endParaRPr lang="en-US"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7" name="TextBox 11"/>
          <p:cNvSpPr txBox="1"/>
          <p:nvPr/>
        </p:nvSpPr>
        <p:spPr>
          <a:xfrm>
            <a:off x="955040" y="150495"/>
            <a:ext cx="9672320" cy="829945"/>
          </a:xfrm>
          <a:prstGeom prst="rect">
            <a:avLst/>
          </a:prstGeom>
          <a:noFill/>
        </p:spPr>
        <p:txBody>
          <a:bodyPr wrap="square" rtlCol="0">
            <a:spAutoFit/>
          </a:bodyPr>
          <a:p>
            <a:pPr algn="ctr"/>
            <a:r>
              <a:rPr lang="en-US" sz="4800" b="1" dirty="0">
                <a:latin typeface="Book Antiqua" panose="02040602050305030304" pitchFamily="18" charset="0"/>
              </a:rPr>
              <a:t>DATASET ATTRIBUTES</a:t>
            </a:r>
            <a:endParaRPr lang="en-US" sz="4800" b="1" dirty="0">
              <a:latin typeface="Book Antiqua" panose="02040602050305030304" pitchFamily="18" charset="0"/>
            </a:endParaRPr>
          </a:p>
        </p:txBody>
      </p:sp>
      <p:sp>
        <p:nvSpPr>
          <p:cNvPr id="8" name="Text Box 7"/>
          <p:cNvSpPr txBox="1"/>
          <p:nvPr/>
        </p:nvSpPr>
        <p:spPr>
          <a:xfrm>
            <a:off x="292735" y="1192530"/>
            <a:ext cx="11353165" cy="5045710"/>
          </a:xfrm>
          <a:prstGeom prst="rect">
            <a:avLst/>
          </a:prstGeom>
          <a:noFill/>
        </p:spPr>
        <p:txBody>
          <a:bodyPr wrap="square" rtlCol="0">
            <a:noAutofit/>
          </a:bodyPr>
          <a:p>
            <a:pPr indent="0">
              <a:buFont typeface="Wingdings" panose="05000000000000000000" charset="0"/>
              <a:buNone/>
            </a:pPr>
            <a:r>
              <a:rPr lang="en-US" altLang="en-US" sz="2800"/>
              <a:t>The data for the study were retrieved from</a:t>
            </a:r>
            <a:r>
              <a:rPr lang="en-US" sz="2800"/>
              <a:t> kaggle.Here we have used 2 different dataset prediction.</a:t>
            </a:r>
            <a:endParaRPr lang="en-US" sz="2800"/>
          </a:p>
          <a:p>
            <a:pPr indent="0">
              <a:buFont typeface="Wingdings" panose="05000000000000000000" charset="0"/>
              <a:buNone/>
            </a:pPr>
            <a:endParaRPr lang="en-US" sz="2800"/>
          </a:p>
          <a:p>
            <a:pPr marL="457200" indent="-457200" algn="just">
              <a:buFont typeface="Wingdings" panose="05000000000000000000" charset="0"/>
              <a:buChar char="Ø"/>
            </a:pPr>
            <a:r>
              <a:rPr lang="en-US" sz="2800" b="1">
                <a:sym typeface="+mn-ea"/>
              </a:rPr>
              <a:t>Dataset 1:</a:t>
            </a:r>
            <a:r>
              <a:rPr lang="en-US" sz="2800">
                <a:sym typeface="+mn-ea"/>
              </a:rPr>
              <a:t> </a:t>
            </a:r>
            <a:r>
              <a:rPr lang="en-US" altLang="en-US" sz="2800">
                <a:sym typeface="+mn-ea"/>
              </a:rPr>
              <a:t>The entire dataset consisted of 918 rows and 12 columns</a:t>
            </a:r>
            <a:endParaRPr lang="en-US" altLang="en-US" sz="2800"/>
          </a:p>
          <a:p>
            <a:pPr indent="0" algn="just">
              <a:buFont typeface="Wingdings" panose="05000000000000000000" charset="0"/>
              <a:buNone/>
            </a:pPr>
            <a:r>
              <a:rPr lang="en-US" altLang="en-US" sz="2800">
                <a:sym typeface="+mn-ea"/>
              </a:rPr>
              <a:t>and consisted of multiple features like </a:t>
            </a:r>
            <a:r>
              <a:rPr sz="2800">
                <a:solidFill>
                  <a:srgbClr val="000000"/>
                </a:solidFill>
                <a:latin typeface="Calibri" panose="020F0502020204030204"/>
                <a:ea typeface="Calibri" panose="020F0502020204030204"/>
                <a:sym typeface="+mn-ea"/>
              </a:rPr>
              <a:t>Age</a:t>
            </a:r>
            <a:r>
              <a:rPr lang="en-US" sz="2800">
                <a:solidFill>
                  <a:srgbClr val="000000"/>
                </a:solidFill>
                <a:latin typeface="Calibri" panose="020F0502020204030204"/>
                <a:ea typeface="Calibri" panose="020F0502020204030204"/>
                <a:sym typeface="+mn-ea"/>
              </a:rPr>
              <a:t>, Sex, ChestPain, RestingBP, Cholesterol, FastingBS, RestingECG, MaxHR and many more...</a:t>
            </a:r>
            <a:endParaRPr lang="en-US" sz="2800">
              <a:solidFill>
                <a:srgbClr val="000000"/>
              </a:solidFill>
              <a:latin typeface="Calibri" panose="020F0502020204030204"/>
              <a:ea typeface="Calibri" panose="020F0502020204030204"/>
              <a:sym typeface="+mn-ea"/>
            </a:endParaRPr>
          </a:p>
          <a:p>
            <a:pPr marL="457200" indent="-457200">
              <a:buFont typeface="Wingdings" panose="05000000000000000000" charset="0"/>
              <a:buChar char="Ø"/>
            </a:pPr>
            <a:endParaRPr lang="en-US" sz="2800">
              <a:solidFill>
                <a:srgbClr val="000000"/>
              </a:solidFill>
              <a:latin typeface="Calibri" panose="020F0502020204030204"/>
              <a:ea typeface="Calibri" panose="020F0502020204030204"/>
              <a:sym typeface="+mn-ea"/>
            </a:endParaRPr>
          </a:p>
          <a:p>
            <a:pPr marL="457200" indent="-457200" algn="just">
              <a:buFont typeface="Wingdings" panose="05000000000000000000" charset="0"/>
              <a:buChar char="Ø"/>
            </a:pPr>
            <a:r>
              <a:rPr lang="en-US" sz="2800" b="1">
                <a:sym typeface="+mn-ea"/>
              </a:rPr>
              <a:t>Dataset 2:</a:t>
            </a:r>
            <a:r>
              <a:rPr lang="en-US" sz="2800">
                <a:sym typeface="+mn-ea"/>
              </a:rPr>
              <a:t> </a:t>
            </a:r>
            <a:r>
              <a:rPr lang="en-US" altLang="en-US" sz="2800">
                <a:sym typeface="+mn-ea"/>
              </a:rPr>
              <a:t>The entire dataset consisted of 1025 rows and 14 columns</a:t>
            </a:r>
            <a:endParaRPr lang="en-US" altLang="en-US" sz="2800"/>
          </a:p>
          <a:p>
            <a:pPr indent="0" algn="just">
              <a:buFont typeface="Wingdings" panose="05000000000000000000" charset="0"/>
              <a:buNone/>
            </a:pPr>
            <a:r>
              <a:rPr lang="en-US" altLang="en-US" sz="2800">
                <a:sym typeface="+mn-ea"/>
              </a:rPr>
              <a:t>and consisted of multiple features like </a:t>
            </a:r>
            <a:r>
              <a:rPr sz="2800">
                <a:solidFill>
                  <a:srgbClr val="000000"/>
                </a:solidFill>
                <a:latin typeface="Calibri" panose="020F0502020204030204"/>
                <a:ea typeface="Calibri" panose="020F0502020204030204"/>
                <a:sym typeface="+mn-ea"/>
              </a:rPr>
              <a:t>Age</a:t>
            </a:r>
            <a:r>
              <a:rPr lang="en-US" sz="2800">
                <a:solidFill>
                  <a:srgbClr val="000000"/>
                </a:solidFill>
                <a:latin typeface="Calibri" panose="020F0502020204030204"/>
                <a:ea typeface="Calibri" panose="020F0502020204030204"/>
                <a:sym typeface="+mn-ea"/>
              </a:rPr>
              <a:t>, Sex, ChestPain, Slope, Thalach, FastingBS, Oldpeak, Thal and many more...</a:t>
            </a:r>
            <a:endParaRPr sz="2800" b="0" i="0">
              <a:solidFill>
                <a:srgbClr val="000000"/>
              </a:solidFill>
              <a:latin typeface="Calibri" panose="020F0502020204030204"/>
              <a:ea typeface="Calibri" panose="020F0502020204030204"/>
            </a:endParaRPr>
          </a:p>
          <a:p>
            <a:pPr indent="0" algn="just">
              <a:buFont typeface="Wingdings" panose="05000000000000000000" charset="0"/>
              <a:buNone/>
            </a:pPr>
            <a:endParaRPr sz="2800" b="0" i="0">
              <a:solidFill>
                <a:srgbClr val="000000"/>
              </a:solidFill>
              <a:latin typeface="Calibri" panose="020F0502020204030204"/>
              <a:ea typeface="Calibri" panose="020F0502020204030204"/>
            </a:endParaRPr>
          </a:p>
          <a:p>
            <a:pPr indent="0" algn="just">
              <a:buFont typeface="Wingdings" panose="05000000000000000000" charset="0"/>
              <a:buNone/>
            </a:pPr>
            <a:endParaRPr lang="en-US" altLang="en-US" sz="2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45" name="TextBox 11"/>
          <p:cNvSpPr txBox="1"/>
          <p:nvPr/>
        </p:nvSpPr>
        <p:spPr>
          <a:xfrm>
            <a:off x="955040" y="150495"/>
            <a:ext cx="9672320" cy="829945"/>
          </a:xfrm>
          <a:prstGeom prst="rect">
            <a:avLst/>
          </a:prstGeom>
          <a:noFill/>
        </p:spPr>
        <p:txBody>
          <a:bodyPr wrap="square" rtlCol="0">
            <a:spAutoFit/>
          </a:bodyPr>
          <a:p>
            <a:pPr algn="ctr"/>
            <a:r>
              <a:rPr lang="en-US" sz="4800" b="1" dirty="0">
                <a:latin typeface="Book Antiqua" panose="02040602050305030304" pitchFamily="18" charset="0"/>
              </a:rPr>
              <a:t>TOOLS &amp; TECHNOLOGY</a:t>
            </a:r>
            <a:endParaRPr lang="en-US" sz="4800" b="1" dirty="0">
              <a:latin typeface="Book Antiqua" panose="02040602050305030304" pitchFamily="18" charset="0"/>
            </a:endParaRPr>
          </a:p>
        </p:txBody>
      </p:sp>
      <p:sp>
        <p:nvSpPr>
          <p:cNvPr id="3" name="Text Box 2"/>
          <p:cNvSpPr txBox="1"/>
          <p:nvPr/>
        </p:nvSpPr>
        <p:spPr>
          <a:xfrm>
            <a:off x="582930" y="1480820"/>
            <a:ext cx="11330940" cy="4815205"/>
          </a:xfrm>
          <a:prstGeom prst="rect">
            <a:avLst/>
          </a:prstGeom>
          <a:noFill/>
        </p:spPr>
        <p:txBody>
          <a:bodyPr wrap="square" rtlCol="0">
            <a:noAutofit/>
          </a:bodyPr>
          <a:p>
            <a:pPr marL="285750" indent="-285750">
              <a:buFont typeface="Wingdings" panose="05000000000000000000" charset="0"/>
              <a:buChar char="v"/>
            </a:pPr>
            <a:r>
              <a:rPr lang="en-US" sz="3200" b="1">
                <a:latin typeface="Times New Roman" panose="02020603050405020304" charset="0"/>
                <a:cs typeface="Times New Roman" panose="02020603050405020304" charset="0"/>
              </a:rPr>
              <a:t>HTML, CSS, BOOTSTRAP :</a:t>
            </a:r>
            <a:r>
              <a:rPr lang="en-US" sz="3200">
                <a:latin typeface="Times New Roman" panose="02020603050405020304" charset="0"/>
                <a:cs typeface="Times New Roman" panose="02020603050405020304" charset="0"/>
              </a:rPr>
              <a:t> Front-End Framework for Styling</a:t>
            </a:r>
            <a:endParaRPr lang="en-US" sz="3200">
              <a:latin typeface="Times New Roman" panose="02020603050405020304" charset="0"/>
              <a:cs typeface="Times New Roman" panose="02020603050405020304" charset="0"/>
            </a:endParaRPr>
          </a:p>
          <a:p>
            <a:pPr indent="0">
              <a:buFont typeface="Wingdings" panose="05000000000000000000" charset="0"/>
              <a:buNone/>
            </a:pPr>
            <a:endParaRPr lang="en-US" sz="3200">
              <a:latin typeface="Times New Roman" panose="02020603050405020304" charset="0"/>
              <a:cs typeface="Times New Roman" panose="02020603050405020304" charset="0"/>
            </a:endParaRPr>
          </a:p>
          <a:p>
            <a:pPr marL="285750" indent="-285750">
              <a:buFont typeface="Wingdings" panose="05000000000000000000" charset="0"/>
              <a:buChar char="v"/>
            </a:pPr>
            <a:r>
              <a:rPr lang="en-US" sz="3200" b="1">
                <a:latin typeface="Times New Roman" panose="02020603050405020304" charset="0"/>
                <a:cs typeface="Times New Roman" panose="02020603050405020304" charset="0"/>
              </a:rPr>
              <a:t>Flask: </a:t>
            </a:r>
            <a:r>
              <a:rPr lang="en-US" sz="3200">
                <a:latin typeface="Times New Roman" panose="02020603050405020304" charset="0"/>
                <a:cs typeface="Times New Roman" panose="02020603050405020304" charset="0"/>
              </a:rPr>
              <a:t>Web Framework for building the Web-Application</a:t>
            </a:r>
            <a:endParaRPr lang="en-US" sz="3200">
              <a:latin typeface="Times New Roman" panose="02020603050405020304" charset="0"/>
              <a:cs typeface="Times New Roman" panose="02020603050405020304" charset="0"/>
            </a:endParaRPr>
          </a:p>
          <a:p>
            <a:pPr indent="0">
              <a:buFont typeface="Wingdings" panose="05000000000000000000" charset="0"/>
              <a:buNone/>
            </a:pPr>
            <a:endParaRPr lang="en-US" sz="3200">
              <a:latin typeface="Times New Roman" panose="02020603050405020304" charset="0"/>
              <a:cs typeface="Times New Roman" panose="02020603050405020304" charset="0"/>
            </a:endParaRPr>
          </a:p>
          <a:p>
            <a:pPr marL="285750" indent="-285750">
              <a:buFont typeface="Wingdings" panose="05000000000000000000" charset="0"/>
              <a:buChar char="v"/>
            </a:pPr>
            <a:r>
              <a:rPr lang="en-US" sz="3200" b="1">
                <a:latin typeface="Times New Roman" panose="02020603050405020304" charset="0"/>
                <a:cs typeface="Times New Roman" panose="02020603050405020304" charset="0"/>
              </a:rPr>
              <a:t>Google Colab:</a:t>
            </a:r>
            <a:r>
              <a:rPr lang="en-US" sz="3200">
                <a:latin typeface="Times New Roman" panose="02020603050405020304" charset="0"/>
                <a:cs typeface="Times New Roman" panose="02020603050405020304" charset="0"/>
              </a:rPr>
              <a:t> For Model Training</a:t>
            </a:r>
            <a:endParaRPr lang="en-US" sz="3200">
              <a:latin typeface="Times New Roman" panose="02020603050405020304" charset="0"/>
              <a:cs typeface="Times New Roman" panose="02020603050405020304" charset="0"/>
            </a:endParaRPr>
          </a:p>
          <a:p>
            <a:pPr indent="0">
              <a:buFont typeface="Wingdings" panose="05000000000000000000" charset="0"/>
              <a:buNone/>
            </a:pPr>
            <a:endParaRPr lang="en-US" sz="3200">
              <a:latin typeface="Times New Roman" panose="02020603050405020304" charset="0"/>
              <a:cs typeface="Times New Roman" panose="02020603050405020304" charset="0"/>
            </a:endParaRPr>
          </a:p>
          <a:p>
            <a:pPr marL="285750" indent="-285750">
              <a:buFont typeface="Wingdings" panose="05000000000000000000" charset="0"/>
              <a:buChar char="v"/>
            </a:pPr>
            <a:r>
              <a:rPr lang="en-US" sz="3200" b="1">
                <a:latin typeface="Times New Roman" panose="02020603050405020304" charset="0"/>
                <a:cs typeface="Times New Roman" panose="02020603050405020304" charset="0"/>
              </a:rPr>
              <a:t>Libray: </a:t>
            </a:r>
            <a:r>
              <a:rPr lang="en-US" sz="3200">
                <a:latin typeface="Times New Roman" panose="02020603050405020304" charset="0"/>
                <a:cs typeface="Times New Roman" panose="02020603050405020304" charset="0"/>
              </a:rPr>
              <a:t>M</a:t>
            </a:r>
            <a:r>
              <a:rPr lang="en-US" altLang="en-US" sz="3200">
                <a:latin typeface="Times New Roman" panose="02020603050405020304" charset="0"/>
                <a:cs typeface="Times New Roman" panose="02020603050405020304" charset="0"/>
              </a:rPr>
              <a:t>atplotlib,Numpy,Pandas,Seaborn,Scikit-learn</a:t>
            </a:r>
            <a:endParaRPr lang="en-US" altLang="en-US" sz="3200">
              <a:latin typeface="Times New Roman" panose="02020603050405020304" charset="0"/>
              <a:cs typeface="Times New Roman" panose="02020603050405020304" charset="0"/>
            </a:endParaRPr>
          </a:p>
          <a:p>
            <a:pPr marL="285750" indent="-285750">
              <a:buFont typeface="Wingdings" panose="05000000000000000000" charset="0"/>
              <a:buChar char="v"/>
            </a:pPr>
            <a:endParaRPr lang="en-US" sz="320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45" name="TextBox 11"/>
          <p:cNvSpPr txBox="1"/>
          <p:nvPr/>
        </p:nvSpPr>
        <p:spPr>
          <a:xfrm>
            <a:off x="1428750" y="150495"/>
            <a:ext cx="9198610" cy="829945"/>
          </a:xfrm>
          <a:prstGeom prst="rect">
            <a:avLst/>
          </a:prstGeom>
          <a:noFill/>
        </p:spPr>
        <p:txBody>
          <a:bodyPr wrap="square" rtlCol="0">
            <a:spAutoFit/>
          </a:bodyPr>
          <a:p>
            <a:pPr algn="ctr"/>
            <a:r>
              <a:rPr lang="en-US" sz="4800" b="1" dirty="0">
                <a:latin typeface="Book Antiqua" panose="02040602050305030304" pitchFamily="18" charset="0"/>
              </a:rPr>
              <a:t>DATA PRE-PROCESSING</a:t>
            </a:r>
            <a:endParaRPr lang="en-US" sz="4800" b="1" dirty="0">
              <a:latin typeface="Book Antiqua" panose="02040602050305030304" pitchFamily="18" charset="0"/>
            </a:endParaRPr>
          </a:p>
        </p:txBody>
      </p:sp>
      <p:pic>
        <p:nvPicPr>
          <p:cNvPr id="2" name="Picture 1"/>
          <p:cNvPicPr>
            <a:picLocks noChangeAspect="1"/>
          </p:cNvPicPr>
          <p:nvPr/>
        </p:nvPicPr>
        <p:blipFill>
          <a:blip r:embed="rId2"/>
          <a:stretch>
            <a:fillRect/>
          </a:stretch>
        </p:blipFill>
        <p:spPr>
          <a:xfrm>
            <a:off x="1854200" y="1822450"/>
            <a:ext cx="8119745" cy="4006215"/>
          </a:xfrm>
          <a:prstGeom prst="rect">
            <a:avLst/>
          </a:prstGeom>
        </p:spPr>
      </p:pic>
      <p:sp>
        <p:nvSpPr>
          <p:cNvPr id="7" name="Text Box 6"/>
          <p:cNvSpPr txBox="1"/>
          <p:nvPr/>
        </p:nvSpPr>
        <p:spPr>
          <a:xfrm>
            <a:off x="751840" y="1203325"/>
            <a:ext cx="10391775" cy="696595"/>
          </a:xfrm>
          <a:prstGeom prst="rect">
            <a:avLst/>
          </a:prstGeom>
          <a:noFill/>
        </p:spPr>
        <p:txBody>
          <a:bodyPr wrap="square" rtlCol="0">
            <a:noAutofit/>
          </a:bodyPr>
          <a:p>
            <a:pPr marL="285750" indent="-285750" algn="just">
              <a:buFont typeface="Wingdings" panose="05000000000000000000" charset="0"/>
              <a:buChar char="Ø"/>
            </a:pPr>
            <a:r>
              <a:rPr lang="en-US" altLang="en-US" sz="2800" b="1"/>
              <a:t>Begin by loading the two datasets from their respective CSV files</a:t>
            </a:r>
            <a:endParaRPr lang="en-US" altLang="en-US" sz="2800" b="1"/>
          </a:p>
        </p:txBody>
      </p:sp>
      <p:sp>
        <p:nvSpPr>
          <p:cNvPr id="8" name="Text Box 7"/>
          <p:cNvSpPr txBox="1"/>
          <p:nvPr/>
        </p:nvSpPr>
        <p:spPr>
          <a:xfrm>
            <a:off x="4310380" y="5927090"/>
            <a:ext cx="4064000" cy="368300"/>
          </a:xfrm>
          <a:prstGeom prst="rect">
            <a:avLst/>
          </a:prstGeom>
          <a:noFill/>
        </p:spPr>
        <p:txBody>
          <a:bodyPr wrap="square" rtlCol="0">
            <a:spAutoFit/>
          </a:bodyPr>
          <a:p>
            <a:r>
              <a:rPr lang="en-US" b="1"/>
              <a:t>Fig: Dataset_1 &amp; Dataset_2</a:t>
            </a:r>
            <a:endParaRPr lang="en-US"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pic>
        <p:nvPicPr>
          <p:cNvPr id="2" name="Picture 1"/>
          <p:cNvPicPr>
            <a:picLocks noChangeAspect="1"/>
          </p:cNvPicPr>
          <p:nvPr/>
        </p:nvPicPr>
        <p:blipFill>
          <a:blip r:embed="rId2"/>
          <a:stretch>
            <a:fillRect/>
          </a:stretch>
        </p:blipFill>
        <p:spPr>
          <a:xfrm>
            <a:off x="1256030" y="2181860"/>
            <a:ext cx="3211830" cy="3321685"/>
          </a:xfrm>
          <a:prstGeom prst="rect">
            <a:avLst/>
          </a:prstGeom>
        </p:spPr>
      </p:pic>
      <p:pic>
        <p:nvPicPr>
          <p:cNvPr id="3" name="Picture 2"/>
          <p:cNvPicPr/>
          <p:nvPr/>
        </p:nvPicPr>
        <p:blipFill>
          <a:blip r:embed="rId3"/>
          <a:stretch>
            <a:fillRect/>
          </a:stretch>
        </p:blipFill>
        <p:spPr>
          <a:xfrm>
            <a:off x="5161915" y="2044700"/>
            <a:ext cx="5981065" cy="3759835"/>
          </a:xfrm>
          <a:prstGeom prst="rect">
            <a:avLst/>
          </a:prstGeom>
        </p:spPr>
      </p:pic>
      <p:sp>
        <p:nvSpPr>
          <p:cNvPr id="45" name="TextBox 11"/>
          <p:cNvSpPr txBox="1"/>
          <p:nvPr/>
        </p:nvSpPr>
        <p:spPr>
          <a:xfrm>
            <a:off x="1428750" y="150495"/>
            <a:ext cx="9198610" cy="829945"/>
          </a:xfrm>
          <a:prstGeom prst="rect">
            <a:avLst/>
          </a:prstGeom>
          <a:noFill/>
        </p:spPr>
        <p:txBody>
          <a:bodyPr wrap="square" rtlCol="0">
            <a:spAutoFit/>
          </a:bodyPr>
          <a:p>
            <a:pPr algn="ctr"/>
            <a:r>
              <a:rPr lang="en-US" sz="4800" b="1" dirty="0">
                <a:latin typeface="Book Antiqua" panose="02040602050305030304" pitchFamily="18" charset="0"/>
              </a:rPr>
              <a:t>DATA PRE-PROCESSING</a:t>
            </a:r>
            <a:endParaRPr lang="en-US" sz="4800" b="1" dirty="0">
              <a:latin typeface="Book Antiqua" panose="02040602050305030304" pitchFamily="18" charset="0"/>
            </a:endParaRPr>
          </a:p>
        </p:txBody>
      </p:sp>
      <p:sp>
        <p:nvSpPr>
          <p:cNvPr id="7" name="Text Box 6"/>
          <p:cNvSpPr txBox="1"/>
          <p:nvPr/>
        </p:nvSpPr>
        <p:spPr>
          <a:xfrm>
            <a:off x="325755" y="1194435"/>
            <a:ext cx="11543665" cy="850265"/>
          </a:xfrm>
          <a:prstGeom prst="rect">
            <a:avLst/>
          </a:prstGeom>
          <a:noFill/>
        </p:spPr>
        <p:txBody>
          <a:bodyPr wrap="square" rtlCol="0">
            <a:noAutofit/>
          </a:bodyPr>
          <a:p>
            <a:pPr marL="285750" indent="-285750" algn="just">
              <a:buFont typeface="Wingdings" panose="05000000000000000000" charset="0"/>
              <a:buChar char="Ø"/>
            </a:pPr>
            <a:r>
              <a:rPr lang="en-US" altLang="en-US" sz="2800" b="1"/>
              <a:t> After merging the two datasets, a significant number of missing values    appeared in the dataset</a:t>
            </a:r>
            <a:endParaRPr lang="en-US" altLang="en-US" sz="2800" b="1"/>
          </a:p>
        </p:txBody>
      </p:sp>
      <p:sp>
        <p:nvSpPr>
          <p:cNvPr id="8" name="Text Box 7"/>
          <p:cNvSpPr txBox="1"/>
          <p:nvPr/>
        </p:nvSpPr>
        <p:spPr>
          <a:xfrm>
            <a:off x="891540" y="5672455"/>
            <a:ext cx="3941445" cy="368300"/>
          </a:xfrm>
          <a:prstGeom prst="rect">
            <a:avLst/>
          </a:prstGeom>
          <a:noFill/>
        </p:spPr>
        <p:txBody>
          <a:bodyPr wrap="square" rtlCol="0">
            <a:spAutoFit/>
          </a:bodyPr>
          <a:p>
            <a:r>
              <a:rPr lang="en-US" b="1"/>
              <a:t>Fig: Missing Values in Merged Dataset</a:t>
            </a:r>
            <a:endParaRPr lang="en-US" b="1"/>
          </a:p>
        </p:txBody>
      </p:sp>
      <p:sp>
        <p:nvSpPr>
          <p:cNvPr id="5" name="Text Box 4"/>
          <p:cNvSpPr txBox="1"/>
          <p:nvPr/>
        </p:nvSpPr>
        <p:spPr>
          <a:xfrm>
            <a:off x="6882130" y="5804535"/>
            <a:ext cx="3941445" cy="368300"/>
          </a:xfrm>
          <a:prstGeom prst="rect">
            <a:avLst/>
          </a:prstGeom>
          <a:noFill/>
        </p:spPr>
        <p:txBody>
          <a:bodyPr wrap="square" rtlCol="0">
            <a:spAutoFit/>
          </a:bodyPr>
          <a:p>
            <a:r>
              <a:rPr lang="en-US" b="1"/>
              <a:t>Fig: Missing Values Heatmap</a:t>
            </a:r>
            <a:endParaRPr lang="en-US"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45" name="TextBox 11"/>
          <p:cNvSpPr txBox="1"/>
          <p:nvPr/>
        </p:nvSpPr>
        <p:spPr>
          <a:xfrm>
            <a:off x="1428750" y="150495"/>
            <a:ext cx="9198610" cy="829945"/>
          </a:xfrm>
          <a:prstGeom prst="rect">
            <a:avLst/>
          </a:prstGeom>
          <a:noFill/>
        </p:spPr>
        <p:txBody>
          <a:bodyPr wrap="square" rtlCol="0">
            <a:spAutoFit/>
          </a:bodyPr>
          <a:p>
            <a:pPr algn="ctr"/>
            <a:r>
              <a:rPr lang="en-US" sz="4800" b="1" dirty="0">
                <a:latin typeface="Book Antiqua" panose="02040602050305030304" pitchFamily="18" charset="0"/>
              </a:rPr>
              <a:t>DATA PRE-PROCESSING</a:t>
            </a:r>
            <a:endParaRPr lang="en-US" sz="4800" b="1" dirty="0">
              <a:latin typeface="Book Antiqua" panose="02040602050305030304" pitchFamily="18" charset="0"/>
            </a:endParaRPr>
          </a:p>
        </p:txBody>
      </p:sp>
      <p:sp>
        <p:nvSpPr>
          <p:cNvPr id="2" name="Text Box 1"/>
          <p:cNvSpPr txBox="1"/>
          <p:nvPr/>
        </p:nvSpPr>
        <p:spPr>
          <a:xfrm>
            <a:off x="605790" y="1257935"/>
            <a:ext cx="10537190" cy="914400"/>
          </a:xfrm>
          <a:prstGeom prst="rect">
            <a:avLst/>
          </a:prstGeom>
          <a:noFill/>
        </p:spPr>
        <p:txBody>
          <a:bodyPr wrap="square" rtlCol="0">
            <a:noAutofit/>
          </a:bodyPr>
          <a:p>
            <a:pPr marL="457200" indent="-457200" algn="just">
              <a:buFont typeface="Wingdings" panose="05000000000000000000" charset="0"/>
              <a:buChar char="Ø"/>
            </a:pPr>
            <a:r>
              <a:rPr lang="en-US" altLang="en-US" sz="2800" b="1"/>
              <a:t>Since both datasets contain a similar feature, we need to combine the duplicate columns to eliminate redundancy</a:t>
            </a:r>
            <a:endParaRPr lang="en-US" sz="2800" b="1"/>
          </a:p>
        </p:txBody>
      </p:sp>
      <p:pic>
        <p:nvPicPr>
          <p:cNvPr id="5" name="Picture 4"/>
          <p:cNvPicPr>
            <a:picLocks noChangeAspect="1"/>
          </p:cNvPicPr>
          <p:nvPr/>
        </p:nvPicPr>
        <p:blipFill>
          <a:blip r:embed="rId2"/>
          <a:stretch>
            <a:fillRect/>
          </a:stretch>
        </p:blipFill>
        <p:spPr>
          <a:xfrm>
            <a:off x="1249045" y="2172335"/>
            <a:ext cx="3072130" cy="3147060"/>
          </a:xfrm>
          <a:prstGeom prst="rect">
            <a:avLst/>
          </a:prstGeom>
        </p:spPr>
      </p:pic>
      <p:pic>
        <p:nvPicPr>
          <p:cNvPr id="7" name="Picture 6"/>
          <p:cNvPicPr/>
          <p:nvPr/>
        </p:nvPicPr>
        <p:blipFill>
          <a:blip r:embed="rId3"/>
          <a:stretch>
            <a:fillRect/>
          </a:stretch>
        </p:blipFill>
        <p:spPr>
          <a:xfrm>
            <a:off x="5163185" y="2165985"/>
            <a:ext cx="5761355" cy="3430905"/>
          </a:xfrm>
          <a:prstGeom prst="rect">
            <a:avLst/>
          </a:prstGeom>
        </p:spPr>
      </p:pic>
      <p:sp>
        <p:nvSpPr>
          <p:cNvPr id="8" name="Text Box 7"/>
          <p:cNvSpPr txBox="1"/>
          <p:nvPr/>
        </p:nvSpPr>
        <p:spPr>
          <a:xfrm>
            <a:off x="891540" y="5672455"/>
            <a:ext cx="3941445" cy="368300"/>
          </a:xfrm>
          <a:prstGeom prst="rect">
            <a:avLst/>
          </a:prstGeom>
          <a:noFill/>
        </p:spPr>
        <p:txBody>
          <a:bodyPr wrap="square" rtlCol="0">
            <a:spAutoFit/>
          </a:bodyPr>
          <a:p>
            <a:r>
              <a:rPr lang="en-US" b="1"/>
              <a:t>Fig: Missing Values in Merged Dataset</a:t>
            </a:r>
            <a:endParaRPr lang="en-US" b="1"/>
          </a:p>
        </p:txBody>
      </p:sp>
      <p:sp>
        <p:nvSpPr>
          <p:cNvPr id="11" name="Text Box 10"/>
          <p:cNvSpPr txBox="1"/>
          <p:nvPr/>
        </p:nvSpPr>
        <p:spPr>
          <a:xfrm>
            <a:off x="6882130" y="5804535"/>
            <a:ext cx="3941445" cy="368300"/>
          </a:xfrm>
          <a:prstGeom prst="rect">
            <a:avLst/>
          </a:prstGeom>
          <a:noFill/>
        </p:spPr>
        <p:txBody>
          <a:bodyPr wrap="square" rtlCol="0">
            <a:spAutoFit/>
          </a:bodyPr>
          <a:p>
            <a:r>
              <a:rPr lang="en-US" b="1"/>
              <a:t>Fig: Missing Values Heatmap</a:t>
            </a:r>
            <a:endParaRPr lang="en-US" b="1"/>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45" name="TextBox 11"/>
          <p:cNvSpPr txBox="1"/>
          <p:nvPr/>
        </p:nvSpPr>
        <p:spPr>
          <a:xfrm>
            <a:off x="1428750" y="150495"/>
            <a:ext cx="9198610" cy="829945"/>
          </a:xfrm>
          <a:prstGeom prst="rect">
            <a:avLst/>
          </a:prstGeom>
          <a:noFill/>
        </p:spPr>
        <p:txBody>
          <a:bodyPr wrap="square" rtlCol="0">
            <a:spAutoFit/>
          </a:bodyPr>
          <a:p>
            <a:pPr algn="ctr"/>
            <a:r>
              <a:rPr lang="en-US" sz="4800" b="1" dirty="0">
                <a:latin typeface="Book Antiqua" panose="02040602050305030304" pitchFamily="18" charset="0"/>
              </a:rPr>
              <a:t>DATA PRE-PROCESSING</a:t>
            </a:r>
            <a:endParaRPr lang="en-US" sz="4800" b="1" dirty="0">
              <a:latin typeface="Book Antiqua" panose="02040602050305030304" pitchFamily="18" charset="0"/>
            </a:endParaRPr>
          </a:p>
        </p:txBody>
      </p:sp>
      <p:sp>
        <p:nvSpPr>
          <p:cNvPr id="2" name="Text Box 1"/>
          <p:cNvSpPr txBox="1"/>
          <p:nvPr/>
        </p:nvSpPr>
        <p:spPr>
          <a:xfrm>
            <a:off x="605790" y="1257935"/>
            <a:ext cx="10537190" cy="914400"/>
          </a:xfrm>
          <a:prstGeom prst="rect">
            <a:avLst/>
          </a:prstGeom>
          <a:noFill/>
        </p:spPr>
        <p:txBody>
          <a:bodyPr wrap="square" rtlCol="0">
            <a:noAutofit/>
          </a:bodyPr>
          <a:p>
            <a:pPr marL="457200" indent="-457200" algn="just">
              <a:buFont typeface="Wingdings" panose="05000000000000000000" charset="0"/>
              <a:buChar char="Ø"/>
            </a:pPr>
            <a:r>
              <a:rPr lang="en-US" altLang="en-US" sz="2800" b="1"/>
              <a:t>Fill NaN values in numerical columns using the mean of each column</a:t>
            </a:r>
            <a:endParaRPr lang="en-US" altLang="en-US" sz="2800" b="1"/>
          </a:p>
        </p:txBody>
      </p:sp>
      <p:sp>
        <p:nvSpPr>
          <p:cNvPr id="8" name="Text Box 7"/>
          <p:cNvSpPr txBox="1"/>
          <p:nvPr/>
        </p:nvSpPr>
        <p:spPr>
          <a:xfrm>
            <a:off x="756920" y="5596890"/>
            <a:ext cx="4324350" cy="368300"/>
          </a:xfrm>
          <a:prstGeom prst="rect">
            <a:avLst/>
          </a:prstGeom>
          <a:noFill/>
        </p:spPr>
        <p:txBody>
          <a:bodyPr wrap="square" rtlCol="0">
            <a:spAutoFit/>
          </a:bodyPr>
          <a:p>
            <a:r>
              <a:rPr lang="en-US" b="1"/>
              <a:t>Fig: No Missing Values in Merged Dataset</a:t>
            </a:r>
            <a:endParaRPr lang="en-US" b="1"/>
          </a:p>
        </p:txBody>
      </p:sp>
      <p:sp>
        <p:nvSpPr>
          <p:cNvPr id="11" name="Text Box 10"/>
          <p:cNvSpPr txBox="1"/>
          <p:nvPr/>
        </p:nvSpPr>
        <p:spPr>
          <a:xfrm>
            <a:off x="6882130" y="5804535"/>
            <a:ext cx="3941445" cy="368300"/>
          </a:xfrm>
          <a:prstGeom prst="rect">
            <a:avLst/>
          </a:prstGeom>
          <a:noFill/>
        </p:spPr>
        <p:txBody>
          <a:bodyPr wrap="square" rtlCol="0">
            <a:spAutoFit/>
          </a:bodyPr>
          <a:p>
            <a:r>
              <a:rPr lang="en-US" b="1"/>
              <a:t>Fig: Missing Values Heatmap</a:t>
            </a:r>
            <a:endParaRPr lang="en-US" b="1"/>
          </a:p>
        </p:txBody>
      </p:sp>
      <p:pic>
        <p:nvPicPr>
          <p:cNvPr id="12" name="Picture 11"/>
          <p:cNvPicPr>
            <a:picLocks noChangeAspect="1"/>
          </p:cNvPicPr>
          <p:nvPr/>
        </p:nvPicPr>
        <p:blipFill>
          <a:blip r:embed="rId2"/>
          <a:stretch>
            <a:fillRect/>
          </a:stretch>
        </p:blipFill>
        <p:spPr>
          <a:xfrm>
            <a:off x="1198880" y="2233295"/>
            <a:ext cx="3083560" cy="3139440"/>
          </a:xfrm>
          <a:prstGeom prst="rect">
            <a:avLst/>
          </a:prstGeom>
        </p:spPr>
      </p:pic>
      <p:pic>
        <p:nvPicPr>
          <p:cNvPr id="13" name="Picture 12"/>
          <p:cNvPicPr/>
          <p:nvPr/>
        </p:nvPicPr>
        <p:blipFill>
          <a:blip r:embed="rId3"/>
          <a:stretch>
            <a:fillRect/>
          </a:stretch>
        </p:blipFill>
        <p:spPr>
          <a:xfrm>
            <a:off x="5545455" y="2110740"/>
            <a:ext cx="5597525" cy="36937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2" name="Text Box 1"/>
          <p:cNvSpPr txBox="1"/>
          <p:nvPr/>
        </p:nvSpPr>
        <p:spPr>
          <a:xfrm>
            <a:off x="741680" y="1294130"/>
            <a:ext cx="10492105" cy="733425"/>
          </a:xfrm>
          <a:prstGeom prst="rect">
            <a:avLst/>
          </a:prstGeom>
          <a:noFill/>
        </p:spPr>
        <p:txBody>
          <a:bodyPr wrap="square" rtlCol="0">
            <a:noAutofit/>
          </a:bodyPr>
          <a:p>
            <a:pPr marL="285750" indent="-285750">
              <a:buFont typeface="Wingdings" panose="05000000000000000000" charset="0"/>
              <a:buChar char="Ø"/>
            </a:pPr>
            <a:r>
              <a:rPr lang="en-US" altLang="en-US" sz="2800" b="1"/>
              <a:t>Statistical description of all features and the data shape is (1943,16) 16)</a:t>
            </a:r>
            <a:endParaRPr lang="en-US" altLang="en-US" sz="2800" b="1"/>
          </a:p>
        </p:txBody>
      </p:sp>
      <p:sp>
        <p:nvSpPr>
          <p:cNvPr id="45" name="TextBox 11"/>
          <p:cNvSpPr txBox="1"/>
          <p:nvPr/>
        </p:nvSpPr>
        <p:spPr>
          <a:xfrm>
            <a:off x="553720" y="150495"/>
            <a:ext cx="10073640" cy="829945"/>
          </a:xfrm>
          <a:prstGeom prst="rect">
            <a:avLst/>
          </a:prstGeom>
          <a:noFill/>
        </p:spPr>
        <p:txBody>
          <a:bodyPr wrap="square" rtlCol="0">
            <a:spAutoFit/>
          </a:bodyPr>
          <a:p>
            <a:pPr algn="ctr"/>
            <a:r>
              <a:rPr lang="en-US" sz="4800" b="1" dirty="0">
                <a:latin typeface="Book Antiqua" panose="02040602050305030304" pitchFamily="18" charset="0"/>
              </a:rPr>
              <a:t>EXPLORATORY DATA ANALYSIS</a:t>
            </a:r>
            <a:endParaRPr lang="en-US" sz="4800" b="1" dirty="0">
              <a:latin typeface="Book Antiqua" panose="02040602050305030304" pitchFamily="18" charset="0"/>
            </a:endParaRPr>
          </a:p>
        </p:txBody>
      </p:sp>
      <p:pic>
        <p:nvPicPr>
          <p:cNvPr id="3" name="Picture 2"/>
          <p:cNvPicPr>
            <a:picLocks noChangeAspect="1"/>
          </p:cNvPicPr>
          <p:nvPr/>
        </p:nvPicPr>
        <p:blipFill>
          <a:blip r:embed="rId2"/>
          <a:stretch>
            <a:fillRect/>
          </a:stretch>
        </p:blipFill>
        <p:spPr>
          <a:xfrm>
            <a:off x="910590" y="1828165"/>
            <a:ext cx="10323195" cy="1412240"/>
          </a:xfrm>
          <a:prstGeom prst="rect">
            <a:avLst/>
          </a:prstGeom>
        </p:spPr>
      </p:pic>
      <p:pic>
        <p:nvPicPr>
          <p:cNvPr id="7" name="Picture 6"/>
          <p:cNvPicPr>
            <a:picLocks noChangeAspect="1"/>
          </p:cNvPicPr>
          <p:nvPr/>
        </p:nvPicPr>
        <p:blipFill>
          <a:blip r:embed="rId3"/>
          <a:stretch>
            <a:fillRect/>
          </a:stretch>
        </p:blipFill>
        <p:spPr>
          <a:xfrm>
            <a:off x="909955" y="3330575"/>
            <a:ext cx="10324465" cy="2522220"/>
          </a:xfrm>
          <a:prstGeom prst="rect">
            <a:avLst/>
          </a:prstGeom>
        </p:spPr>
      </p:pic>
      <p:sp>
        <p:nvSpPr>
          <p:cNvPr id="8" name="Text Box 7"/>
          <p:cNvSpPr txBox="1"/>
          <p:nvPr/>
        </p:nvSpPr>
        <p:spPr>
          <a:xfrm>
            <a:off x="4490085" y="5965825"/>
            <a:ext cx="4324350" cy="368300"/>
          </a:xfrm>
          <a:prstGeom prst="rect">
            <a:avLst/>
          </a:prstGeom>
          <a:noFill/>
        </p:spPr>
        <p:txBody>
          <a:bodyPr wrap="square" rtlCol="0">
            <a:spAutoFit/>
          </a:bodyPr>
          <a:p>
            <a:r>
              <a:rPr lang="en-US" b="1"/>
              <a:t>Fig: Features Description</a:t>
            </a:r>
            <a:endParaRPr lang="en-US"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45" name="TextBox 11"/>
          <p:cNvSpPr txBox="1"/>
          <p:nvPr/>
        </p:nvSpPr>
        <p:spPr>
          <a:xfrm>
            <a:off x="553720" y="150495"/>
            <a:ext cx="10073640" cy="829945"/>
          </a:xfrm>
          <a:prstGeom prst="rect">
            <a:avLst/>
          </a:prstGeom>
          <a:noFill/>
        </p:spPr>
        <p:txBody>
          <a:bodyPr wrap="square" rtlCol="0">
            <a:spAutoFit/>
          </a:bodyPr>
          <a:p>
            <a:pPr algn="ctr"/>
            <a:r>
              <a:rPr lang="en-US" sz="4800" b="1" dirty="0">
                <a:latin typeface="Book Antiqua" panose="02040602050305030304" pitchFamily="18" charset="0"/>
              </a:rPr>
              <a:t>EXPLORATORY DATA ANALYSIS</a:t>
            </a:r>
            <a:endParaRPr lang="en-US" sz="4800" b="1" dirty="0">
              <a:latin typeface="Book Antiqua" panose="02040602050305030304" pitchFamily="18" charset="0"/>
            </a:endParaRPr>
          </a:p>
        </p:txBody>
      </p:sp>
      <p:pic>
        <p:nvPicPr>
          <p:cNvPr id="2" name="Picture 1"/>
          <p:cNvPicPr>
            <a:picLocks noChangeAspect="1"/>
          </p:cNvPicPr>
          <p:nvPr/>
        </p:nvPicPr>
        <p:blipFill>
          <a:blip r:embed="rId2"/>
          <a:stretch>
            <a:fillRect/>
          </a:stretch>
        </p:blipFill>
        <p:spPr>
          <a:xfrm>
            <a:off x="1263015" y="1892935"/>
            <a:ext cx="2651125" cy="3666490"/>
          </a:xfrm>
          <a:prstGeom prst="rect">
            <a:avLst/>
          </a:prstGeom>
        </p:spPr>
      </p:pic>
      <p:sp>
        <p:nvSpPr>
          <p:cNvPr id="8" name="Text Box 7"/>
          <p:cNvSpPr txBox="1"/>
          <p:nvPr/>
        </p:nvSpPr>
        <p:spPr>
          <a:xfrm>
            <a:off x="1605915" y="5560060"/>
            <a:ext cx="1925955" cy="368300"/>
          </a:xfrm>
          <a:prstGeom prst="rect">
            <a:avLst/>
          </a:prstGeom>
          <a:noFill/>
        </p:spPr>
        <p:txBody>
          <a:bodyPr wrap="square" rtlCol="0">
            <a:spAutoFit/>
          </a:bodyPr>
          <a:p>
            <a:r>
              <a:rPr lang="en-US" b="1"/>
              <a:t>Fig: Age Column</a:t>
            </a:r>
            <a:endParaRPr lang="en-US" b="1"/>
          </a:p>
        </p:txBody>
      </p:sp>
      <p:sp>
        <p:nvSpPr>
          <p:cNvPr id="5" name="Text Box 4"/>
          <p:cNvSpPr txBox="1"/>
          <p:nvPr/>
        </p:nvSpPr>
        <p:spPr>
          <a:xfrm>
            <a:off x="5481320" y="5687060"/>
            <a:ext cx="5501640" cy="368300"/>
          </a:xfrm>
          <a:prstGeom prst="rect">
            <a:avLst/>
          </a:prstGeom>
          <a:noFill/>
        </p:spPr>
        <p:txBody>
          <a:bodyPr wrap="square" rtlCol="0">
            <a:spAutoFit/>
          </a:bodyPr>
          <a:p>
            <a:r>
              <a:rPr lang="en-US" b="1"/>
              <a:t>Fig: M</a:t>
            </a:r>
            <a:r>
              <a:rPr lang="en-US" altLang="en-US" b="1"/>
              <a:t>ean, Median and Mode Of Age Column</a:t>
            </a:r>
            <a:endParaRPr lang="en-US" altLang="en-US" b="1"/>
          </a:p>
        </p:txBody>
      </p:sp>
      <p:pic>
        <p:nvPicPr>
          <p:cNvPr id="7" name="Picture 6"/>
          <p:cNvPicPr/>
          <p:nvPr/>
        </p:nvPicPr>
        <p:blipFill>
          <a:blip r:embed="rId3"/>
          <a:stretch>
            <a:fillRect/>
          </a:stretch>
        </p:blipFill>
        <p:spPr>
          <a:xfrm>
            <a:off x="4655185" y="1950720"/>
            <a:ext cx="6410325" cy="3608705"/>
          </a:xfrm>
          <a:prstGeom prst="rect">
            <a:avLst/>
          </a:prstGeom>
        </p:spPr>
      </p:pic>
      <p:sp>
        <p:nvSpPr>
          <p:cNvPr id="11" name="Text Box 10"/>
          <p:cNvSpPr txBox="1"/>
          <p:nvPr/>
        </p:nvSpPr>
        <p:spPr>
          <a:xfrm>
            <a:off x="741680" y="1294130"/>
            <a:ext cx="4208780" cy="733425"/>
          </a:xfrm>
          <a:prstGeom prst="rect">
            <a:avLst/>
          </a:prstGeom>
          <a:noFill/>
        </p:spPr>
        <p:txBody>
          <a:bodyPr wrap="square" rtlCol="0">
            <a:noAutofit/>
          </a:bodyPr>
          <a:p>
            <a:pPr marL="285750" indent="-285750">
              <a:buFont typeface="Wingdings" panose="05000000000000000000" charset="0"/>
              <a:buChar char="Ø"/>
            </a:pPr>
            <a:r>
              <a:rPr lang="en-US" altLang="en-US" sz="2800" b="1"/>
              <a:t>Exploring Age Column</a:t>
            </a:r>
            <a:endParaRPr lang="en-US" altLang="en-US" sz="2800"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45" name="TextBox 11"/>
          <p:cNvSpPr txBox="1"/>
          <p:nvPr/>
        </p:nvSpPr>
        <p:spPr>
          <a:xfrm>
            <a:off x="553720" y="150495"/>
            <a:ext cx="10073640" cy="829945"/>
          </a:xfrm>
          <a:prstGeom prst="rect">
            <a:avLst/>
          </a:prstGeom>
          <a:noFill/>
        </p:spPr>
        <p:txBody>
          <a:bodyPr wrap="square" rtlCol="0">
            <a:spAutoFit/>
          </a:bodyPr>
          <a:p>
            <a:pPr algn="ctr"/>
            <a:r>
              <a:rPr lang="en-US" sz="4800" b="1" dirty="0">
                <a:latin typeface="Book Antiqua" panose="02040602050305030304" pitchFamily="18" charset="0"/>
              </a:rPr>
              <a:t>EXPLORATORY DATA ANALYSIS</a:t>
            </a:r>
            <a:endParaRPr lang="en-US" sz="4800" b="1" dirty="0">
              <a:latin typeface="Book Antiqua" panose="02040602050305030304" pitchFamily="18" charset="0"/>
            </a:endParaRPr>
          </a:p>
        </p:txBody>
      </p:sp>
      <p:pic>
        <p:nvPicPr>
          <p:cNvPr id="2" name="Picture 1" descr="newplot"/>
          <p:cNvPicPr>
            <a:picLocks noChangeAspect="1"/>
          </p:cNvPicPr>
          <p:nvPr/>
        </p:nvPicPr>
        <p:blipFill>
          <a:blip r:embed="rId2"/>
          <a:stretch>
            <a:fillRect/>
          </a:stretch>
        </p:blipFill>
        <p:spPr>
          <a:xfrm>
            <a:off x="482600" y="1164590"/>
            <a:ext cx="11709400" cy="4529455"/>
          </a:xfrm>
          <a:prstGeom prst="rect">
            <a:avLst/>
          </a:prstGeom>
        </p:spPr>
      </p:pic>
      <p:sp>
        <p:nvSpPr>
          <p:cNvPr id="8" name="Text Box 7"/>
          <p:cNvSpPr txBox="1"/>
          <p:nvPr/>
        </p:nvSpPr>
        <p:spPr>
          <a:xfrm>
            <a:off x="3758565" y="5560060"/>
            <a:ext cx="6412865" cy="368300"/>
          </a:xfrm>
          <a:prstGeom prst="rect">
            <a:avLst/>
          </a:prstGeom>
          <a:noFill/>
        </p:spPr>
        <p:txBody>
          <a:bodyPr wrap="square" rtlCol="0">
            <a:spAutoFit/>
          </a:bodyPr>
          <a:p>
            <a:r>
              <a:rPr lang="en-US" b="1"/>
              <a:t>Fig: Histogram of Age Column Against Sex</a:t>
            </a:r>
            <a:endParaRPr lang="en-US"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45" name="TextBox 11"/>
          <p:cNvSpPr txBox="1"/>
          <p:nvPr/>
        </p:nvSpPr>
        <p:spPr>
          <a:xfrm>
            <a:off x="553720" y="150495"/>
            <a:ext cx="10073640" cy="829945"/>
          </a:xfrm>
          <a:prstGeom prst="rect">
            <a:avLst/>
          </a:prstGeom>
          <a:noFill/>
        </p:spPr>
        <p:txBody>
          <a:bodyPr wrap="square" rtlCol="0">
            <a:spAutoFit/>
          </a:bodyPr>
          <a:p>
            <a:pPr algn="ctr"/>
            <a:r>
              <a:rPr lang="en-US" sz="4800" b="1" dirty="0">
                <a:latin typeface="Book Antiqua" panose="02040602050305030304" pitchFamily="18" charset="0"/>
              </a:rPr>
              <a:t>EXPLORATORY DATA ANALYSIS</a:t>
            </a:r>
            <a:endParaRPr lang="en-US" sz="4800" b="1" dirty="0">
              <a:latin typeface="Book Antiqua" panose="02040602050305030304" pitchFamily="18" charset="0"/>
            </a:endParaRPr>
          </a:p>
        </p:txBody>
      </p:sp>
      <p:sp>
        <p:nvSpPr>
          <p:cNvPr id="2" name="Text Box 1"/>
          <p:cNvSpPr txBox="1"/>
          <p:nvPr/>
        </p:nvSpPr>
        <p:spPr>
          <a:xfrm>
            <a:off x="841375" y="1252855"/>
            <a:ext cx="6096000" cy="521970"/>
          </a:xfrm>
          <a:prstGeom prst="rect">
            <a:avLst/>
          </a:prstGeom>
          <a:noFill/>
        </p:spPr>
        <p:txBody>
          <a:bodyPr wrap="square" rtlCol="0" anchor="t">
            <a:spAutoFit/>
          </a:bodyPr>
          <a:p>
            <a:pPr marL="285750" indent="-285750">
              <a:buFont typeface="Wingdings" panose="05000000000000000000" charset="0"/>
              <a:buChar char="Ø"/>
            </a:pPr>
            <a:r>
              <a:rPr lang="en-US" altLang="en-US" sz="2800" b="1">
                <a:sym typeface="+mn-ea"/>
              </a:rPr>
              <a:t>Exploring ChestPain Column</a:t>
            </a:r>
            <a:endParaRPr lang="en-US" altLang="en-US" sz="2800" b="1">
              <a:sym typeface="+mn-ea"/>
            </a:endParaRPr>
          </a:p>
        </p:txBody>
      </p:sp>
      <p:pic>
        <p:nvPicPr>
          <p:cNvPr id="5" name="Picture 4" descr="cp"/>
          <p:cNvPicPr>
            <a:picLocks noChangeAspect="1"/>
          </p:cNvPicPr>
          <p:nvPr/>
        </p:nvPicPr>
        <p:blipFill>
          <a:blip r:embed="rId2"/>
          <a:stretch>
            <a:fillRect/>
          </a:stretch>
        </p:blipFill>
        <p:spPr>
          <a:xfrm>
            <a:off x="720090" y="1774825"/>
            <a:ext cx="11298555" cy="4197350"/>
          </a:xfrm>
          <a:prstGeom prst="rect">
            <a:avLst/>
          </a:prstGeom>
        </p:spPr>
      </p:pic>
      <p:sp>
        <p:nvSpPr>
          <p:cNvPr id="8" name="Text Box 7"/>
          <p:cNvSpPr txBox="1"/>
          <p:nvPr/>
        </p:nvSpPr>
        <p:spPr>
          <a:xfrm>
            <a:off x="3758565" y="5788025"/>
            <a:ext cx="6412865" cy="368300"/>
          </a:xfrm>
          <a:prstGeom prst="rect">
            <a:avLst/>
          </a:prstGeom>
          <a:noFill/>
        </p:spPr>
        <p:txBody>
          <a:bodyPr wrap="square" rtlCol="0">
            <a:spAutoFit/>
          </a:bodyPr>
          <a:p>
            <a:r>
              <a:rPr lang="en-US" b="1"/>
              <a:t>Fig: Chest Pain Type Distribution By Sex</a:t>
            </a:r>
            <a:endParaRPr lang="en-US"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45" name="TextBox 11"/>
          <p:cNvSpPr txBox="1"/>
          <p:nvPr/>
        </p:nvSpPr>
        <p:spPr>
          <a:xfrm>
            <a:off x="553720" y="150495"/>
            <a:ext cx="10073640" cy="829945"/>
          </a:xfrm>
          <a:prstGeom prst="rect">
            <a:avLst/>
          </a:prstGeom>
          <a:noFill/>
        </p:spPr>
        <p:txBody>
          <a:bodyPr wrap="square" rtlCol="0">
            <a:spAutoFit/>
          </a:bodyPr>
          <a:p>
            <a:pPr algn="ctr"/>
            <a:r>
              <a:rPr lang="en-US" sz="4800" b="1" dirty="0">
                <a:latin typeface="Book Antiqua" panose="02040602050305030304" pitchFamily="18" charset="0"/>
              </a:rPr>
              <a:t>EXPLORATORY DATA ANALYSIS</a:t>
            </a:r>
            <a:endParaRPr lang="en-US" sz="4800" b="1" dirty="0">
              <a:latin typeface="Book Antiqua" panose="02040602050305030304" pitchFamily="18" charset="0"/>
            </a:endParaRPr>
          </a:p>
        </p:txBody>
      </p:sp>
      <p:pic>
        <p:nvPicPr>
          <p:cNvPr id="2" name="Picture 1" descr="newplot (1)"/>
          <p:cNvPicPr>
            <a:picLocks noChangeAspect="1"/>
          </p:cNvPicPr>
          <p:nvPr/>
        </p:nvPicPr>
        <p:blipFill>
          <a:blip r:embed="rId2"/>
          <a:stretch>
            <a:fillRect/>
          </a:stretch>
        </p:blipFill>
        <p:spPr>
          <a:xfrm>
            <a:off x="0" y="903605"/>
            <a:ext cx="12192000" cy="4529455"/>
          </a:xfrm>
          <a:prstGeom prst="rect">
            <a:avLst/>
          </a:prstGeom>
        </p:spPr>
      </p:pic>
      <p:sp>
        <p:nvSpPr>
          <p:cNvPr id="8" name="Text Box 7"/>
          <p:cNvSpPr txBox="1"/>
          <p:nvPr/>
        </p:nvSpPr>
        <p:spPr>
          <a:xfrm>
            <a:off x="3867785" y="5433060"/>
            <a:ext cx="4361180" cy="368300"/>
          </a:xfrm>
          <a:prstGeom prst="rect">
            <a:avLst/>
          </a:prstGeom>
          <a:noFill/>
        </p:spPr>
        <p:txBody>
          <a:bodyPr wrap="square" rtlCol="0">
            <a:spAutoFit/>
          </a:bodyPr>
          <a:p>
            <a:r>
              <a:rPr lang="en-US" b="1"/>
              <a:t>Fig: Histogram of Chest Pain Against Age</a:t>
            </a:r>
            <a:endParaRPr lang="en-US"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45" name="TextBox 11"/>
          <p:cNvSpPr txBox="1"/>
          <p:nvPr/>
        </p:nvSpPr>
        <p:spPr>
          <a:xfrm>
            <a:off x="553720" y="150495"/>
            <a:ext cx="10073640" cy="829945"/>
          </a:xfrm>
          <a:prstGeom prst="rect">
            <a:avLst/>
          </a:prstGeom>
          <a:noFill/>
        </p:spPr>
        <p:txBody>
          <a:bodyPr wrap="square" rtlCol="0">
            <a:spAutoFit/>
          </a:bodyPr>
          <a:p>
            <a:pPr algn="ctr"/>
            <a:r>
              <a:rPr lang="en-US" sz="4800" b="1" dirty="0">
                <a:latin typeface="Book Antiqua" panose="02040602050305030304" pitchFamily="18" charset="0"/>
              </a:rPr>
              <a:t>EXPLORATORY DATA ANALYSIS</a:t>
            </a:r>
            <a:endParaRPr lang="en-US" sz="4800" b="1" dirty="0">
              <a:latin typeface="Book Antiqua" panose="02040602050305030304" pitchFamily="18" charset="0"/>
            </a:endParaRPr>
          </a:p>
        </p:txBody>
      </p:sp>
      <p:pic>
        <p:nvPicPr>
          <p:cNvPr id="2" name="Picture 1"/>
          <p:cNvPicPr/>
          <p:nvPr/>
        </p:nvPicPr>
        <p:blipFill>
          <a:blip r:embed="rId2"/>
          <a:stretch>
            <a:fillRect/>
          </a:stretch>
        </p:blipFill>
        <p:spPr>
          <a:xfrm>
            <a:off x="553720" y="1271270"/>
            <a:ext cx="5205730" cy="4443730"/>
          </a:xfrm>
          <a:prstGeom prst="rect">
            <a:avLst/>
          </a:prstGeom>
        </p:spPr>
      </p:pic>
      <p:pic>
        <p:nvPicPr>
          <p:cNvPr id="3" name="Picture 2"/>
          <p:cNvPicPr/>
          <p:nvPr/>
        </p:nvPicPr>
        <p:blipFill>
          <a:blip r:embed="rId3"/>
          <a:stretch>
            <a:fillRect/>
          </a:stretch>
        </p:blipFill>
        <p:spPr>
          <a:xfrm>
            <a:off x="5982335" y="1271270"/>
            <a:ext cx="5160645" cy="4444365"/>
          </a:xfrm>
          <a:prstGeom prst="rect">
            <a:avLst/>
          </a:prstGeom>
        </p:spPr>
      </p:pic>
      <p:sp>
        <p:nvSpPr>
          <p:cNvPr id="8" name="Text Box 7"/>
          <p:cNvSpPr txBox="1"/>
          <p:nvPr/>
        </p:nvSpPr>
        <p:spPr>
          <a:xfrm>
            <a:off x="1031875" y="5801360"/>
            <a:ext cx="4361180" cy="368300"/>
          </a:xfrm>
          <a:prstGeom prst="rect">
            <a:avLst/>
          </a:prstGeom>
          <a:noFill/>
        </p:spPr>
        <p:txBody>
          <a:bodyPr wrap="square" rtlCol="0">
            <a:spAutoFit/>
          </a:bodyPr>
          <a:p>
            <a:r>
              <a:rPr lang="en-US" b="1"/>
              <a:t>Fig: Bar Chart of Chest Pain Against Sex</a:t>
            </a:r>
            <a:endParaRPr lang="en-US" b="1"/>
          </a:p>
        </p:txBody>
      </p:sp>
      <p:sp>
        <p:nvSpPr>
          <p:cNvPr id="5" name="Text Box 4"/>
          <p:cNvSpPr txBox="1"/>
          <p:nvPr/>
        </p:nvSpPr>
        <p:spPr>
          <a:xfrm>
            <a:off x="6512560" y="5801360"/>
            <a:ext cx="4752975" cy="368300"/>
          </a:xfrm>
          <a:prstGeom prst="rect">
            <a:avLst/>
          </a:prstGeom>
          <a:noFill/>
        </p:spPr>
        <p:txBody>
          <a:bodyPr wrap="square" rtlCol="0">
            <a:spAutoFit/>
          </a:bodyPr>
          <a:p>
            <a:r>
              <a:rPr lang="en-US" b="1"/>
              <a:t>Fig: Bar Chart of Chest Pain Against RestingECG</a:t>
            </a:r>
            <a:endParaRPr lang="en-US"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45" name="TextBox 11"/>
          <p:cNvSpPr txBox="1"/>
          <p:nvPr/>
        </p:nvSpPr>
        <p:spPr>
          <a:xfrm>
            <a:off x="553720" y="150495"/>
            <a:ext cx="10073640" cy="829945"/>
          </a:xfrm>
          <a:prstGeom prst="rect">
            <a:avLst/>
          </a:prstGeom>
          <a:noFill/>
        </p:spPr>
        <p:txBody>
          <a:bodyPr wrap="square" rtlCol="0">
            <a:spAutoFit/>
          </a:bodyPr>
          <a:p>
            <a:pPr algn="ctr"/>
            <a:r>
              <a:rPr lang="en-US" sz="4800" b="1" dirty="0">
                <a:latin typeface="Book Antiqua" panose="02040602050305030304" pitchFamily="18" charset="0"/>
              </a:rPr>
              <a:t>EXPLORATORY DATA ANALYSIS</a:t>
            </a:r>
            <a:endParaRPr lang="en-US" sz="4800" b="1" dirty="0">
              <a:latin typeface="Book Antiqua" panose="02040602050305030304" pitchFamily="18" charset="0"/>
            </a:endParaRPr>
          </a:p>
        </p:txBody>
      </p:sp>
      <p:sp>
        <p:nvSpPr>
          <p:cNvPr id="2" name="Text Box 1"/>
          <p:cNvSpPr txBox="1"/>
          <p:nvPr/>
        </p:nvSpPr>
        <p:spPr>
          <a:xfrm>
            <a:off x="841375" y="1035050"/>
            <a:ext cx="6096000" cy="521970"/>
          </a:xfrm>
          <a:prstGeom prst="rect">
            <a:avLst/>
          </a:prstGeom>
          <a:noFill/>
        </p:spPr>
        <p:txBody>
          <a:bodyPr wrap="square" rtlCol="0" anchor="t">
            <a:spAutoFit/>
          </a:bodyPr>
          <a:p>
            <a:pPr marL="285750" indent="-285750">
              <a:buFont typeface="Wingdings" panose="05000000000000000000" charset="0"/>
              <a:buChar char="Ø"/>
            </a:pPr>
            <a:r>
              <a:rPr lang="en-US" altLang="en-US" sz="2800" b="1">
                <a:sym typeface="+mn-ea"/>
              </a:rPr>
              <a:t>Dealing With Outliers</a:t>
            </a:r>
            <a:endParaRPr lang="en-US" altLang="en-US" sz="2800" b="1">
              <a:sym typeface="+mn-ea"/>
            </a:endParaRPr>
          </a:p>
        </p:txBody>
      </p:sp>
      <p:pic>
        <p:nvPicPr>
          <p:cNvPr id="3" name="Picture 2"/>
          <p:cNvPicPr>
            <a:picLocks noChangeAspect="1"/>
          </p:cNvPicPr>
          <p:nvPr/>
        </p:nvPicPr>
        <p:blipFill>
          <a:blip r:embed="rId2"/>
          <a:stretch>
            <a:fillRect/>
          </a:stretch>
        </p:blipFill>
        <p:spPr>
          <a:xfrm>
            <a:off x="841375" y="1774825"/>
            <a:ext cx="2372360" cy="3799840"/>
          </a:xfrm>
          <a:prstGeom prst="rect">
            <a:avLst/>
          </a:prstGeom>
        </p:spPr>
      </p:pic>
      <p:pic>
        <p:nvPicPr>
          <p:cNvPr id="5" name="Picture 4"/>
          <p:cNvPicPr/>
          <p:nvPr/>
        </p:nvPicPr>
        <p:blipFill>
          <a:blip r:embed="rId3"/>
          <a:stretch>
            <a:fillRect/>
          </a:stretch>
        </p:blipFill>
        <p:spPr>
          <a:xfrm>
            <a:off x="3419475" y="1774190"/>
            <a:ext cx="7846060" cy="3800475"/>
          </a:xfrm>
          <a:prstGeom prst="rect">
            <a:avLst/>
          </a:prstGeom>
        </p:spPr>
      </p:pic>
      <p:sp>
        <p:nvSpPr>
          <p:cNvPr id="8" name="Text Box 7"/>
          <p:cNvSpPr txBox="1"/>
          <p:nvPr/>
        </p:nvSpPr>
        <p:spPr>
          <a:xfrm>
            <a:off x="836295" y="5792470"/>
            <a:ext cx="2901950" cy="368300"/>
          </a:xfrm>
          <a:prstGeom prst="rect">
            <a:avLst/>
          </a:prstGeom>
          <a:noFill/>
        </p:spPr>
        <p:txBody>
          <a:bodyPr wrap="square" rtlCol="0">
            <a:spAutoFit/>
          </a:bodyPr>
          <a:p>
            <a:r>
              <a:rPr lang="en-US" b="1"/>
              <a:t>Fig: Number Of Outliers</a:t>
            </a:r>
            <a:endParaRPr lang="en-US" b="1"/>
          </a:p>
        </p:txBody>
      </p:sp>
      <p:sp>
        <p:nvSpPr>
          <p:cNvPr id="7" name="Text Box 6"/>
          <p:cNvSpPr txBox="1"/>
          <p:nvPr/>
        </p:nvSpPr>
        <p:spPr>
          <a:xfrm>
            <a:off x="5604510" y="5791835"/>
            <a:ext cx="5227955" cy="368300"/>
          </a:xfrm>
          <a:prstGeom prst="rect">
            <a:avLst/>
          </a:prstGeom>
          <a:noFill/>
        </p:spPr>
        <p:txBody>
          <a:bodyPr wrap="square" rtlCol="0">
            <a:spAutoFit/>
          </a:bodyPr>
          <a:p>
            <a:r>
              <a:rPr lang="en-US" b="1"/>
              <a:t>Fig: Visualization Of Outliers With Boxplots</a:t>
            </a:r>
            <a:endParaRPr lang="en-US"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pic>
        <p:nvPicPr>
          <p:cNvPr id="2" name="Picture 1"/>
          <p:cNvPicPr>
            <a:picLocks noChangeAspect="1"/>
          </p:cNvPicPr>
          <p:nvPr/>
        </p:nvPicPr>
        <p:blipFill>
          <a:blip r:embed="rId2"/>
          <a:stretch>
            <a:fillRect/>
          </a:stretch>
        </p:blipFill>
        <p:spPr>
          <a:xfrm>
            <a:off x="4227830" y="1035050"/>
            <a:ext cx="4382770" cy="685165"/>
          </a:xfrm>
          <a:prstGeom prst="rect">
            <a:avLst/>
          </a:prstGeom>
        </p:spPr>
      </p:pic>
      <p:sp>
        <p:nvSpPr>
          <p:cNvPr id="45" name="TextBox 11"/>
          <p:cNvSpPr txBox="1"/>
          <p:nvPr/>
        </p:nvSpPr>
        <p:spPr>
          <a:xfrm>
            <a:off x="553720" y="150495"/>
            <a:ext cx="10073640" cy="829945"/>
          </a:xfrm>
          <a:prstGeom prst="rect">
            <a:avLst/>
          </a:prstGeom>
          <a:noFill/>
        </p:spPr>
        <p:txBody>
          <a:bodyPr wrap="square" rtlCol="0">
            <a:spAutoFit/>
          </a:bodyPr>
          <a:p>
            <a:pPr algn="ctr"/>
            <a:r>
              <a:rPr lang="en-US" sz="4800" b="1" dirty="0">
                <a:latin typeface="Book Antiqua" panose="02040602050305030304" pitchFamily="18" charset="0"/>
              </a:rPr>
              <a:t>EXPLORATORY DATA ANALYSIS</a:t>
            </a:r>
            <a:endParaRPr lang="en-US" sz="4800" b="1" dirty="0">
              <a:latin typeface="Book Antiqua" panose="02040602050305030304" pitchFamily="18" charset="0"/>
            </a:endParaRPr>
          </a:p>
        </p:txBody>
      </p:sp>
      <p:sp>
        <p:nvSpPr>
          <p:cNvPr id="3" name="Text Box 2"/>
          <p:cNvSpPr txBox="1"/>
          <p:nvPr/>
        </p:nvSpPr>
        <p:spPr>
          <a:xfrm>
            <a:off x="841375" y="1116330"/>
            <a:ext cx="3461385" cy="521970"/>
          </a:xfrm>
          <a:prstGeom prst="rect">
            <a:avLst/>
          </a:prstGeom>
          <a:noFill/>
        </p:spPr>
        <p:txBody>
          <a:bodyPr wrap="square" rtlCol="0" anchor="t">
            <a:spAutoFit/>
          </a:bodyPr>
          <a:p>
            <a:pPr marL="285750" indent="-285750">
              <a:buFont typeface="Wingdings" panose="05000000000000000000" charset="0"/>
              <a:buChar char="Ø"/>
            </a:pPr>
            <a:r>
              <a:rPr lang="en-US" altLang="en-US" sz="2800" b="1">
                <a:sym typeface="+mn-ea"/>
              </a:rPr>
              <a:t>Removing Outliers:</a:t>
            </a:r>
            <a:endParaRPr lang="en-US" altLang="en-US" sz="2800" b="1">
              <a:sym typeface="+mn-ea"/>
            </a:endParaRPr>
          </a:p>
        </p:txBody>
      </p:sp>
      <p:pic>
        <p:nvPicPr>
          <p:cNvPr id="5" name="Picture 4"/>
          <p:cNvPicPr/>
          <p:nvPr/>
        </p:nvPicPr>
        <p:blipFill>
          <a:blip r:embed="rId3"/>
          <a:stretch>
            <a:fillRect/>
          </a:stretch>
        </p:blipFill>
        <p:spPr>
          <a:xfrm>
            <a:off x="988060" y="1774190"/>
            <a:ext cx="10154920" cy="4165600"/>
          </a:xfrm>
          <a:prstGeom prst="rect">
            <a:avLst/>
          </a:prstGeom>
        </p:spPr>
      </p:pic>
      <p:sp>
        <p:nvSpPr>
          <p:cNvPr id="7" name="Text Box 6"/>
          <p:cNvSpPr txBox="1"/>
          <p:nvPr/>
        </p:nvSpPr>
        <p:spPr>
          <a:xfrm>
            <a:off x="3834765" y="6075680"/>
            <a:ext cx="5628640" cy="368300"/>
          </a:xfrm>
          <a:prstGeom prst="rect">
            <a:avLst/>
          </a:prstGeom>
          <a:noFill/>
        </p:spPr>
        <p:txBody>
          <a:bodyPr wrap="square" rtlCol="0">
            <a:spAutoFit/>
          </a:bodyPr>
          <a:p>
            <a:r>
              <a:rPr lang="en-US" b="1"/>
              <a:t>Fig: Visualization Of Boxplots After Removing Outliers</a:t>
            </a:r>
            <a:endParaRPr lang="en-US" b="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pic>
        <p:nvPicPr>
          <p:cNvPr id="3" name="Picture 2"/>
          <p:cNvPicPr/>
          <p:nvPr/>
        </p:nvPicPr>
        <p:blipFill>
          <a:blip r:embed="rId2"/>
          <a:stretch>
            <a:fillRect/>
          </a:stretch>
        </p:blipFill>
        <p:spPr>
          <a:xfrm>
            <a:off x="4507230" y="2628265"/>
            <a:ext cx="6471920" cy="3290570"/>
          </a:xfrm>
          <a:prstGeom prst="rect">
            <a:avLst/>
          </a:prstGeom>
        </p:spPr>
      </p:pic>
      <p:sp>
        <p:nvSpPr>
          <p:cNvPr id="45" name="TextBox 11"/>
          <p:cNvSpPr txBox="1"/>
          <p:nvPr/>
        </p:nvSpPr>
        <p:spPr>
          <a:xfrm>
            <a:off x="553720" y="150495"/>
            <a:ext cx="10073640" cy="829945"/>
          </a:xfrm>
          <a:prstGeom prst="rect">
            <a:avLst/>
          </a:prstGeom>
          <a:noFill/>
        </p:spPr>
        <p:txBody>
          <a:bodyPr wrap="square" rtlCol="0">
            <a:spAutoFit/>
          </a:bodyPr>
          <a:p>
            <a:pPr algn="ctr"/>
            <a:r>
              <a:rPr lang="en-US" sz="4800" b="1" dirty="0">
                <a:latin typeface="Book Antiqua" panose="02040602050305030304" pitchFamily="18" charset="0"/>
              </a:rPr>
              <a:t>Model Evaluation</a:t>
            </a:r>
            <a:endParaRPr lang="en-US" sz="4800" b="1" dirty="0">
              <a:latin typeface="Book Antiqua" panose="02040602050305030304" pitchFamily="18" charset="0"/>
            </a:endParaRPr>
          </a:p>
        </p:txBody>
      </p:sp>
      <p:sp>
        <p:nvSpPr>
          <p:cNvPr id="7" name="Text Box 6"/>
          <p:cNvSpPr txBox="1"/>
          <p:nvPr/>
        </p:nvSpPr>
        <p:spPr>
          <a:xfrm>
            <a:off x="970280" y="1230630"/>
            <a:ext cx="10008870" cy="1397635"/>
          </a:xfrm>
          <a:prstGeom prst="rect">
            <a:avLst/>
          </a:prstGeom>
          <a:noFill/>
        </p:spPr>
        <p:txBody>
          <a:bodyPr wrap="square" rtlCol="0">
            <a:noAutofit/>
          </a:bodyPr>
          <a:p>
            <a:pPr marL="457200" indent="-457200" algn="just">
              <a:buFont typeface="Wingdings" panose="05000000000000000000" charset="0"/>
              <a:buChar char="Ø"/>
            </a:pPr>
            <a:r>
              <a:rPr lang="en-US" altLang="en-US" sz="2800"/>
              <a:t>Initially, we applied 14 different machine learning models without using label encoding. Among them, </a:t>
            </a:r>
            <a:r>
              <a:rPr lang="en-US" altLang="en-US" sz="2800" b="1"/>
              <a:t>Gradient Boosting </a:t>
            </a:r>
            <a:r>
              <a:rPr lang="en-US" altLang="en-US" sz="2800"/>
              <a:t>and</a:t>
            </a:r>
            <a:r>
              <a:rPr lang="en-US" altLang="en-US" sz="2800" b="1"/>
              <a:t> XGBoost Classifier</a:t>
            </a:r>
            <a:r>
              <a:rPr lang="en-US" altLang="en-US" sz="2800"/>
              <a:t> delivered the best performance.</a:t>
            </a:r>
            <a:endParaRPr lang="en-US" sz="2800"/>
          </a:p>
        </p:txBody>
      </p:sp>
      <p:pic>
        <p:nvPicPr>
          <p:cNvPr id="8" name="Picture 7"/>
          <p:cNvPicPr>
            <a:picLocks noChangeAspect="1"/>
          </p:cNvPicPr>
          <p:nvPr/>
        </p:nvPicPr>
        <p:blipFill>
          <a:blip r:embed="rId3"/>
          <a:stretch>
            <a:fillRect/>
          </a:stretch>
        </p:blipFill>
        <p:spPr>
          <a:xfrm>
            <a:off x="970280" y="3173095"/>
            <a:ext cx="3196590" cy="1283970"/>
          </a:xfrm>
          <a:prstGeom prst="rect">
            <a:avLst/>
          </a:prstGeom>
        </p:spPr>
      </p:pic>
      <p:sp>
        <p:nvSpPr>
          <p:cNvPr id="11" name="Text Box 10"/>
          <p:cNvSpPr txBox="1"/>
          <p:nvPr/>
        </p:nvSpPr>
        <p:spPr>
          <a:xfrm>
            <a:off x="5193030" y="5998845"/>
            <a:ext cx="5628640" cy="368300"/>
          </a:xfrm>
          <a:prstGeom prst="rect">
            <a:avLst/>
          </a:prstGeom>
          <a:noFill/>
        </p:spPr>
        <p:txBody>
          <a:bodyPr wrap="square" rtlCol="0">
            <a:spAutoFit/>
          </a:bodyPr>
          <a:p>
            <a:r>
              <a:rPr lang="en-US" b="1"/>
              <a:t>Fig: Model Accuracy Without Using Label Encoding</a:t>
            </a:r>
            <a:endParaRPr lang="en-US" b="1"/>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45" name="TextBox 11"/>
          <p:cNvSpPr txBox="1"/>
          <p:nvPr/>
        </p:nvSpPr>
        <p:spPr>
          <a:xfrm>
            <a:off x="553720" y="150495"/>
            <a:ext cx="10073640" cy="829945"/>
          </a:xfrm>
          <a:prstGeom prst="rect">
            <a:avLst/>
          </a:prstGeom>
          <a:noFill/>
        </p:spPr>
        <p:txBody>
          <a:bodyPr wrap="square" rtlCol="0">
            <a:spAutoFit/>
          </a:bodyPr>
          <a:p>
            <a:pPr algn="ctr"/>
            <a:r>
              <a:rPr lang="en-US" sz="4800" b="1" dirty="0">
                <a:latin typeface="Book Antiqua" panose="02040602050305030304" pitchFamily="18" charset="0"/>
              </a:rPr>
              <a:t>Model Evaluation</a:t>
            </a:r>
            <a:endParaRPr lang="en-US" sz="4800" b="1" dirty="0">
              <a:latin typeface="Book Antiqua" panose="02040602050305030304" pitchFamily="18" charset="0"/>
            </a:endParaRPr>
          </a:p>
        </p:txBody>
      </p:sp>
      <p:sp>
        <p:nvSpPr>
          <p:cNvPr id="2" name="Text Box 1"/>
          <p:cNvSpPr txBox="1"/>
          <p:nvPr/>
        </p:nvSpPr>
        <p:spPr>
          <a:xfrm>
            <a:off x="815340" y="980440"/>
            <a:ext cx="10327005" cy="1708150"/>
          </a:xfrm>
          <a:prstGeom prst="rect">
            <a:avLst/>
          </a:prstGeom>
          <a:noFill/>
        </p:spPr>
        <p:txBody>
          <a:bodyPr wrap="square" rtlCol="0">
            <a:noAutofit/>
          </a:bodyPr>
          <a:p>
            <a:pPr marL="342900" indent="-342900" algn="just">
              <a:buFont typeface="Wingdings" panose="05000000000000000000" charset="0"/>
              <a:buChar char="Ø"/>
            </a:pPr>
            <a:r>
              <a:rPr lang="en-US" altLang="en-US" sz="2400"/>
              <a:t>In the second phase, we applied categorical encoding to specific features such as 'Sex', 'ChestPainType', 'RestingECG' and 'ExerciseAngina'. After training multiple models with the encoded data, </a:t>
            </a:r>
            <a:r>
              <a:rPr lang="en-US" altLang="en-US" sz="2400" b="1"/>
              <a:t>Support Vector Machine (SVM)</a:t>
            </a:r>
            <a:r>
              <a:rPr lang="en-US" altLang="en-US" sz="2400"/>
              <a:t> demonstrated the highest performance.</a:t>
            </a:r>
            <a:endParaRPr lang="en-US" sz="2400"/>
          </a:p>
        </p:txBody>
      </p:sp>
      <p:pic>
        <p:nvPicPr>
          <p:cNvPr id="3" name="Picture 2"/>
          <p:cNvPicPr/>
          <p:nvPr/>
        </p:nvPicPr>
        <p:blipFill>
          <a:blip r:embed="rId2"/>
          <a:stretch>
            <a:fillRect/>
          </a:stretch>
        </p:blipFill>
        <p:spPr>
          <a:xfrm>
            <a:off x="4829810" y="2562225"/>
            <a:ext cx="6809740" cy="3401060"/>
          </a:xfrm>
          <a:prstGeom prst="rect">
            <a:avLst/>
          </a:prstGeom>
        </p:spPr>
      </p:pic>
      <p:pic>
        <p:nvPicPr>
          <p:cNvPr id="5" name="Picture 4"/>
          <p:cNvPicPr>
            <a:picLocks noChangeAspect="1"/>
          </p:cNvPicPr>
          <p:nvPr/>
        </p:nvPicPr>
        <p:blipFill>
          <a:blip r:embed="rId3"/>
          <a:stretch>
            <a:fillRect/>
          </a:stretch>
        </p:blipFill>
        <p:spPr>
          <a:xfrm>
            <a:off x="814705" y="3324860"/>
            <a:ext cx="3474085" cy="1247140"/>
          </a:xfrm>
          <a:prstGeom prst="rect">
            <a:avLst/>
          </a:prstGeom>
        </p:spPr>
      </p:pic>
      <p:sp>
        <p:nvSpPr>
          <p:cNvPr id="11" name="Text Box 10"/>
          <p:cNvSpPr txBox="1"/>
          <p:nvPr/>
        </p:nvSpPr>
        <p:spPr>
          <a:xfrm>
            <a:off x="5612130" y="6021070"/>
            <a:ext cx="5628640" cy="368300"/>
          </a:xfrm>
          <a:prstGeom prst="rect">
            <a:avLst/>
          </a:prstGeom>
          <a:noFill/>
        </p:spPr>
        <p:txBody>
          <a:bodyPr wrap="square" rtlCol="0">
            <a:spAutoFit/>
          </a:bodyPr>
          <a:p>
            <a:r>
              <a:rPr lang="en-US" b="1"/>
              <a:t>Fig: Model Accuracy Using Categorical Encoding</a:t>
            </a:r>
            <a:endParaRPr lang="en-US" b="1"/>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45" name="TextBox 11"/>
          <p:cNvSpPr txBox="1"/>
          <p:nvPr/>
        </p:nvSpPr>
        <p:spPr>
          <a:xfrm>
            <a:off x="553720" y="150495"/>
            <a:ext cx="10073640" cy="829945"/>
          </a:xfrm>
          <a:prstGeom prst="rect">
            <a:avLst/>
          </a:prstGeom>
          <a:noFill/>
        </p:spPr>
        <p:txBody>
          <a:bodyPr wrap="square" rtlCol="0">
            <a:spAutoFit/>
          </a:bodyPr>
          <a:p>
            <a:pPr algn="ctr"/>
            <a:r>
              <a:rPr lang="en-US" sz="4800" b="1" dirty="0">
                <a:latin typeface="Book Antiqua" panose="02040602050305030304" pitchFamily="18" charset="0"/>
              </a:rPr>
              <a:t>Model Evaluation</a:t>
            </a:r>
            <a:endParaRPr lang="en-US" sz="4800" b="1" dirty="0">
              <a:latin typeface="Book Antiqua" panose="02040602050305030304" pitchFamily="18" charset="0"/>
            </a:endParaRPr>
          </a:p>
        </p:txBody>
      </p:sp>
      <p:sp>
        <p:nvSpPr>
          <p:cNvPr id="2" name="Text Box 1"/>
          <p:cNvSpPr txBox="1"/>
          <p:nvPr/>
        </p:nvSpPr>
        <p:spPr>
          <a:xfrm>
            <a:off x="815340" y="980440"/>
            <a:ext cx="10327005" cy="1890395"/>
          </a:xfrm>
          <a:prstGeom prst="rect">
            <a:avLst/>
          </a:prstGeom>
          <a:noFill/>
        </p:spPr>
        <p:txBody>
          <a:bodyPr wrap="square" rtlCol="0">
            <a:noAutofit/>
          </a:bodyPr>
          <a:p>
            <a:pPr marL="342900" indent="-342900" algn="just">
              <a:buFont typeface="Wingdings" panose="05000000000000000000" charset="0"/>
              <a:buChar char="Ø"/>
            </a:pPr>
            <a:r>
              <a:rPr lang="en-US" altLang="en-US" sz="2400"/>
              <a:t>In the final phase, we applied hyperparameter tuning across a wide range of models, including traditional machine learning algorithms, deep learning architectures (ANN, CNN, LSTM) and regularized variants. After extensive evaluation using accuracy, precision, recall and F1-score, the </a:t>
            </a:r>
            <a:r>
              <a:rPr lang="en-US" altLang="en-US" sz="2400" b="1"/>
              <a:t>AdaBoost</a:t>
            </a:r>
            <a:r>
              <a:rPr lang="en-US" altLang="en-US" sz="2400"/>
              <a:t> model emerged as the top performer with the highest accuracy.</a:t>
            </a:r>
            <a:endParaRPr lang="en-US" altLang="en-US" sz="2400"/>
          </a:p>
        </p:txBody>
      </p:sp>
      <p:pic>
        <p:nvPicPr>
          <p:cNvPr id="3" name="Picture 2"/>
          <p:cNvPicPr/>
          <p:nvPr/>
        </p:nvPicPr>
        <p:blipFill>
          <a:blip r:embed="rId2"/>
          <a:stretch>
            <a:fillRect/>
          </a:stretch>
        </p:blipFill>
        <p:spPr>
          <a:xfrm>
            <a:off x="4162425" y="3035300"/>
            <a:ext cx="7631430" cy="2828925"/>
          </a:xfrm>
          <a:prstGeom prst="rect">
            <a:avLst/>
          </a:prstGeom>
        </p:spPr>
      </p:pic>
      <p:pic>
        <p:nvPicPr>
          <p:cNvPr id="5" name="Picture 4"/>
          <p:cNvPicPr>
            <a:picLocks noChangeAspect="1"/>
          </p:cNvPicPr>
          <p:nvPr/>
        </p:nvPicPr>
        <p:blipFill>
          <a:blip r:embed="rId3"/>
          <a:stretch>
            <a:fillRect/>
          </a:stretch>
        </p:blipFill>
        <p:spPr>
          <a:xfrm>
            <a:off x="815340" y="3520440"/>
            <a:ext cx="3177540" cy="1303655"/>
          </a:xfrm>
          <a:prstGeom prst="rect">
            <a:avLst/>
          </a:prstGeom>
        </p:spPr>
      </p:pic>
      <p:sp>
        <p:nvSpPr>
          <p:cNvPr id="11" name="Text Box 10"/>
          <p:cNvSpPr txBox="1"/>
          <p:nvPr/>
        </p:nvSpPr>
        <p:spPr>
          <a:xfrm>
            <a:off x="5193030" y="5998845"/>
            <a:ext cx="5628640" cy="368300"/>
          </a:xfrm>
          <a:prstGeom prst="rect">
            <a:avLst/>
          </a:prstGeom>
          <a:noFill/>
        </p:spPr>
        <p:txBody>
          <a:bodyPr wrap="square" rtlCol="0">
            <a:spAutoFit/>
          </a:bodyPr>
          <a:p>
            <a:r>
              <a:rPr lang="en-US" b="1"/>
              <a:t>Fig: Model Accuracy Using Hyper Parameter Tuning</a:t>
            </a:r>
            <a:endParaRPr lang="en-US" b="1"/>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45" name="TextBox 11"/>
          <p:cNvSpPr txBox="1"/>
          <p:nvPr/>
        </p:nvSpPr>
        <p:spPr>
          <a:xfrm>
            <a:off x="1280160" y="226695"/>
            <a:ext cx="10073640" cy="829945"/>
          </a:xfrm>
          <a:prstGeom prst="rect">
            <a:avLst/>
          </a:prstGeom>
          <a:noFill/>
        </p:spPr>
        <p:txBody>
          <a:bodyPr wrap="square" rtlCol="0">
            <a:spAutoFit/>
          </a:bodyPr>
          <a:p>
            <a:pPr algn="ctr"/>
            <a:r>
              <a:rPr lang="en-US" sz="4800" b="1" dirty="0">
                <a:latin typeface="Book Antiqua" panose="02040602050305030304" pitchFamily="18" charset="0"/>
              </a:rPr>
              <a:t>USER INTERFACE</a:t>
            </a:r>
            <a:endParaRPr lang="en-US" sz="4800" b="1" dirty="0">
              <a:latin typeface="Book Antiqua" panose="02040602050305030304" pitchFamily="18" charset="0"/>
            </a:endParaRPr>
          </a:p>
        </p:txBody>
      </p:sp>
      <p:pic>
        <p:nvPicPr>
          <p:cNvPr id="2" name="Picture 1"/>
          <p:cNvPicPr>
            <a:picLocks noChangeAspect="1"/>
          </p:cNvPicPr>
          <p:nvPr/>
        </p:nvPicPr>
        <p:blipFill>
          <a:blip r:embed="rId2"/>
          <a:srcRect t="11247" r="262" b="4398"/>
          <a:stretch>
            <a:fillRect/>
          </a:stretch>
        </p:blipFill>
        <p:spPr>
          <a:xfrm>
            <a:off x="1162685" y="1056640"/>
            <a:ext cx="9979660" cy="47244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45" name="TextBox 11"/>
          <p:cNvSpPr txBox="1"/>
          <p:nvPr/>
        </p:nvSpPr>
        <p:spPr>
          <a:xfrm>
            <a:off x="1280160" y="226695"/>
            <a:ext cx="10073640" cy="829945"/>
          </a:xfrm>
          <a:prstGeom prst="rect">
            <a:avLst/>
          </a:prstGeom>
          <a:noFill/>
        </p:spPr>
        <p:txBody>
          <a:bodyPr wrap="square" rtlCol="0">
            <a:spAutoFit/>
          </a:bodyPr>
          <a:p>
            <a:pPr algn="ctr"/>
            <a:r>
              <a:rPr lang="en-US" sz="4800" b="1" dirty="0">
                <a:latin typeface="Book Antiqua" panose="02040602050305030304" pitchFamily="18" charset="0"/>
              </a:rPr>
              <a:t>USER INTERFACE</a:t>
            </a:r>
            <a:endParaRPr lang="en-US" sz="4800" b="1" dirty="0">
              <a:latin typeface="Book Antiqua" panose="02040602050305030304" pitchFamily="18" charset="0"/>
            </a:endParaRPr>
          </a:p>
        </p:txBody>
      </p:sp>
      <p:pic>
        <p:nvPicPr>
          <p:cNvPr id="3" name="Picture 2"/>
          <p:cNvPicPr>
            <a:picLocks noChangeAspect="1"/>
          </p:cNvPicPr>
          <p:nvPr/>
        </p:nvPicPr>
        <p:blipFill>
          <a:blip r:embed="rId2"/>
          <a:srcRect t="11351" b="3948"/>
          <a:stretch>
            <a:fillRect/>
          </a:stretch>
        </p:blipFill>
        <p:spPr>
          <a:xfrm>
            <a:off x="964565" y="1193800"/>
            <a:ext cx="10178415" cy="470598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45" name="TextBox 11"/>
          <p:cNvSpPr txBox="1"/>
          <p:nvPr/>
        </p:nvSpPr>
        <p:spPr>
          <a:xfrm>
            <a:off x="1280160" y="226695"/>
            <a:ext cx="10073640" cy="829945"/>
          </a:xfrm>
          <a:prstGeom prst="rect">
            <a:avLst/>
          </a:prstGeom>
          <a:noFill/>
        </p:spPr>
        <p:txBody>
          <a:bodyPr wrap="square" rtlCol="0">
            <a:spAutoFit/>
          </a:bodyPr>
          <a:p>
            <a:pPr algn="ctr"/>
            <a:r>
              <a:rPr lang="en-US" sz="4800" b="1" dirty="0">
                <a:latin typeface="Book Antiqua" panose="02040602050305030304" pitchFamily="18" charset="0"/>
              </a:rPr>
              <a:t>USER INTERFACE</a:t>
            </a:r>
            <a:endParaRPr lang="en-US" sz="4800" b="1" dirty="0">
              <a:latin typeface="Book Antiqua" panose="02040602050305030304" pitchFamily="18" charset="0"/>
            </a:endParaRPr>
          </a:p>
        </p:txBody>
      </p:sp>
      <p:pic>
        <p:nvPicPr>
          <p:cNvPr id="2" name="Picture 1"/>
          <p:cNvPicPr>
            <a:picLocks noChangeAspect="1"/>
          </p:cNvPicPr>
          <p:nvPr/>
        </p:nvPicPr>
        <p:blipFill>
          <a:blip r:embed="rId2"/>
          <a:srcRect t="11440" b="4246"/>
          <a:stretch>
            <a:fillRect/>
          </a:stretch>
        </p:blipFill>
        <p:spPr>
          <a:xfrm>
            <a:off x="1092200" y="1203960"/>
            <a:ext cx="9667875" cy="430403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1"/>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
        <p:nvSpPr>
          <p:cNvPr id="45" name="TextBox 11"/>
          <p:cNvSpPr txBox="1"/>
          <p:nvPr/>
        </p:nvSpPr>
        <p:spPr>
          <a:xfrm>
            <a:off x="1280160" y="226695"/>
            <a:ext cx="9508490" cy="829945"/>
          </a:xfrm>
          <a:prstGeom prst="rect">
            <a:avLst/>
          </a:prstGeom>
          <a:noFill/>
        </p:spPr>
        <p:txBody>
          <a:bodyPr wrap="square" rtlCol="0">
            <a:spAutoFit/>
          </a:bodyPr>
          <a:p>
            <a:pPr algn="ctr"/>
            <a:r>
              <a:rPr lang="en-US" sz="4800" b="1" dirty="0">
                <a:latin typeface="Book Antiqua" panose="02040602050305030304" pitchFamily="18" charset="0"/>
              </a:rPr>
              <a:t>Future Work</a:t>
            </a:r>
            <a:endParaRPr lang="en-US" sz="4800" b="1" dirty="0">
              <a:latin typeface="Book Antiqua" panose="02040602050305030304" pitchFamily="18" charset="0"/>
            </a:endParaRPr>
          </a:p>
        </p:txBody>
      </p:sp>
      <p:sp>
        <p:nvSpPr>
          <p:cNvPr id="2" name="Text Box 1"/>
          <p:cNvSpPr txBox="1"/>
          <p:nvPr/>
        </p:nvSpPr>
        <p:spPr>
          <a:xfrm>
            <a:off x="651510" y="1239520"/>
            <a:ext cx="10566400" cy="4926965"/>
          </a:xfrm>
          <a:prstGeom prst="rect">
            <a:avLst/>
          </a:prstGeom>
          <a:noFill/>
        </p:spPr>
        <p:txBody>
          <a:bodyPr wrap="square" rtlCol="0">
            <a:noAutofit/>
          </a:bodyPr>
          <a:p>
            <a:pPr marL="285750" indent="-285750" algn="just">
              <a:buFont typeface="Wingdings" panose="05000000000000000000" charset="0"/>
              <a:buChar char="Ø"/>
            </a:pPr>
            <a:r>
              <a:rPr lang="en-US" altLang="en-US" sz="2800"/>
              <a:t>Explore advanced ensemble techniques (stacking, blending) to improve predictive performance further.</a:t>
            </a:r>
            <a:endParaRPr lang="en-US" altLang="en-US" sz="2800"/>
          </a:p>
          <a:p>
            <a:pPr indent="0" algn="just">
              <a:buFont typeface="Wingdings" panose="05000000000000000000" charset="0"/>
              <a:buNone/>
            </a:pPr>
            <a:endParaRPr lang="en-US" altLang="en-US" sz="2800"/>
          </a:p>
          <a:p>
            <a:pPr marL="285750" indent="-285750" algn="just">
              <a:buFont typeface="Wingdings" panose="05000000000000000000" charset="0"/>
              <a:buChar char="Ø"/>
            </a:pPr>
            <a:r>
              <a:rPr lang="en-US" altLang="en-US" sz="2800"/>
              <a:t>Integrate interpretability tools like SHAP or LIME to explain model decisions and enhance trust in predictions.</a:t>
            </a:r>
            <a:endParaRPr lang="en-US" altLang="en-US" sz="2800"/>
          </a:p>
          <a:p>
            <a:pPr indent="0" algn="just">
              <a:buFont typeface="Wingdings" panose="05000000000000000000" charset="0"/>
              <a:buNone/>
            </a:pPr>
            <a:endParaRPr lang="en-US" altLang="en-US" sz="2800"/>
          </a:p>
          <a:p>
            <a:pPr marL="285750" indent="-285750" algn="just">
              <a:buFont typeface="Wingdings" panose="05000000000000000000" charset="0"/>
              <a:buChar char="Ø"/>
            </a:pPr>
            <a:r>
              <a:rPr lang="en-US" altLang="en-US" sz="2800"/>
              <a:t>Apply automated feature selection methods (like Recursive Feature Elimination) or generate new composite features.</a:t>
            </a:r>
            <a:endParaRPr lang="en-US" altLang="en-US" sz="2800"/>
          </a:p>
          <a:p>
            <a:pPr indent="0" algn="just">
              <a:buFont typeface="Wingdings" panose="05000000000000000000" charset="0"/>
              <a:buNone/>
            </a:pPr>
            <a:endParaRPr lang="en-US" altLang="en-US" sz="2800"/>
          </a:p>
          <a:p>
            <a:pPr marL="285750" indent="-285750" algn="just">
              <a:buFont typeface="Wingdings" panose="05000000000000000000" charset="0"/>
              <a:buChar char="Ø"/>
            </a:pPr>
            <a:r>
              <a:rPr lang="en-US" altLang="en-US" sz="2800"/>
              <a:t>Use advanced techniques like SMOTE, ADASYN, or cost-sensitive learning for better handling of class imbalance.</a:t>
            </a:r>
            <a:endParaRPr lang="en-US" altLang="en-US" sz="28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pic>
        <p:nvPicPr>
          <p:cNvPr id="5" name="Picture 4"/>
          <p:cNvPicPr>
            <a:picLocks noChangeAspect="1"/>
          </p:cNvPicPr>
          <p:nvPr/>
        </p:nvPicPr>
        <p:blipFill>
          <a:blip r:embed="rId1"/>
          <a:stretch>
            <a:fillRect/>
          </a:stretch>
        </p:blipFill>
        <p:spPr>
          <a:xfrm>
            <a:off x="3953510" y="1241425"/>
            <a:ext cx="3901440" cy="3901440"/>
          </a:xfrm>
          <a:prstGeom prst="rect">
            <a:avLst/>
          </a:prstGeom>
        </p:spPr>
      </p:pic>
      <p:sp>
        <p:nvSpPr>
          <p:cNvPr id="6" name="Freeform 3"/>
          <p:cNvSpPr/>
          <p:nvPr/>
        </p:nvSpPr>
        <p:spPr>
          <a:xfrm>
            <a:off x="11143289" y="226995"/>
            <a:ext cx="725823" cy="676781"/>
          </a:xfrm>
          <a:custGeom>
            <a:avLst/>
            <a:gdLst/>
            <a:ahLst/>
            <a:cxnLst/>
            <a:rect l="l" t="t" r="r" b="b"/>
            <a:pathLst>
              <a:path w="1088735" h="1015171">
                <a:moveTo>
                  <a:pt x="0" y="0"/>
                </a:moveTo>
                <a:lnTo>
                  <a:pt x="1088734" y="0"/>
                </a:lnTo>
                <a:lnTo>
                  <a:pt x="1088734" y="1015172"/>
                </a:lnTo>
                <a:lnTo>
                  <a:pt x="0" y="1015172"/>
                </a:lnTo>
                <a:lnTo>
                  <a:pt x="0" y="0"/>
                </a:lnTo>
                <a:close/>
              </a:path>
            </a:pathLst>
          </a:custGeom>
          <a:blipFill>
            <a:blip r:embed="rId2"/>
            <a:stretch>
              <a:fillRect/>
            </a:stretch>
          </a:blipFill>
        </p:spPr>
      </p:sp>
      <p:sp>
        <p:nvSpPr>
          <p:cNvPr id="9" name="Text Box 8"/>
          <p:cNvSpPr txBox="1"/>
          <p:nvPr/>
        </p:nvSpPr>
        <p:spPr>
          <a:xfrm>
            <a:off x="0" y="6447155"/>
            <a:ext cx="12192000" cy="417830"/>
          </a:xfrm>
          <a:prstGeom prst="rect">
            <a:avLst/>
          </a:prstGeom>
          <a:solidFill>
            <a:schemeClr val="bg2">
              <a:lumMod val="50000"/>
            </a:schemeClr>
          </a:solidFill>
          <a:ln>
            <a:gradFill>
              <a:gsLst>
                <a:gs pos="0">
                  <a:srgbClr val="007BD3"/>
                </a:gs>
                <a:gs pos="100000">
                  <a:srgbClr val="034373"/>
                </a:gs>
              </a:gsLst>
            </a:gradFill>
          </a:ln>
        </p:spPr>
        <p:txBody>
          <a:bodyPr wrap="square" rtlCol="0">
            <a:noAutofit/>
          </a:bodyPr>
          <a:p>
            <a:r>
              <a:rPr lang="en-US" altLang="en-US" sz="2000">
                <a:solidFill>
                  <a:schemeClr val="bg1"/>
                </a:solidFill>
                <a:latin typeface="Times New Roman" panose="02020603050405020304" charset="0"/>
                <a:cs typeface="Times New Roman" panose="02020603050405020304" charset="0"/>
              </a:rPr>
              <a:t>                               Department of Computer Science and Engineering, Jagannath University, Dhaka</a:t>
            </a:r>
            <a:endParaRPr lang="en-US" altLang="en-US" sz="2000">
              <a:solidFill>
                <a:schemeClr val="bg1"/>
              </a:solidFill>
              <a:latin typeface="Times New Roman" panose="02020603050405020304" charset="0"/>
              <a:cs typeface="Times New Roman" panose="02020603050405020304" charset="0"/>
            </a:endParaRPr>
          </a:p>
        </p:txBody>
      </p:sp>
      <p:sp>
        <p:nvSpPr>
          <p:cNvPr id="10" name="Slide Number Placeholder 7"/>
          <p:cNvSpPr>
            <a:spLocks noGrp="1"/>
          </p:cNvSpPr>
          <p:nvPr/>
        </p:nvSpPr>
        <p:spPr>
          <a:xfrm>
            <a:off x="11509375" y="6492875"/>
            <a:ext cx="509270" cy="365125"/>
          </a:xfrm>
          <a:prstGeom prst="rect">
            <a:avLst/>
          </a:prstGeom>
          <a:solidFill>
            <a:schemeClr val="bg2">
              <a:lumMod val="50000"/>
            </a:schemeClr>
          </a:solidFill>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B618960-8005-486C-9A75-10CB2AAC16F9}" type="slidenum">
              <a:rPr lang="en-US" sz="1600" smtClean="0">
                <a:solidFill>
                  <a:schemeClr val="bg1"/>
                </a:solidFill>
                <a:latin typeface="Times New Roman" panose="02020603050405020304" charset="0"/>
                <a:cs typeface="Times New Roman" panose="02020603050405020304" charset="0"/>
              </a:rPr>
            </a:fld>
            <a:endParaRPr lang="en-US" sz="1600" smtClean="0">
              <a:solidFill>
                <a:schemeClr val="bg1"/>
              </a:solidFill>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9391</Words>
  <Application>WPS Slides</Application>
  <PresentationFormat>Widescreen</PresentationFormat>
  <Paragraphs>455</Paragraphs>
  <Slides>29</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29</vt:i4>
      </vt:variant>
    </vt:vector>
  </HeadingPairs>
  <TitlesOfParts>
    <vt:vector size="47" baseType="lpstr">
      <vt:lpstr>Arial</vt:lpstr>
      <vt:lpstr>SimSun</vt:lpstr>
      <vt:lpstr>Wingdings</vt:lpstr>
      <vt:lpstr>Calibri</vt:lpstr>
      <vt:lpstr>Brasika</vt:lpstr>
      <vt:lpstr>Segoe Print</vt:lpstr>
      <vt:lpstr>Times New Roman Bold</vt:lpstr>
      <vt:lpstr>Times New Roman</vt:lpstr>
      <vt:lpstr>Times New Roman</vt:lpstr>
      <vt:lpstr>Times New Roman Ultra-Bold</vt:lpstr>
      <vt:lpstr>Book Antiqua</vt:lpstr>
      <vt:lpstr>Roboto</vt:lpstr>
      <vt:lpstr>Wingdings</vt:lpstr>
      <vt:lpstr>Calibri</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Niloy Datta</cp:lastModifiedBy>
  <cp:revision>60</cp:revision>
  <dcterms:created xsi:type="dcterms:W3CDTF">2025-04-22T21:30:00Z</dcterms:created>
  <dcterms:modified xsi:type="dcterms:W3CDTF">2025-04-23T19:55:32Z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856B49D0E0C043109FA280965BA98861_11</vt:lpwstr>
  </property>
  <property fmtid="{D5CDD505-2E9C-101B-9397-08002B2CF9AE}" pid="3" name="KSOProductBuildVer">
    <vt:lpwstr>1033-12.2.0.20795</vt:lpwstr>
  </property>
</Properties>
</file>